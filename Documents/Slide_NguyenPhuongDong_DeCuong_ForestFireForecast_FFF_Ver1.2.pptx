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4" r:id="rId2"/>
  </p:sldMasterIdLst>
  <p:notesMasterIdLst>
    <p:notesMasterId r:id="rId18"/>
  </p:notesMasterIdLst>
  <p:sldIdLst>
    <p:sldId id="276" r:id="rId3"/>
    <p:sldId id="326" r:id="rId4"/>
    <p:sldId id="307" r:id="rId5"/>
    <p:sldId id="318" r:id="rId6"/>
    <p:sldId id="321" r:id="rId7"/>
    <p:sldId id="328" r:id="rId8"/>
    <p:sldId id="320" r:id="rId9"/>
    <p:sldId id="319" r:id="rId10"/>
    <p:sldId id="329" r:id="rId11"/>
    <p:sldId id="330" r:id="rId12"/>
    <p:sldId id="331" r:id="rId13"/>
    <p:sldId id="332" r:id="rId14"/>
    <p:sldId id="333" r:id="rId15"/>
    <p:sldId id="334" r:id="rId16"/>
    <p:sldId id="286" r:id="rId17"/>
  </p:sldIdLst>
  <p:sldSz cx="12192000" cy="6858000"/>
  <p:notesSz cx="6858000" cy="9144000"/>
  <p:embeddedFontLst>
    <p:embeddedFont>
      <p:font typeface="Montserrat" panose="00000500000000000000" pitchFamily="2" charset="0"/>
      <p:regular r:id="rId19"/>
      <p:bold r:id="rId20"/>
      <p:italic r:id="rId21"/>
      <p:boldItalic r:id="rId22"/>
    </p:embeddedFont>
    <p:embeddedFont>
      <p:font typeface="Montserrat Black" panose="00000A00000000000000" pitchFamily="2" charset="0"/>
      <p:bold r:id="rId23"/>
      <p:italic r:id="rId24"/>
      <p:boldItalic r:id="rId25"/>
    </p:embeddedFont>
  </p:embeddedFontLst>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B2025"/>
    <a:srgbClr val="33CC33"/>
    <a:srgbClr val="009900"/>
    <a:srgbClr val="3399FF"/>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814" autoAdjust="0"/>
    <p:restoredTop sz="80784" autoAdjust="0"/>
  </p:normalViewPr>
  <p:slideViewPr>
    <p:cSldViewPr snapToGrid="0">
      <p:cViewPr varScale="1">
        <p:scale>
          <a:sx n="69" d="100"/>
          <a:sy n="69" d="100"/>
        </p:scale>
        <p:origin x="1704" y="38"/>
      </p:cViewPr>
      <p:guideLst/>
    </p:cSldViewPr>
  </p:slideViewPr>
  <p:notesTextViewPr>
    <p:cViewPr>
      <p:scale>
        <a:sx n="3" d="2"/>
        <a:sy n="3" d="2"/>
      </p:scale>
      <p:origin x="0" y="0"/>
    </p:cViewPr>
  </p:notesTextViewPr>
  <p:notesViewPr>
    <p:cSldViewPr snapToGrid="0">
      <p:cViewPr varScale="1">
        <p:scale>
          <a:sx n="88" d="100"/>
          <a:sy n="88" d="100"/>
        </p:scale>
        <p:origin x="3822"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26" Type="http://schemas.openxmlformats.org/officeDocument/2006/relationships/tags" Target="tags/tag1.xml"/><Relationship Id="rId3" Type="http://schemas.openxmlformats.org/officeDocument/2006/relationships/slide" Target="slides/slide1.xml"/><Relationship Id="rId21" Type="http://schemas.openxmlformats.org/officeDocument/2006/relationships/font" Target="fonts/font3.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7.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2.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6.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5.fntdata"/><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font" Target="fonts/font1.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4.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DCF054-6379-4867-A3D8-742D726B596D}" type="datetimeFigureOut">
              <a:rPr lang="en-US" smtClean="0"/>
              <a:t>12-Jan-26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D4208E-E87E-42A8-9817-0F85E86B242A}" type="slidenum">
              <a:rPr lang="en-US" smtClean="0"/>
              <a:t>‹#›</a:t>
            </a:fld>
            <a:endParaRPr lang="en-US"/>
          </a:p>
        </p:txBody>
      </p:sp>
    </p:spTree>
    <p:extLst>
      <p:ext uri="{BB962C8B-B14F-4D97-AF65-F5344CB8AC3E}">
        <p14:creationId xmlns:p14="http://schemas.microsoft.com/office/powerpoint/2010/main" val="2498331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8FB42-0A04-0537-5487-CEE86AED78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E66A26-C019-F03F-043B-38006A65DD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008A1B-4269-CAF2-AA05-D70FE0BBF064}"/>
              </a:ext>
            </a:extLst>
          </p:cNvPr>
          <p:cNvSpPr>
            <a:spLocks noGrp="1"/>
          </p:cNvSpPr>
          <p:nvPr>
            <p:ph type="body" idx="1"/>
          </p:nvPr>
        </p:nvSpPr>
        <p:spPr/>
        <p:txBody>
          <a:bodyPr/>
          <a:lstStyle/>
          <a:p>
            <a:r>
              <a:rPr lang="vi-VN" sz="1200"/>
              <a:t>Mặc dù các hệ thống hiện hành đã cung cấp thông tin về điểm cháy và mức độ nguy cơ cháy rừng dựa trên dữ liệu khí tượng và chỉ số cảnh báo, các hệ thống này chủ yếu phản ánh trạng thái hiện tại và chưa tập trung vào dự báo nguy cơ cháy dựa trên học máy. </a:t>
            </a:r>
            <a:endParaRPr lang="en-US" sz="1200"/>
          </a:p>
          <a:p>
            <a:r>
              <a:rPr lang="vi-VN" sz="1200"/>
              <a:t>Đề án này hướng tới xây dựng một hệ thống dự báo nguy cơ cháy rừng dựa trên mô hình học từ dữ liệu lịch sử đa nguồn, cho phép ước lượng xác suất cháy theo không gian và thời gian, từ đó hỗ trợ hiệu quả hơn cho công tác phòng ngừa và ra quyết định.</a:t>
            </a:r>
            <a:endParaRPr lang="en-US" sz="1200"/>
          </a:p>
          <a:p>
            <a:endParaRPr lang="en-US" sz="1200"/>
          </a:p>
          <a:p>
            <a:r>
              <a:rPr lang="en-US" sz="1200" b="1"/>
              <a:t>❌ </a:t>
            </a:r>
            <a:r>
              <a:rPr lang="vi-VN" sz="1200" b="1"/>
              <a:t>PCCCR không trả lời được:</a:t>
            </a:r>
          </a:p>
          <a:p>
            <a:r>
              <a:rPr lang="vi-VN" sz="1200"/>
              <a:t>Vì sao khu A và khu B cùng cấp cảnh báo nhưng chỉ A hay cháy?</a:t>
            </a:r>
          </a:p>
          <a:p>
            <a:r>
              <a:rPr lang="vi-VN" sz="1200"/>
              <a:t>Khu vực nào </a:t>
            </a:r>
            <a:r>
              <a:rPr lang="vi-VN" sz="1200" b="1"/>
              <a:t>có nguy cơ cao nhất trong vài ngày tới</a:t>
            </a:r>
            <a:r>
              <a:rPr lang="vi-VN" sz="1200"/>
              <a:t> để ưu tiên lực lượng?</a:t>
            </a:r>
          </a:p>
          <a:p>
            <a:r>
              <a:rPr lang="vi-VN" sz="1200"/>
              <a:t>Mức độ rủi ro cháy thay đổi thế nào theo thời gian?</a:t>
            </a:r>
          </a:p>
          <a:p>
            <a:r>
              <a:rPr lang="en-US" sz="1200" b="1"/>
              <a:t>✅ </a:t>
            </a:r>
            <a:r>
              <a:rPr lang="vi-VN" sz="1200" b="1"/>
              <a:t>Đề án của bạn trả lời được:</a:t>
            </a:r>
          </a:p>
          <a:p>
            <a:r>
              <a:rPr lang="vi-VN" sz="1200"/>
              <a:t>Xác suất cháy cụ thể cho từng ô lưới</a:t>
            </a:r>
          </a:p>
          <a:p>
            <a:r>
              <a:rPr lang="vi-VN" sz="1200"/>
              <a:t>Phát hiện “điểm nóng tiềm ẩn” </a:t>
            </a:r>
            <a:r>
              <a:rPr lang="vi-VN" sz="1200" i="1"/>
              <a:t>trước khi cháy</a:t>
            </a:r>
            <a:endParaRPr lang="vi-VN" sz="1200"/>
          </a:p>
          <a:p>
            <a:r>
              <a:rPr lang="vi-VN" sz="1200"/>
              <a:t>Học được đặc trưng địa phương (local patterns)</a:t>
            </a:r>
          </a:p>
          <a:p>
            <a:r>
              <a:rPr lang="en-US" sz="1200"/>
              <a:t>📌 </a:t>
            </a:r>
            <a:r>
              <a:rPr lang="vi-VN" sz="1200" b="1"/>
              <a:t>Đây là lý do CẦN hệ thống mới</a:t>
            </a:r>
            <a:r>
              <a:rPr lang="vi-VN" sz="1200"/>
              <a:t>, không phải “làm lại PCCCR”.</a:t>
            </a:r>
          </a:p>
          <a:p>
            <a:endParaRPr lang="en-US" sz="1200" b="1"/>
          </a:p>
          <a:p>
            <a:r>
              <a:rPr lang="en-US" sz="1200" b="1"/>
              <a:t>1️⃣ </a:t>
            </a:r>
            <a:r>
              <a:rPr lang="vi-VN" sz="1200" b="1"/>
              <a:t>PCCCR = hệ thống GIÁM SÁT &amp; ĐIỀU HÀNH</a:t>
            </a:r>
          </a:p>
          <a:p>
            <a:r>
              <a:rPr lang="vi-VN" sz="1200"/>
              <a:t>Phục vụ quản lý nhà nước</a:t>
            </a:r>
          </a:p>
          <a:p>
            <a:r>
              <a:rPr lang="vi-VN" sz="1200"/>
              <a:t>Theo dõi tình hình hiện tại</a:t>
            </a:r>
          </a:p>
          <a:p>
            <a:r>
              <a:rPr lang="vi-VN" sz="1200"/>
              <a:t>Phản ứng khi có cháy hoặc nguy cơ cao</a:t>
            </a:r>
          </a:p>
          <a:p>
            <a:r>
              <a:rPr lang="vi-VN" sz="1200" b="1"/>
              <a:t>2️⃣ Đề án của bạn = hệ thống HỖ TRỢ QUYẾT ĐỊNH (Decision Support)</a:t>
            </a:r>
          </a:p>
          <a:p>
            <a:r>
              <a:rPr lang="vi-VN" sz="1200"/>
              <a:t>Hỗ trợ:</a:t>
            </a:r>
          </a:p>
          <a:p>
            <a:pPr lvl="1"/>
            <a:r>
              <a:rPr lang="vi-VN" sz="1200"/>
              <a:t>Bố trí lực lượng PCCCR</a:t>
            </a:r>
          </a:p>
          <a:p>
            <a:pPr lvl="1"/>
            <a:r>
              <a:rPr lang="vi-VN" sz="1200"/>
              <a:t>Lập kế hoạch tuần tra</a:t>
            </a:r>
          </a:p>
          <a:p>
            <a:pPr lvl="1"/>
            <a:r>
              <a:rPr lang="vi-VN" sz="1200"/>
              <a:t>Phòng ngừa sớm</a:t>
            </a:r>
          </a:p>
          <a:p>
            <a:r>
              <a:rPr lang="vi-VN" sz="1200"/>
              <a:t>Không thay thế PCCCR</a:t>
            </a:r>
          </a:p>
          <a:p>
            <a:r>
              <a:rPr lang="vi-VN" sz="1200" b="1"/>
              <a:t>BỔ SUNG một lớp trí tuệ dự báo</a:t>
            </a:r>
            <a:endParaRPr lang="vi-VN" sz="1200"/>
          </a:p>
          <a:p>
            <a:endParaRPr lang="en-US" sz="1200"/>
          </a:p>
        </p:txBody>
      </p:sp>
      <p:sp>
        <p:nvSpPr>
          <p:cNvPr id="4" name="Slide Number Placeholder 3">
            <a:extLst>
              <a:ext uri="{FF2B5EF4-FFF2-40B4-BE49-F238E27FC236}">
                <a16:creationId xmlns:a16="http://schemas.microsoft.com/office/drawing/2014/main" id="{F7FCFC51-6429-6227-9818-047BB57F38A6}"/>
              </a:ext>
            </a:extLst>
          </p:cNvPr>
          <p:cNvSpPr>
            <a:spLocks noGrp="1"/>
          </p:cNvSpPr>
          <p:nvPr>
            <p:ph type="sldNum" sz="quarter" idx="10"/>
          </p:nvPr>
        </p:nvSpPr>
        <p:spPr/>
        <p:txBody>
          <a:bodyPr/>
          <a:lstStyle/>
          <a:p>
            <a:fld id="{61D4208E-E87E-42A8-9817-0F85E86B242A}" type="slidenum">
              <a:rPr lang="en-US" smtClean="0"/>
              <a:t>2</a:t>
            </a:fld>
            <a:endParaRPr lang="en-US"/>
          </a:p>
        </p:txBody>
      </p:sp>
    </p:spTree>
    <p:extLst>
      <p:ext uri="{BB962C8B-B14F-4D97-AF65-F5344CB8AC3E}">
        <p14:creationId xmlns:p14="http://schemas.microsoft.com/office/powerpoint/2010/main" val="9163505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FE15D-D982-EBA4-51E9-DF9FA709AC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4C2CB0-832A-3F34-B1DB-92AEC38B64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A1BC19-1847-335D-BAB8-58774504B61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7B204A9-6B31-A477-87BF-4651F9B29F2E}"/>
              </a:ext>
            </a:extLst>
          </p:cNvPr>
          <p:cNvSpPr>
            <a:spLocks noGrp="1"/>
          </p:cNvSpPr>
          <p:nvPr>
            <p:ph type="sldNum" sz="quarter" idx="10"/>
          </p:nvPr>
        </p:nvSpPr>
        <p:spPr/>
        <p:txBody>
          <a:bodyPr/>
          <a:lstStyle/>
          <a:p>
            <a:fld id="{61D4208E-E87E-42A8-9817-0F85E86B242A}" type="slidenum">
              <a:rPr lang="en-US" smtClean="0"/>
              <a:t>3</a:t>
            </a:fld>
            <a:endParaRPr lang="en-US"/>
          </a:p>
        </p:txBody>
      </p:sp>
    </p:spTree>
    <p:extLst>
      <p:ext uri="{BB962C8B-B14F-4D97-AF65-F5344CB8AC3E}">
        <p14:creationId xmlns:p14="http://schemas.microsoft.com/office/powerpoint/2010/main" val="36364039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5D03C-A3EB-C15B-5139-C603C1B462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AA9B65-20B5-F716-D426-05CE9434DC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634238-5ADC-B3AE-74CD-1A8A0C1F9D7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B5EA238-FCF4-E7D9-588B-5749A78EBF83}"/>
              </a:ext>
            </a:extLst>
          </p:cNvPr>
          <p:cNvSpPr>
            <a:spLocks noGrp="1"/>
          </p:cNvSpPr>
          <p:nvPr>
            <p:ph type="sldNum" sz="quarter" idx="10"/>
          </p:nvPr>
        </p:nvSpPr>
        <p:spPr/>
        <p:txBody>
          <a:bodyPr/>
          <a:lstStyle/>
          <a:p>
            <a:fld id="{61D4208E-E87E-42A8-9817-0F85E86B242A}" type="slidenum">
              <a:rPr lang="en-US" smtClean="0"/>
              <a:t>4</a:t>
            </a:fld>
            <a:endParaRPr lang="en-US"/>
          </a:p>
        </p:txBody>
      </p:sp>
    </p:spTree>
    <p:extLst>
      <p:ext uri="{BB962C8B-B14F-4D97-AF65-F5344CB8AC3E}">
        <p14:creationId xmlns:p14="http://schemas.microsoft.com/office/powerpoint/2010/main" val="17702822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15900-644C-84B3-D19A-CFE82361BA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2F89B-F9B8-0C9A-E7A0-4E038B2702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B84343-9D0A-393C-16EA-CBBDAC7EF2A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60F5A2A-4E46-A917-A002-39B2586E09EA}"/>
              </a:ext>
            </a:extLst>
          </p:cNvPr>
          <p:cNvSpPr>
            <a:spLocks noGrp="1"/>
          </p:cNvSpPr>
          <p:nvPr>
            <p:ph type="sldNum" sz="quarter" idx="10"/>
          </p:nvPr>
        </p:nvSpPr>
        <p:spPr/>
        <p:txBody>
          <a:bodyPr/>
          <a:lstStyle/>
          <a:p>
            <a:fld id="{61D4208E-E87E-42A8-9817-0F85E86B242A}" type="slidenum">
              <a:rPr lang="en-US" smtClean="0"/>
              <a:t>5</a:t>
            </a:fld>
            <a:endParaRPr lang="en-US"/>
          </a:p>
        </p:txBody>
      </p:sp>
    </p:spTree>
    <p:extLst>
      <p:ext uri="{BB962C8B-B14F-4D97-AF65-F5344CB8AC3E}">
        <p14:creationId xmlns:p14="http://schemas.microsoft.com/office/powerpoint/2010/main" val="30695098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94C67-2AAC-C8FD-E610-5A5A1ACCC7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B896D5-26C6-90E9-07EF-A1FEC201A5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745D0B-F40E-8784-F564-0690307CFA3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6800AAD-4326-E9DA-4947-F1FF42D5194D}"/>
              </a:ext>
            </a:extLst>
          </p:cNvPr>
          <p:cNvSpPr>
            <a:spLocks noGrp="1"/>
          </p:cNvSpPr>
          <p:nvPr>
            <p:ph type="sldNum" sz="quarter" idx="10"/>
          </p:nvPr>
        </p:nvSpPr>
        <p:spPr/>
        <p:txBody>
          <a:bodyPr/>
          <a:lstStyle/>
          <a:p>
            <a:fld id="{61D4208E-E87E-42A8-9817-0F85E86B242A}" type="slidenum">
              <a:rPr lang="en-US" smtClean="0"/>
              <a:t>6</a:t>
            </a:fld>
            <a:endParaRPr lang="en-US"/>
          </a:p>
        </p:txBody>
      </p:sp>
    </p:spTree>
    <p:extLst>
      <p:ext uri="{BB962C8B-B14F-4D97-AF65-F5344CB8AC3E}">
        <p14:creationId xmlns:p14="http://schemas.microsoft.com/office/powerpoint/2010/main" val="2241425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2F76B-627F-2BC2-1FCF-30E704883A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381986-FC75-1094-8E14-EACBDACBA0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6EA2A0-647A-904C-570C-283D39248B3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5D7407A-5543-D9FB-0127-43FE33CCD1DC}"/>
              </a:ext>
            </a:extLst>
          </p:cNvPr>
          <p:cNvSpPr>
            <a:spLocks noGrp="1"/>
          </p:cNvSpPr>
          <p:nvPr>
            <p:ph type="sldNum" sz="quarter" idx="10"/>
          </p:nvPr>
        </p:nvSpPr>
        <p:spPr/>
        <p:txBody>
          <a:bodyPr/>
          <a:lstStyle/>
          <a:p>
            <a:fld id="{61D4208E-E87E-42A8-9817-0F85E86B242A}" type="slidenum">
              <a:rPr lang="en-US" smtClean="0"/>
              <a:t>7</a:t>
            </a:fld>
            <a:endParaRPr lang="en-US"/>
          </a:p>
        </p:txBody>
      </p:sp>
    </p:spTree>
    <p:extLst>
      <p:ext uri="{BB962C8B-B14F-4D97-AF65-F5344CB8AC3E}">
        <p14:creationId xmlns:p14="http://schemas.microsoft.com/office/powerpoint/2010/main" val="20842402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EA73F-C090-840D-8FD1-79761E374A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1CD8A9-6172-8A19-A208-8C0F49F753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B76EBD-AC11-F510-4A0D-D78A6DF6470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6042ABE-538A-1D7D-5DD8-32BC80208892}"/>
              </a:ext>
            </a:extLst>
          </p:cNvPr>
          <p:cNvSpPr>
            <a:spLocks noGrp="1"/>
          </p:cNvSpPr>
          <p:nvPr>
            <p:ph type="sldNum" sz="quarter" idx="10"/>
          </p:nvPr>
        </p:nvSpPr>
        <p:spPr/>
        <p:txBody>
          <a:bodyPr/>
          <a:lstStyle/>
          <a:p>
            <a:fld id="{61D4208E-E87E-42A8-9817-0F85E86B242A}" type="slidenum">
              <a:rPr lang="en-US" smtClean="0"/>
              <a:t>8</a:t>
            </a:fld>
            <a:endParaRPr lang="en-US"/>
          </a:p>
        </p:txBody>
      </p:sp>
    </p:spTree>
    <p:extLst>
      <p:ext uri="{BB962C8B-B14F-4D97-AF65-F5344CB8AC3E}">
        <p14:creationId xmlns:p14="http://schemas.microsoft.com/office/powerpoint/2010/main" val="36278349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3C0B4-2A65-1812-2761-3C67BD7C40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5CB768-118F-D58A-A03C-95E4AF09DA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6D34BD-BD06-561D-DC6B-E368E8643AB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3E4E9A5-0681-363C-2AEE-F8D721EB246E}"/>
              </a:ext>
            </a:extLst>
          </p:cNvPr>
          <p:cNvSpPr>
            <a:spLocks noGrp="1"/>
          </p:cNvSpPr>
          <p:nvPr>
            <p:ph type="sldNum" sz="quarter" idx="10"/>
          </p:nvPr>
        </p:nvSpPr>
        <p:spPr/>
        <p:txBody>
          <a:bodyPr/>
          <a:lstStyle/>
          <a:p>
            <a:fld id="{61D4208E-E87E-42A8-9817-0F85E86B242A}" type="slidenum">
              <a:rPr lang="en-US" smtClean="0"/>
              <a:t>9</a:t>
            </a:fld>
            <a:endParaRPr lang="en-US"/>
          </a:p>
        </p:txBody>
      </p:sp>
    </p:spTree>
    <p:extLst>
      <p:ext uri="{BB962C8B-B14F-4D97-AF65-F5344CB8AC3E}">
        <p14:creationId xmlns:p14="http://schemas.microsoft.com/office/powerpoint/2010/main" val="17885515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D1C4D-95F9-5483-37DE-F3BB6E1ED6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9EF92E-FB40-13DF-EF33-8C5FDA4900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D1DCCE-CAD5-E2A5-3495-BF26AB3C13A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B211CCE-8A5B-66C6-6AB6-6F88ED26630A}"/>
              </a:ext>
            </a:extLst>
          </p:cNvPr>
          <p:cNvSpPr>
            <a:spLocks noGrp="1"/>
          </p:cNvSpPr>
          <p:nvPr>
            <p:ph type="sldNum" sz="quarter" idx="10"/>
          </p:nvPr>
        </p:nvSpPr>
        <p:spPr/>
        <p:txBody>
          <a:bodyPr/>
          <a:lstStyle/>
          <a:p>
            <a:fld id="{61D4208E-E87E-42A8-9817-0F85E86B242A}" type="slidenum">
              <a:rPr lang="en-US" smtClean="0"/>
              <a:t>10</a:t>
            </a:fld>
            <a:endParaRPr lang="en-US"/>
          </a:p>
        </p:txBody>
      </p:sp>
    </p:spTree>
    <p:extLst>
      <p:ext uri="{BB962C8B-B14F-4D97-AF65-F5344CB8AC3E}">
        <p14:creationId xmlns:p14="http://schemas.microsoft.com/office/powerpoint/2010/main" val="24610046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6E49B-37D7-6544-2E48-CCFFAE5C98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672AB2-FDEB-3B63-9E97-A3928105F9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5EF2F-454C-F676-38F8-72DE7A6BB87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33B0F41-A2D9-76BB-6BE6-5DB5CB6762C7}"/>
              </a:ext>
            </a:extLst>
          </p:cNvPr>
          <p:cNvSpPr>
            <a:spLocks noGrp="1"/>
          </p:cNvSpPr>
          <p:nvPr>
            <p:ph type="sldNum" sz="quarter" idx="10"/>
          </p:nvPr>
        </p:nvSpPr>
        <p:spPr/>
        <p:txBody>
          <a:bodyPr/>
          <a:lstStyle/>
          <a:p>
            <a:fld id="{61D4208E-E87E-42A8-9817-0F85E86B242A}" type="slidenum">
              <a:rPr lang="en-US" smtClean="0"/>
              <a:t>11</a:t>
            </a:fld>
            <a:endParaRPr lang="en-US"/>
          </a:p>
        </p:txBody>
      </p:sp>
    </p:spTree>
    <p:extLst>
      <p:ext uri="{BB962C8B-B14F-4D97-AF65-F5344CB8AC3E}">
        <p14:creationId xmlns:p14="http://schemas.microsoft.com/office/powerpoint/2010/main" val="11092088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813BF-FF57-827A-1980-16F6115ADB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E59A97-3004-928B-3A1A-D1A773FAF7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76546C-DB18-561F-D0DA-EA9E8224CAF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38C8210-4175-AF1E-1EEB-E22DE6E89645}"/>
              </a:ext>
            </a:extLst>
          </p:cNvPr>
          <p:cNvSpPr>
            <a:spLocks noGrp="1"/>
          </p:cNvSpPr>
          <p:nvPr>
            <p:ph type="sldNum" sz="quarter" idx="10"/>
          </p:nvPr>
        </p:nvSpPr>
        <p:spPr/>
        <p:txBody>
          <a:bodyPr/>
          <a:lstStyle/>
          <a:p>
            <a:fld id="{61D4208E-E87E-42A8-9817-0F85E86B242A}" type="slidenum">
              <a:rPr lang="en-US" smtClean="0"/>
              <a:t>12</a:t>
            </a:fld>
            <a:endParaRPr lang="en-US"/>
          </a:p>
        </p:txBody>
      </p:sp>
    </p:spTree>
    <p:extLst>
      <p:ext uri="{BB962C8B-B14F-4D97-AF65-F5344CB8AC3E}">
        <p14:creationId xmlns:p14="http://schemas.microsoft.com/office/powerpoint/2010/main" val="31592893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5466A-0307-E46C-3E3E-77808EC85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BF2BA9-90B1-DE5E-FC7D-F8772B20A6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0EB2F3-B5C3-6976-F4B1-EF854CEE1F1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BED1FC1-D09E-522B-6EFF-45CE5D084D80}"/>
              </a:ext>
            </a:extLst>
          </p:cNvPr>
          <p:cNvSpPr>
            <a:spLocks noGrp="1"/>
          </p:cNvSpPr>
          <p:nvPr>
            <p:ph type="sldNum" sz="quarter" idx="10"/>
          </p:nvPr>
        </p:nvSpPr>
        <p:spPr/>
        <p:txBody>
          <a:bodyPr/>
          <a:lstStyle/>
          <a:p>
            <a:fld id="{61D4208E-E87E-42A8-9817-0F85E86B242A}" type="slidenum">
              <a:rPr lang="en-US" smtClean="0"/>
              <a:t>13</a:t>
            </a:fld>
            <a:endParaRPr lang="en-US"/>
          </a:p>
        </p:txBody>
      </p:sp>
    </p:spTree>
    <p:extLst>
      <p:ext uri="{BB962C8B-B14F-4D97-AF65-F5344CB8AC3E}">
        <p14:creationId xmlns:p14="http://schemas.microsoft.com/office/powerpoint/2010/main" val="20108767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42697-7E87-2DAE-ADDA-BED017E063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A65E7D-F053-A46C-F5CB-78008D69BA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94138E-1C0A-8CA9-42C8-ACEBB67DBAC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DD860F5-E256-1FA9-165D-59F73F06C934}"/>
              </a:ext>
            </a:extLst>
          </p:cNvPr>
          <p:cNvSpPr>
            <a:spLocks noGrp="1"/>
          </p:cNvSpPr>
          <p:nvPr>
            <p:ph type="sldNum" sz="quarter" idx="10"/>
          </p:nvPr>
        </p:nvSpPr>
        <p:spPr/>
        <p:txBody>
          <a:bodyPr/>
          <a:lstStyle/>
          <a:p>
            <a:fld id="{61D4208E-E87E-42A8-9817-0F85E86B242A}" type="slidenum">
              <a:rPr lang="en-US" smtClean="0"/>
              <a:t>14</a:t>
            </a:fld>
            <a:endParaRPr lang="en-US"/>
          </a:p>
        </p:txBody>
      </p:sp>
    </p:spTree>
    <p:extLst>
      <p:ext uri="{BB962C8B-B14F-4D97-AF65-F5344CB8AC3E}">
        <p14:creationId xmlns:p14="http://schemas.microsoft.com/office/powerpoint/2010/main" val="200890495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2" name="Title 1"/>
          <p:cNvSpPr>
            <a:spLocks noGrp="1"/>
          </p:cNvSpPr>
          <p:nvPr>
            <p:ph type="ctrTitle"/>
          </p:nvPr>
        </p:nvSpPr>
        <p:spPr>
          <a:xfrm>
            <a:off x="994063" y="2035538"/>
            <a:ext cx="7573162" cy="1371599"/>
          </a:xfrm>
        </p:spPr>
        <p:txBody>
          <a:bodyPr anchor="b">
            <a:normAutofit/>
          </a:bodyPr>
          <a:lstStyle>
            <a:lvl1pPr algn="l">
              <a:defRPr sz="4400" b="1">
                <a:solidFill>
                  <a:srgbClr val="C00000"/>
                </a:solidFill>
                <a:latin typeface="Montserrat Black" panose="00000A00000000000000" pitchFamily="50" charset="0"/>
              </a:defRPr>
            </a:lvl1pPr>
          </a:lstStyle>
          <a:p>
            <a:r>
              <a:rPr lang="en-US" dirty="0"/>
              <a:t>Click to edit Master title style</a:t>
            </a:r>
          </a:p>
        </p:txBody>
      </p:sp>
      <p:sp>
        <p:nvSpPr>
          <p:cNvPr id="3" name="Subtitle 2"/>
          <p:cNvSpPr>
            <a:spLocks noGrp="1"/>
          </p:cNvSpPr>
          <p:nvPr>
            <p:ph type="subTitle" idx="1" hasCustomPrompt="1"/>
          </p:nvPr>
        </p:nvSpPr>
        <p:spPr>
          <a:xfrm>
            <a:off x="994063" y="1411721"/>
            <a:ext cx="7308273" cy="417802"/>
          </a:xfrm>
        </p:spPr>
        <p:txBody>
          <a:bodyPr/>
          <a:lstStyle>
            <a:lvl1pPr marL="0" indent="0" algn="l">
              <a:buNone/>
              <a:defRPr sz="2400" b="1">
                <a:solidFill>
                  <a:schemeClr val="tx1">
                    <a:lumMod val="75000"/>
                    <a:lumOff val="25000"/>
                  </a:schemeClr>
                </a:solidFill>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grpSp>
        <p:nvGrpSpPr>
          <p:cNvPr id="5" name="Group 4">
            <a:extLst>
              <a:ext uri="{FF2B5EF4-FFF2-40B4-BE49-F238E27FC236}">
                <a16:creationId xmlns:a16="http://schemas.microsoft.com/office/drawing/2014/main" id="{52E113E7-2D3B-3E98-63FF-01937BA325AF}"/>
              </a:ext>
            </a:extLst>
          </p:cNvPr>
          <p:cNvGrpSpPr/>
          <p:nvPr userDrawn="1"/>
        </p:nvGrpSpPr>
        <p:grpSpPr>
          <a:xfrm>
            <a:off x="146236" y="126065"/>
            <a:ext cx="1236911" cy="652027"/>
            <a:chOff x="1319183" y="2905809"/>
            <a:chExt cx="3753380" cy="1978564"/>
          </a:xfrm>
        </p:grpSpPr>
        <p:pic>
          <p:nvPicPr>
            <p:cNvPr id="6" name="Picture 5">
              <a:extLst>
                <a:ext uri="{FF2B5EF4-FFF2-40B4-BE49-F238E27FC236}">
                  <a16:creationId xmlns:a16="http://schemas.microsoft.com/office/drawing/2014/main" id="{F72AF624-D91D-258D-5029-3E7450245825}"/>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18534" t="13609" r="15991" b="11112"/>
            <a:stretch/>
          </p:blipFill>
          <p:spPr>
            <a:xfrm>
              <a:off x="3351674" y="2905809"/>
              <a:ext cx="1720889" cy="1978564"/>
            </a:xfrm>
            <a:prstGeom prst="rect">
              <a:avLst/>
            </a:prstGeom>
          </p:spPr>
        </p:pic>
        <p:pic>
          <p:nvPicPr>
            <p:cNvPr id="7" name="Picture 2" descr="Chức năng và cơ cấu tổ chức mới của Bộ Khoa học và Công">
              <a:extLst>
                <a:ext uri="{FF2B5EF4-FFF2-40B4-BE49-F238E27FC236}">
                  <a16:creationId xmlns:a16="http://schemas.microsoft.com/office/drawing/2014/main" id="{B7AFF62B-9AAC-9119-62B7-F2724B22B6D1}"/>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319183" y="2905809"/>
              <a:ext cx="2032491" cy="191293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13434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2792" y="168998"/>
            <a:ext cx="7329054" cy="766184"/>
          </a:xfrm>
        </p:spPr>
        <p:txBody>
          <a:bodyPr>
            <a:normAutofit/>
          </a:bodyPr>
          <a:lstStyle>
            <a:lvl1pPr>
              <a:defRPr sz="2800" b="1">
                <a:solidFill>
                  <a:srgbClr val="C00000"/>
                </a:solidFill>
                <a:latin typeface="Montserrat Black" panose="00000A00000000000000" pitchFamily="50" charset="0"/>
              </a:defRPr>
            </a:lvl1pPr>
          </a:lstStyle>
          <a:p>
            <a:r>
              <a:rPr lang="en-US" dirty="0"/>
              <a:t>Click to edit Master title style</a:t>
            </a:r>
          </a:p>
        </p:txBody>
      </p:sp>
      <p:sp>
        <p:nvSpPr>
          <p:cNvPr id="3" name="Content Placeholder 2"/>
          <p:cNvSpPr>
            <a:spLocks noGrp="1"/>
          </p:cNvSpPr>
          <p:nvPr>
            <p:ph idx="1"/>
          </p:nvPr>
        </p:nvSpPr>
        <p:spPr>
          <a:xfrm>
            <a:off x="162791" y="1129434"/>
            <a:ext cx="11714017" cy="4351338"/>
          </a:xfrm>
        </p:spPr>
        <p:txBody>
          <a:bodyPr/>
          <a:lstStyle>
            <a:lvl1pPr>
              <a:defRPr>
                <a:latin typeface="Times New Roman" panose="02020603050405020304" pitchFamily="18" charset="0"/>
                <a:ea typeface="Roboto" panose="02000000000000000000" pitchFamily="2" charset="0"/>
                <a:cs typeface="Times New Roman" panose="02020603050405020304" pitchFamily="18" charset="0"/>
              </a:defRPr>
            </a:lvl1pPr>
            <a:lvl2pPr>
              <a:defRPr>
                <a:latin typeface="Times New Roman" panose="02020603050405020304" pitchFamily="18" charset="0"/>
                <a:ea typeface="Roboto" panose="02000000000000000000" pitchFamily="2" charset="0"/>
                <a:cs typeface="Times New Roman" panose="02020603050405020304" pitchFamily="18" charset="0"/>
              </a:defRPr>
            </a:lvl2pPr>
            <a:lvl3pPr>
              <a:defRPr>
                <a:latin typeface="Times New Roman" panose="02020603050405020304" pitchFamily="18" charset="0"/>
                <a:ea typeface="Roboto" panose="02000000000000000000" pitchFamily="2" charset="0"/>
                <a:cs typeface="Times New Roman" panose="02020603050405020304" pitchFamily="18" charset="0"/>
              </a:defRPr>
            </a:lvl3pPr>
            <a:lvl4pPr>
              <a:defRPr>
                <a:latin typeface="Times New Roman" panose="02020603050405020304" pitchFamily="18" charset="0"/>
                <a:ea typeface="Roboto" panose="02000000000000000000" pitchFamily="2" charset="0"/>
                <a:cs typeface="Times New Roman" panose="02020603050405020304" pitchFamily="18" charset="0"/>
              </a:defRPr>
            </a:lvl4pPr>
            <a:lvl5pPr>
              <a:defRPr>
                <a:latin typeface="Times New Roman" panose="02020603050405020304" pitchFamily="18" charset="0"/>
                <a:ea typeface="Roboto" panose="02000000000000000000" pitchFamily="2"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1156252" y="6348847"/>
            <a:ext cx="2743200" cy="365125"/>
          </a:xfrm>
        </p:spPr>
        <p:txBody>
          <a:bodyPr/>
          <a:lstStyle/>
          <a:p>
            <a:fld id="{9C567215-7C29-4132-833E-BA43A394FAD0}" type="datetimeFigureOut">
              <a:rPr lang="en-US" smtClean="0"/>
              <a:t>12-Jan-26</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userDrawn="1"/>
        </p:nvSpPr>
        <p:spPr>
          <a:xfrm>
            <a:off x="0" y="6303128"/>
            <a:ext cx="11353800" cy="45719"/>
          </a:xfrm>
          <a:prstGeom prst="rect">
            <a:avLst/>
          </a:prstGeom>
          <a:solidFill>
            <a:srgbClr val="BB20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5"/>
          <p:cNvSpPr>
            <a:spLocks noGrp="1"/>
          </p:cNvSpPr>
          <p:nvPr>
            <p:ph type="sldNum" sz="quarter" idx="12"/>
          </p:nvPr>
        </p:nvSpPr>
        <p:spPr>
          <a:xfrm>
            <a:off x="10900064" y="6303128"/>
            <a:ext cx="453735" cy="418347"/>
          </a:xfrm>
          <a:solidFill>
            <a:srgbClr val="BB2025"/>
          </a:solidFill>
          <a:ln>
            <a:noFill/>
          </a:ln>
        </p:spPr>
        <p:txBody>
          <a:bodyPr/>
          <a:lstStyle>
            <a:lvl1pPr>
              <a:defRPr b="1">
                <a:solidFill>
                  <a:schemeClr val="bg1"/>
                </a:solidFill>
              </a:defRPr>
            </a:lvl1pPr>
          </a:lstStyle>
          <a:p>
            <a:fld id="{853E3903-0777-4E83-A7C8-92B121E4D226}" type="slidenum">
              <a:rPr lang="en-US" smtClean="0"/>
              <a:pPr/>
              <a:t>‹#›</a:t>
            </a:fld>
            <a:endParaRPr lang="en-US"/>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10330039" y="794504"/>
            <a:ext cx="3036202" cy="1001740"/>
          </a:xfrm>
          <a:prstGeom prst="rect">
            <a:avLst/>
          </a:prstGeom>
        </p:spPr>
      </p:pic>
      <p:grpSp>
        <p:nvGrpSpPr>
          <p:cNvPr id="13" name="Group 12">
            <a:extLst>
              <a:ext uri="{FF2B5EF4-FFF2-40B4-BE49-F238E27FC236}">
                <a16:creationId xmlns:a16="http://schemas.microsoft.com/office/drawing/2014/main" id="{47666B99-B63A-0B99-7F0F-EF15812AAF2E}"/>
              </a:ext>
            </a:extLst>
          </p:cNvPr>
          <p:cNvGrpSpPr/>
          <p:nvPr userDrawn="1"/>
        </p:nvGrpSpPr>
        <p:grpSpPr>
          <a:xfrm>
            <a:off x="146237" y="6421722"/>
            <a:ext cx="739765" cy="389961"/>
            <a:chOff x="1319183" y="2905809"/>
            <a:chExt cx="3753380" cy="1978564"/>
          </a:xfrm>
        </p:grpSpPr>
        <p:pic>
          <p:nvPicPr>
            <p:cNvPr id="11" name="Picture 10">
              <a:extLst>
                <a:ext uri="{FF2B5EF4-FFF2-40B4-BE49-F238E27FC236}">
                  <a16:creationId xmlns:a16="http://schemas.microsoft.com/office/drawing/2014/main" id="{BFF34145-DE6F-BA7D-B60E-F535B0E06517}"/>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18534" t="13609" r="15991" b="11112"/>
            <a:stretch/>
          </p:blipFill>
          <p:spPr>
            <a:xfrm>
              <a:off x="3351674" y="2905809"/>
              <a:ext cx="1720889" cy="1978564"/>
            </a:xfrm>
            <a:prstGeom prst="rect">
              <a:avLst/>
            </a:prstGeom>
          </p:spPr>
        </p:pic>
        <p:pic>
          <p:nvPicPr>
            <p:cNvPr id="1026" name="Picture 2" descr="Chức năng và cơ cấu tổ chức mới của Bộ Khoa học và Công">
              <a:extLst>
                <a:ext uri="{FF2B5EF4-FFF2-40B4-BE49-F238E27FC236}">
                  <a16:creationId xmlns:a16="http://schemas.microsoft.com/office/drawing/2014/main" id="{8B9619AA-6128-24C4-C056-EDADF7042668}"/>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319183" y="2905809"/>
              <a:ext cx="2032491" cy="191293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338163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567215-7C29-4132-833E-BA43A394FAD0}" type="datetimeFigureOut">
              <a:rPr lang="en-US" smtClean="0"/>
              <a:t>12-Jan-26</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userDrawn="1"/>
        </p:nvSpPr>
        <p:spPr>
          <a:xfrm>
            <a:off x="0" y="6303128"/>
            <a:ext cx="11353800" cy="45719"/>
          </a:xfrm>
          <a:prstGeom prst="rect">
            <a:avLst/>
          </a:prstGeom>
          <a:solidFill>
            <a:srgbClr val="BB20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4967" y="6413498"/>
            <a:ext cx="800283" cy="387439"/>
          </a:xfrm>
          <a:prstGeom prst="rect">
            <a:avLst/>
          </a:prstGeom>
        </p:spPr>
      </p:pic>
    </p:spTree>
    <p:extLst>
      <p:ext uri="{BB962C8B-B14F-4D97-AF65-F5344CB8AC3E}">
        <p14:creationId xmlns:p14="http://schemas.microsoft.com/office/powerpoint/2010/main" val="1975577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1417182"/>
          </a:xfrm>
        </p:spPr>
        <p:txBody>
          <a:bodyPr anchor="b">
            <a:normAutofit/>
          </a:bodyPr>
          <a:lstStyle>
            <a:lvl1pPr algn="ctr">
              <a:defRPr sz="4000" b="1">
                <a:solidFill>
                  <a:srgbClr val="C00000"/>
                </a:solidFill>
                <a:latin typeface="Montserrat" panose="00000500000000000000" pitchFamily="50" charset="0"/>
              </a:defRPr>
            </a:lvl1pPr>
          </a:lstStyle>
          <a:p>
            <a:r>
              <a:rPr lang="en-US" dirty="0"/>
              <a:t>Click to edit Master title style</a:t>
            </a:r>
          </a:p>
        </p:txBody>
      </p:sp>
      <p:sp>
        <p:nvSpPr>
          <p:cNvPr id="3" name="Text Placeholder 2"/>
          <p:cNvSpPr>
            <a:spLocks noGrp="1"/>
          </p:cNvSpPr>
          <p:nvPr>
            <p:ph type="body" idx="1"/>
          </p:nvPr>
        </p:nvSpPr>
        <p:spPr>
          <a:xfrm>
            <a:off x="831850" y="3413807"/>
            <a:ext cx="10515600" cy="570366"/>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9C567215-7C29-4132-833E-BA43A394FAD0}" type="datetimeFigureOut">
              <a:rPr lang="en-US" smtClean="0"/>
              <a:t>12-Jan-26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3E3903-0777-4E83-A7C8-92B121E4D226}" type="slidenum">
              <a:rPr lang="en-US" smtClean="0"/>
              <a:t>‹#›</a:t>
            </a:fld>
            <a:endParaRPr lang="en-US"/>
          </a:p>
        </p:txBody>
      </p:sp>
      <p:sp>
        <p:nvSpPr>
          <p:cNvPr id="7" name="Slide Number Placeholder 5"/>
          <p:cNvSpPr txBox="1">
            <a:spLocks/>
          </p:cNvSpPr>
          <p:nvPr userDrawn="1"/>
        </p:nvSpPr>
        <p:spPr>
          <a:xfrm>
            <a:off x="10900064" y="6303128"/>
            <a:ext cx="453735" cy="418347"/>
          </a:xfrm>
          <a:prstGeom prst="rect">
            <a:avLst/>
          </a:prstGeom>
          <a:solidFill>
            <a:srgbClr val="BB2025"/>
          </a:solidFill>
          <a:ln>
            <a:noFill/>
          </a:ln>
        </p:spPr>
        <p:txBody>
          <a:bodyPr vert="horz" lIns="91440" tIns="45720" rIns="91440" bIns="45720" rtlCol="0" anchor="ctr"/>
          <a:lstStyle>
            <a:defPPr>
              <a:defRPr lang="en-US"/>
            </a:defPPr>
            <a:lvl1pPr marL="0" algn="r" defTabSz="914400" rtl="0" eaLnBrk="1" latinLnBrk="0" hangingPunct="1">
              <a:defRPr sz="12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3E3903-0777-4E83-A7C8-92B121E4D226}" type="slidenum">
              <a:rPr lang="en-US" smtClean="0"/>
              <a:pPr/>
              <a:t>‹#›</a:t>
            </a:fld>
            <a:endParaRPr lang="en-US"/>
          </a:p>
        </p:txBody>
      </p:sp>
      <p:sp>
        <p:nvSpPr>
          <p:cNvPr id="9" name="Rectangle 8"/>
          <p:cNvSpPr/>
          <p:nvPr userDrawn="1"/>
        </p:nvSpPr>
        <p:spPr>
          <a:xfrm>
            <a:off x="0" y="6303128"/>
            <a:ext cx="11353800" cy="45719"/>
          </a:xfrm>
          <a:prstGeom prst="rect">
            <a:avLst/>
          </a:prstGeom>
          <a:solidFill>
            <a:srgbClr val="BB20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4967" y="6413498"/>
            <a:ext cx="800283" cy="387439"/>
          </a:xfrm>
          <a:prstGeom prst="rect">
            <a:avLst/>
          </a:prstGeom>
        </p:spPr>
      </p:pic>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4967" y="126255"/>
            <a:ext cx="933633" cy="451997"/>
          </a:xfrm>
          <a:prstGeom prst="rect">
            <a:avLst/>
          </a:prstGeom>
        </p:spPr>
      </p:pic>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5002755"/>
            <a:ext cx="12466864" cy="2032814"/>
          </a:xfrm>
          <a:prstGeom prst="rect">
            <a:avLst/>
          </a:prstGeom>
        </p:spPr>
      </p:pic>
      <p:grpSp>
        <p:nvGrpSpPr>
          <p:cNvPr id="8" name="Group 7">
            <a:extLst>
              <a:ext uri="{FF2B5EF4-FFF2-40B4-BE49-F238E27FC236}">
                <a16:creationId xmlns:a16="http://schemas.microsoft.com/office/drawing/2014/main" id="{BA2F55D4-8A76-28C8-4099-980A9740B62B}"/>
              </a:ext>
            </a:extLst>
          </p:cNvPr>
          <p:cNvGrpSpPr/>
          <p:nvPr userDrawn="1"/>
        </p:nvGrpSpPr>
        <p:grpSpPr>
          <a:xfrm>
            <a:off x="146236" y="126065"/>
            <a:ext cx="1236911" cy="652027"/>
            <a:chOff x="1319183" y="2905809"/>
            <a:chExt cx="3753380" cy="1978564"/>
          </a:xfrm>
        </p:grpSpPr>
        <p:pic>
          <p:nvPicPr>
            <p:cNvPr id="11" name="Picture 10">
              <a:extLst>
                <a:ext uri="{FF2B5EF4-FFF2-40B4-BE49-F238E27FC236}">
                  <a16:creationId xmlns:a16="http://schemas.microsoft.com/office/drawing/2014/main" id="{4C88F699-7B36-73B6-69F1-C234BB328C66}"/>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l="18534" t="13609" r="15991" b="11112"/>
            <a:stretch/>
          </p:blipFill>
          <p:spPr>
            <a:xfrm>
              <a:off x="3351674" y="2905809"/>
              <a:ext cx="1720889" cy="1978564"/>
            </a:xfrm>
            <a:prstGeom prst="rect">
              <a:avLst/>
            </a:prstGeom>
          </p:spPr>
        </p:pic>
        <p:pic>
          <p:nvPicPr>
            <p:cNvPr id="14" name="Picture 2" descr="Chức năng và cơ cấu tổ chức mới của Bộ Khoa học và Công">
              <a:extLst>
                <a:ext uri="{FF2B5EF4-FFF2-40B4-BE49-F238E27FC236}">
                  <a16:creationId xmlns:a16="http://schemas.microsoft.com/office/drawing/2014/main" id="{9C7A0374-4EFF-C03A-D961-F55320BE54B4}"/>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319183" y="2905809"/>
              <a:ext cx="2032491" cy="191293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274094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4_Title Slide">
  <p:cSld name="14_Title Slide">
    <p:spTree>
      <p:nvGrpSpPr>
        <p:cNvPr id="1" name="Shape 13"/>
        <p:cNvGrpSpPr/>
        <p:nvPr/>
      </p:nvGrpSpPr>
      <p:grpSpPr>
        <a:xfrm>
          <a:off x="0" y="0"/>
          <a:ext cx="0" cy="0"/>
          <a:chOff x="0" y="0"/>
          <a:chExt cx="0" cy="0"/>
        </a:xfrm>
      </p:grpSpPr>
      <p:sp>
        <p:nvSpPr>
          <p:cNvPr id="14" name="Google Shape;14;p25"/>
          <p:cNvSpPr>
            <a:spLocks noGrp="1"/>
          </p:cNvSpPr>
          <p:nvPr>
            <p:ph type="pic" idx="2"/>
          </p:nvPr>
        </p:nvSpPr>
        <p:spPr>
          <a:xfrm>
            <a:off x="7891576" y="0"/>
            <a:ext cx="4101639" cy="6857999"/>
          </a:xfrm>
          <a:prstGeom prst="rect">
            <a:avLst/>
          </a:prstGeom>
          <a:solidFill>
            <a:schemeClr val="lt1"/>
          </a:solidFill>
          <a:ln>
            <a:noFill/>
          </a:ln>
        </p:spPr>
      </p:sp>
    </p:spTree>
    <p:extLst>
      <p:ext uri="{BB962C8B-B14F-4D97-AF65-F5344CB8AC3E}">
        <p14:creationId xmlns:p14="http://schemas.microsoft.com/office/powerpoint/2010/main" val="37330255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567215-7C29-4132-833E-BA43A394FAD0}" type="datetimeFigureOut">
              <a:rPr lang="en-US" smtClean="0"/>
              <a:t>12-Jan-26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3E3903-0777-4E83-A7C8-92B121E4D226}" type="slidenum">
              <a:rPr lang="en-US" smtClean="0"/>
              <a:t>‹#›</a:t>
            </a:fld>
            <a:endParaRPr lang="en-US"/>
          </a:p>
        </p:txBody>
      </p:sp>
      <p:sp>
        <p:nvSpPr>
          <p:cNvPr id="8" name="Slide Number Placeholder 5"/>
          <p:cNvSpPr txBox="1">
            <a:spLocks/>
          </p:cNvSpPr>
          <p:nvPr userDrawn="1"/>
        </p:nvSpPr>
        <p:spPr>
          <a:xfrm>
            <a:off x="10900064" y="6303128"/>
            <a:ext cx="453735" cy="418347"/>
          </a:xfrm>
          <a:prstGeom prst="rect">
            <a:avLst/>
          </a:prstGeom>
          <a:solidFill>
            <a:srgbClr val="BB2025"/>
          </a:solidFill>
          <a:ln>
            <a:noFill/>
          </a:ln>
        </p:spPr>
        <p:txBody>
          <a:bodyPr vert="horz" lIns="91440" tIns="45720" rIns="91440" bIns="45720" rtlCol="0" anchor="ctr"/>
          <a:lstStyle>
            <a:defPPr>
              <a:defRPr lang="en-US"/>
            </a:defPPr>
            <a:lvl1pPr marL="0" algn="r" defTabSz="914400" rtl="0" eaLnBrk="1" latinLnBrk="0" hangingPunct="1">
              <a:defRPr sz="12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3E3903-0777-4E83-A7C8-92B121E4D226}" type="slidenum">
              <a:rPr lang="en-US" smtClean="0"/>
              <a:pPr/>
              <a:t>‹#›</a:t>
            </a:fld>
            <a:endParaRPr lang="en-US"/>
          </a:p>
        </p:txBody>
      </p:sp>
    </p:spTree>
    <p:extLst>
      <p:ext uri="{BB962C8B-B14F-4D97-AF65-F5344CB8AC3E}">
        <p14:creationId xmlns:p14="http://schemas.microsoft.com/office/powerpoint/2010/main" val="1831077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 id="2147483651" r:id="rId4"/>
    <p:sldLayoutId id="2147483665" r:id="rId5"/>
  </p:sldLayoutIdLst>
  <p:txStyles>
    <p:titleStyle>
      <a:lvl1pPr algn="l" defTabSz="914400" rtl="0" eaLnBrk="1" latinLnBrk="0" hangingPunct="1">
        <a:lnSpc>
          <a:spcPct val="90000"/>
        </a:lnSpc>
        <a:spcBef>
          <a:spcPct val="0"/>
        </a:spcBef>
        <a:buNone/>
        <a:defRPr sz="2800" kern="1200">
          <a:solidFill>
            <a:schemeClr val="tx1"/>
          </a:solidFill>
          <a:latin typeface="Montserrat Black" panose="00000A00000000000000" pitchFamily="50"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Roboto" pitchFamily="2"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Roboto" pitchFamily="2" charset="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Roboto" pitchFamily="2" charset="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Roboto" pitchFamily="2" charset="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Roboto" pitchFamily="2" charset="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A64589-E7C8-41AC-A6DC-2E49CAB58FB2}" type="datetimeFigureOut">
              <a:rPr lang="en-US" smtClean="0"/>
              <a:t>12-Jan-26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AA8543-C305-48B8-987F-76CB6D84F7F2}" type="slidenum">
              <a:rPr lang="en-US" smtClean="0"/>
              <a:t>‹#›</a:t>
            </a:fld>
            <a:endParaRPr lang="en-US"/>
          </a:p>
        </p:txBody>
      </p:sp>
    </p:spTree>
    <p:extLst>
      <p:ext uri="{BB962C8B-B14F-4D97-AF65-F5344CB8AC3E}">
        <p14:creationId xmlns:p14="http://schemas.microsoft.com/office/powerpoint/2010/main" val="1442611839"/>
      </p:ext>
    </p:extLst>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uwaterloo.ca/geospatial-intelligence/sites/default/files/uploads/documents/deep-learning-for-wildfire-risk-prediction-integrating-remote-sensing-and-environmental-data.pdf?utm_source=chatgpt.com"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file:///D:\Master\AAA%20-%20VIP%20-%20FOREST%20FLAME\%20https:\link.springer.com\article\10.1007\s11069-025-07163-w"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06038" y="1117584"/>
            <a:ext cx="10660213" cy="1373298"/>
          </a:xfrm>
        </p:spPr>
        <p:txBody>
          <a:bodyPr>
            <a:normAutofit/>
          </a:bodyPr>
          <a:lstStyle/>
          <a:p>
            <a:pPr>
              <a:lnSpc>
                <a:spcPct val="150000"/>
              </a:lnSpc>
              <a:spcAft>
                <a:spcPts val="1200"/>
              </a:spcAft>
            </a:pPr>
            <a:r>
              <a:rPr lang="en-US" sz="2800" kern="100">
                <a:solidFill>
                  <a:srgbClr val="C00000"/>
                </a:solidFill>
                <a:latin typeface="Montserrat Black" panose="00000A00000000000000" pitchFamily="2" charset="0"/>
                <a:ea typeface="Calibri" panose="020F0502020204030204" pitchFamily="34" charset="0"/>
                <a:cs typeface="Arial" panose="020B0604020202020204" pitchFamily="34" charset="0"/>
              </a:rPr>
              <a:t>ĐỀ CƯƠNG ĐỀ ÁN TỐT NGHIỆP THẠC SĨ</a:t>
            </a:r>
            <a:endParaRPr lang="en-US" sz="3200" kern="100">
              <a:solidFill>
                <a:srgbClr val="C00000"/>
              </a:solidFill>
              <a:latin typeface="Montserrat Black" panose="00000A00000000000000" pitchFamily="2" charset="0"/>
              <a:ea typeface="Calibri" panose="020F0502020204030204" pitchFamily="34" charset="0"/>
              <a:cs typeface="Arial" panose="020B0604020202020204" pitchFamily="34" charset="0"/>
            </a:endParaRPr>
          </a:p>
        </p:txBody>
      </p:sp>
      <p:sp>
        <p:nvSpPr>
          <p:cNvPr id="4" name="Footer Placeholder 4"/>
          <p:cNvSpPr txBox="1">
            <a:spLocks/>
          </p:cNvSpPr>
          <p:nvPr/>
        </p:nvSpPr>
        <p:spPr>
          <a:xfrm>
            <a:off x="228599" y="5416062"/>
            <a:ext cx="5679832" cy="1081453"/>
          </a:xfrm>
          <a:prstGeom prst="rect">
            <a:avLst/>
          </a:prstGeom>
        </p:spPr>
        <p:txBody>
          <a:bodyPr/>
          <a:lstStyle>
            <a:defPPr>
              <a:defRPr lang="en-US"/>
            </a:defPPr>
            <a:lvl1pPr marL="0" algn="l" defTabSz="914400" rtl="0" eaLnBrk="1" latinLnBrk="0" hangingPunct="1">
              <a:defRPr sz="1400" b="1" kern="1200">
                <a:solidFill>
                  <a:schemeClr val="bg1"/>
                </a:solidFill>
                <a:latin typeface="Roboto" panose="02000000000000000000" pitchFamily="2" charset="0"/>
                <a:ea typeface="Roboto" panose="02000000000000000000" pitchFamily="2"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sz="1600"/>
              <a:t>HỌC VIÊN: Nguyễn Phương Đông – B24CHHT062</a:t>
            </a:r>
          </a:p>
          <a:p>
            <a:pPr>
              <a:lnSpc>
                <a:spcPct val="150000"/>
              </a:lnSpc>
            </a:pPr>
            <a:r>
              <a:rPr lang="en-US" sz="1600"/>
              <a:t>GIẢNG VIÊN HƯỚNG DẪN: </a:t>
            </a:r>
            <a:r>
              <a:rPr lang="en-US" sz="1600" err="1"/>
              <a:t>TS.Kim</a:t>
            </a:r>
            <a:r>
              <a:rPr lang="en-US" sz="1600"/>
              <a:t> Ngọc </a:t>
            </a:r>
            <a:r>
              <a:rPr lang="en-US" sz="1600" err="1"/>
              <a:t>Bách</a:t>
            </a:r>
            <a:endParaRPr lang="en-US" sz="1600"/>
          </a:p>
          <a:p>
            <a:endParaRPr lang="en-US" sz="1600" i="1"/>
          </a:p>
        </p:txBody>
      </p:sp>
      <p:sp>
        <p:nvSpPr>
          <p:cNvPr id="2" name="TextBox 1">
            <a:extLst>
              <a:ext uri="{FF2B5EF4-FFF2-40B4-BE49-F238E27FC236}">
                <a16:creationId xmlns:a16="http://schemas.microsoft.com/office/drawing/2014/main" id="{2019F529-5DE5-79A2-5C1C-DB2E03861B06}"/>
              </a:ext>
            </a:extLst>
          </p:cNvPr>
          <p:cNvSpPr txBox="1"/>
          <p:nvPr/>
        </p:nvSpPr>
        <p:spPr>
          <a:xfrm>
            <a:off x="906038" y="1969031"/>
            <a:ext cx="9708543" cy="1137876"/>
          </a:xfrm>
          <a:prstGeom prst="rect">
            <a:avLst/>
          </a:prstGeom>
          <a:noFill/>
        </p:spPr>
        <p:txBody>
          <a:bodyPr wrap="square">
            <a:spAutoFit/>
          </a:bodyPr>
          <a:lstStyle/>
          <a:p>
            <a:pPr>
              <a:lnSpc>
                <a:spcPct val="150000"/>
              </a:lnSpc>
              <a:spcAft>
                <a:spcPts val="1200"/>
              </a:spcAft>
            </a:pPr>
            <a:r>
              <a:rPr lang="en-US" sz="2400" kern="100" err="1">
                <a:solidFill>
                  <a:schemeClr val="tx1"/>
                </a:solidFill>
                <a:effectLst/>
                <a:latin typeface="Montserrat Black" panose="00000A00000000000000" pitchFamily="2" charset="0"/>
                <a:ea typeface="Calibri" panose="020F0502020204030204" pitchFamily="34" charset="0"/>
                <a:cs typeface="Arial" panose="020B0604020202020204" pitchFamily="34" charset="0"/>
              </a:rPr>
              <a:t>Ứng</a:t>
            </a:r>
            <a:r>
              <a:rPr lang="en-US" sz="2400" kern="100">
                <a:solidFill>
                  <a:schemeClr val="tx1"/>
                </a:solidFill>
                <a:effectLst/>
                <a:latin typeface="Montserrat Black" panose="00000A00000000000000" pitchFamily="2" charset="0"/>
                <a:ea typeface="Calibri" panose="020F0502020204030204" pitchFamily="34" charset="0"/>
                <a:cs typeface="Arial" panose="020B0604020202020204" pitchFamily="34" charset="0"/>
              </a:rPr>
              <a:t> </a:t>
            </a:r>
            <a:r>
              <a:rPr lang="en-US" sz="2400" kern="100" err="1">
                <a:solidFill>
                  <a:schemeClr val="tx1"/>
                </a:solidFill>
                <a:effectLst/>
                <a:latin typeface="Montserrat Black" panose="00000A00000000000000" pitchFamily="2" charset="0"/>
                <a:ea typeface="Calibri" panose="020F0502020204030204" pitchFamily="34" charset="0"/>
                <a:cs typeface="Arial" panose="020B0604020202020204" pitchFamily="34" charset="0"/>
              </a:rPr>
              <a:t>dụng</a:t>
            </a:r>
            <a:r>
              <a:rPr lang="en-US" sz="2400" kern="100">
                <a:solidFill>
                  <a:schemeClr val="tx1"/>
                </a:solidFill>
                <a:effectLst/>
                <a:latin typeface="Montserrat Black" panose="00000A00000000000000" pitchFamily="2" charset="0"/>
                <a:ea typeface="Calibri" panose="020F0502020204030204" pitchFamily="34" charset="0"/>
                <a:cs typeface="Arial" panose="020B0604020202020204" pitchFamily="34" charset="0"/>
              </a:rPr>
              <a:t> </a:t>
            </a:r>
            <a:r>
              <a:rPr lang="en-US" sz="2400" kern="100" err="1">
                <a:solidFill>
                  <a:schemeClr val="tx1"/>
                </a:solidFill>
                <a:effectLst/>
                <a:latin typeface="Montserrat Black" panose="00000A00000000000000" pitchFamily="2" charset="0"/>
                <a:ea typeface="Calibri" panose="020F0502020204030204" pitchFamily="34" charset="0"/>
                <a:cs typeface="Arial" panose="020B0604020202020204" pitchFamily="34" charset="0"/>
              </a:rPr>
              <a:t>trí</a:t>
            </a:r>
            <a:r>
              <a:rPr lang="en-US" sz="2400" kern="100">
                <a:solidFill>
                  <a:schemeClr val="tx1"/>
                </a:solidFill>
                <a:effectLst/>
                <a:latin typeface="Montserrat Black" panose="00000A00000000000000" pitchFamily="2" charset="0"/>
                <a:ea typeface="Calibri" panose="020F0502020204030204" pitchFamily="34" charset="0"/>
                <a:cs typeface="Arial" panose="020B0604020202020204" pitchFamily="34" charset="0"/>
              </a:rPr>
              <a:t> </a:t>
            </a:r>
            <a:r>
              <a:rPr lang="en-US" sz="2400" kern="100" err="1">
                <a:solidFill>
                  <a:schemeClr val="tx1"/>
                </a:solidFill>
                <a:effectLst/>
                <a:latin typeface="Montserrat Black" panose="00000A00000000000000" pitchFamily="2" charset="0"/>
                <a:ea typeface="Calibri" panose="020F0502020204030204" pitchFamily="34" charset="0"/>
                <a:cs typeface="Arial" panose="020B0604020202020204" pitchFamily="34" charset="0"/>
              </a:rPr>
              <a:t>tuệ</a:t>
            </a:r>
            <a:r>
              <a:rPr lang="en-US" sz="2400" kern="100">
                <a:solidFill>
                  <a:schemeClr val="tx1"/>
                </a:solidFill>
                <a:effectLst/>
                <a:latin typeface="Montserrat Black" panose="00000A00000000000000" pitchFamily="2" charset="0"/>
                <a:ea typeface="Calibri" panose="020F0502020204030204" pitchFamily="34" charset="0"/>
                <a:cs typeface="Arial" panose="020B0604020202020204" pitchFamily="34" charset="0"/>
              </a:rPr>
              <a:t> </a:t>
            </a:r>
            <a:r>
              <a:rPr lang="en-US" sz="2400" kern="100" err="1">
                <a:solidFill>
                  <a:schemeClr val="tx1"/>
                </a:solidFill>
                <a:effectLst/>
                <a:latin typeface="Montserrat Black" panose="00000A00000000000000" pitchFamily="2" charset="0"/>
                <a:ea typeface="Calibri" panose="020F0502020204030204" pitchFamily="34" charset="0"/>
                <a:cs typeface="Arial" panose="020B0604020202020204" pitchFamily="34" charset="0"/>
              </a:rPr>
              <a:t>nhân</a:t>
            </a:r>
            <a:r>
              <a:rPr lang="en-US" sz="2400" kern="100">
                <a:solidFill>
                  <a:schemeClr val="tx1"/>
                </a:solidFill>
                <a:effectLst/>
                <a:latin typeface="Montserrat Black" panose="00000A00000000000000" pitchFamily="2" charset="0"/>
                <a:ea typeface="Calibri" panose="020F0502020204030204" pitchFamily="34" charset="0"/>
                <a:cs typeface="Arial" panose="020B0604020202020204" pitchFamily="34" charset="0"/>
              </a:rPr>
              <a:t> </a:t>
            </a:r>
            <a:r>
              <a:rPr lang="en-US" sz="2400" kern="100" err="1">
                <a:solidFill>
                  <a:schemeClr val="tx1"/>
                </a:solidFill>
                <a:effectLst/>
                <a:latin typeface="Montserrat Black" panose="00000A00000000000000" pitchFamily="2" charset="0"/>
                <a:ea typeface="Calibri" panose="020F0502020204030204" pitchFamily="34" charset="0"/>
                <a:cs typeface="Arial" panose="020B0604020202020204" pitchFamily="34" charset="0"/>
              </a:rPr>
              <a:t>tạo</a:t>
            </a:r>
            <a:r>
              <a:rPr lang="en-US" sz="2400" kern="100">
                <a:solidFill>
                  <a:schemeClr val="tx1"/>
                </a:solidFill>
                <a:effectLst/>
                <a:latin typeface="Montserrat Black" panose="00000A00000000000000" pitchFamily="2" charset="0"/>
                <a:ea typeface="Calibri" panose="020F0502020204030204" pitchFamily="34" charset="0"/>
                <a:cs typeface="Arial" panose="020B0604020202020204" pitchFamily="34" charset="0"/>
              </a:rPr>
              <a:t> </a:t>
            </a:r>
            <a:r>
              <a:rPr lang="en-US" sz="2400" kern="100" err="1">
                <a:solidFill>
                  <a:schemeClr val="tx1"/>
                </a:solidFill>
                <a:effectLst/>
                <a:latin typeface="Montserrat Black" panose="00000A00000000000000" pitchFamily="2" charset="0"/>
                <a:ea typeface="Calibri" panose="020F0502020204030204" pitchFamily="34" charset="0"/>
                <a:cs typeface="Arial" panose="020B0604020202020204" pitchFamily="34" charset="0"/>
              </a:rPr>
              <a:t>kết</a:t>
            </a:r>
            <a:r>
              <a:rPr lang="en-US" sz="2400" kern="100">
                <a:solidFill>
                  <a:schemeClr val="tx1"/>
                </a:solidFill>
                <a:effectLst/>
                <a:latin typeface="Montserrat Black" panose="00000A00000000000000" pitchFamily="2" charset="0"/>
                <a:ea typeface="Calibri" panose="020F0502020204030204" pitchFamily="34" charset="0"/>
                <a:cs typeface="Arial" panose="020B0604020202020204" pitchFamily="34" charset="0"/>
              </a:rPr>
              <a:t> </a:t>
            </a:r>
            <a:r>
              <a:rPr lang="en-US" sz="2400" kern="100" err="1">
                <a:solidFill>
                  <a:schemeClr val="tx1"/>
                </a:solidFill>
                <a:effectLst/>
                <a:latin typeface="Montserrat Black" panose="00000A00000000000000" pitchFamily="2" charset="0"/>
                <a:ea typeface="Calibri" panose="020F0502020204030204" pitchFamily="34" charset="0"/>
                <a:cs typeface="Arial" panose="020B0604020202020204" pitchFamily="34" charset="0"/>
              </a:rPr>
              <a:t>hợp</a:t>
            </a:r>
            <a:r>
              <a:rPr lang="en-US" sz="2400" kern="100">
                <a:solidFill>
                  <a:schemeClr val="tx1"/>
                </a:solidFill>
                <a:effectLst/>
                <a:latin typeface="Montserrat Black" panose="00000A00000000000000" pitchFamily="2" charset="0"/>
                <a:ea typeface="Calibri" panose="020F0502020204030204" pitchFamily="34" charset="0"/>
                <a:cs typeface="Arial" panose="020B0604020202020204" pitchFamily="34" charset="0"/>
              </a:rPr>
              <a:t> </a:t>
            </a:r>
            <a:r>
              <a:rPr lang="en-US" sz="2400" kern="100" err="1">
                <a:solidFill>
                  <a:schemeClr val="tx1"/>
                </a:solidFill>
                <a:effectLst/>
                <a:latin typeface="Montserrat Black" panose="00000A00000000000000" pitchFamily="2" charset="0"/>
                <a:ea typeface="Calibri" panose="020F0502020204030204" pitchFamily="34" charset="0"/>
                <a:cs typeface="Arial" panose="020B0604020202020204" pitchFamily="34" charset="0"/>
              </a:rPr>
              <a:t>với</a:t>
            </a:r>
            <a:r>
              <a:rPr lang="en-US" sz="2400" kern="100">
                <a:solidFill>
                  <a:schemeClr val="tx1"/>
                </a:solidFill>
                <a:effectLst/>
                <a:latin typeface="Montserrat Black" panose="00000A00000000000000" pitchFamily="2" charset="0"/>
                <a:ea typeface="Calibri" panose="020F0502020204030204" pitchFamily="34" charset="0"/>
                <a:cs typeface="Arial" panose="020B0604020202020204" pitchFamily="34" charset="0"/>
              </a:rPr>
              <a:t> </a:t>
            </a:r>
            <a:r>
              <a:rPr lang="en-US" sz="2400" kern="100" err="1">
                <a:solidFill>
                  <a:schemeClr val="tx1"/>
                </a:solidFill>
                <a:effectLst/>
                <a:latin typeface="Montserrat Black" panose="00000A00000000000000" pitchFamily="2" charset="0"/>
                <a:ea typeface="Calibri" panose="020F0502020204030204" pitchFamily="34" charset="0"/>
                <a:cs typeface="Arial" panose="020B0604020202020204" pitchFamily="34" charset="0"/>
              </a:rPr>
              <a:t>dữ</a:t>
            </a:r>
            <a:r>
              <a:rPr lang="en-US" sz="2400" kern="100">
                <a:solidFill>
                  <a:schemeClr val="tx1"/>
                </a:solidFill>
                <a:effectLst/>
                <a:latin typeface="Montserrat Black" panose="00000A00000000000000" pitchFamily="2" charset="0"/>
                <a:ea typeface="Calibri" panose="020F0502020204030204" pitchFamily="34" charset="0"/>
                <a:cs typeface="Arial" panose="020B0604020202020204" pitchFamily="34" charset="0"/>
              </a:rPr>
              <a:t> </a:t>
            </a:r>
            <a:r>
              <a:rPr lang="en-US" sz="2400" kern="100" err="1">
                <a:solidFill>
                  <a:schemeClr val="tx1"/>
                </a:solidFill>
                <a:effectLst/>
                <a:latin typeface="Montserrat Black" panose="00000A00000000000000" pitchFamily="2" charset="0"/>
                <a:ea typeface="Calibri" panose="020F0502020204030204" pitchFamily="34" charset="0"/>
                <a:cs typeface="Arial" panose="020B0604020202020204" pitchFamily="34" charset="0"/>
              </a:rPr>
              <a:t>liệu</a:t>
            </a:r>
            <a:r>
              <a:rPr lang="en-US" sz="2400" kern="100">
                <a:solidFill>
                  <a:schemeClr val="tx1"/>
                </a:solidFill>
                <a:effectLst/>
                <a:latin typeface="Montserrat Black" panose="00000A00000000000000" pitchFamily="2" charset="0"/>
                <a:ea typeface="Calibri" panose="020F0502020204030204" pitchFamily="34" charset="0"/>
                <a:cs typeface="Arial" panose="020B0604020202020204" pitchFamily="34" charset="0"/>
              </a:rPr>
              <a:t> </a:t>
            </a:r>
            <a:r>
              <a:rPr lang="en-US" sz="2400" kern="100" err="1">
                <a:solidFill>
                  <a:schemeClr val="tx1"/>
                </a:solidFill>
                <a:effectLst/>
                <a:latin typeface="Montserrat Black" panose="00000A00000000000000" pitchFamily="2" charset="0"/>
                <a:ea typeface="Calibri" panose="020F0502020204030204" pitchFamily="34" charset="0"/>
                <a:cs typeface="Arial" panose="020B0604020202020204" pitchFamily="34" charset="0"/>
              </a:rPr>
              <a:t>khí</a:t>
            </a:r>
            <a:r>
              <a:rPr lang="en-US" sz="2400" kern="100">
                <a:solidFill>
                  <a:schemeClr val="tx1"/>
                </a:solidFill>
                <a:effectLst/>
                <a:latin typeface="Montserrat Black" panose="00000A00000000000000" pitchFamily="2" charset="0"/>
                <a:ea typeface="Calibri" panose="020F0502020204030204" pitchFamily="34" charset="0"/>
                <a:cs typeface="Arial" panose="020B0604020202020204" pitchFamily="34" charset="0"/>
              </a:rPr>
              <a:t> </a:t>
            </a:r>
            <a:r>
              <a:rPr lang="en-US" sz="2400" kern="100" err="1">
                <a:solidFill>
                  <a:schemeClr val="tx1"/>
                </a:solidFill>
                <a:effectLst/>
                <a:latin typeface="Montserrat Black" panose="00000A00000000000000" pitchFamily="2" charset="0"/>
                <a:ea typeface="Calibri" panose="020F0502020204030204" pitchFamily="34" charset="0"/>
                <a:cs typeface="Arial" panose="020B0604020202020204" pitchFamily="34" charset="0"/>
              </a:rPr>
              <a:t>tượng</a:t>
            </a:r>
            <a:r>
              <a:rPr lang="en-US" sz="2400" kern="100">
                <a:solidFill>
                  <a:schemeClr val="tx1"/>
                </a:solidFill>
                <a:effectLst/>
                <a:latin typeface="Montserrat Black" panose="00000A00000000000000" pitchFamily="2" charset="0"/>
                <a:ea typeface="Calibri" panose="020F0502020204030204" pitchFamily="34" charset="0"/>
                <a:cs typeface="Arial" panose="020B0604020202020204" pitchFamily="34" charset="0"/>
              </a:rPr>
              <a:t> </a:t>
            </a:r>
            <a:r>
              <a:rPr lang="en-US" sz="2400" kern="100" err="1">
                <a:solidFill>
                  <a:schemeClr val="tx1"/>
                </a:solidFill>
                <a:effectLst/>
                <a:latin typeface="Montserrat Black" panose="00000A00000000000000" pitchFamily="2" charset="0"/>
                <a:ea typeface="Calibri" panose="020F0502020204030204" pitchFamily="34" charset="0"/>
                <a:cs typeface="Arial" panose="020B0604020202020204" pitchFamily="34" charset="0"/>
              </a:rPr>
              <a:t>vào</a:t>
            </a:r>
            <a:r>
              <a:rPr lang="en-US" sz="2400" kern="100">
                <a:solidFill>
                  <a:schemeClr val="tx1"/>
                </a:solidFill>
                <a:effectLst/>
                <a:latin typeface="Montserrat Black" panose="00000A00000000000000" pitchFamily="2" charset="0"/>
                <a:ea typeface="Calibri" panose="020F0502020204030204" pitchFamily="34" charset="0"/>
                <a:cs typeface="Arial" panose="020B0604020202020204" pitchFamily="34" charset="0"/>
              </a:rPr>
              <a:t> </a:t>
            </a:r>
            <a:r>
              <a:rPr lang="en-US" sz="2400" kern="100" err="1">
                <a:solidFill>
                  <a:schemeClr val="tx1"/>
                </a:solidFill>
                <a:effectLst/>
                <a:latin typeface="Montserrat Black" panose="00000A00000000000000" pitchFamily="2" charset="0"/>
                <a:ea typeface="Calibri" panose="020F0502020204030204" pitchFamily="34" charset="0"/>
                <a:cs typeface="Arial" panose="020B0604020202020204" pitchFamily="34" charset="0"/>
              </a:rPr>
              <a:t>dự</a:t>
            </a:r>
            <a:r>
              <a:rPr lang="en-US" sz="2400" kern="100">
                <a:solidFill>
                  <a:schemeClr val="tx1"/>
                </a:solidFill>
                <a:effectLst/>
                <a:latin typeface="Montserrat Black" panose="00000A00000000000000" pitchFamily="2" charset="0"/>
                <a:ea typeface="Calibri" panose="020F0502020204030204" pitchFamily="34" charset="0"/>
                <a:cs typeface="Arial" panose="020B0604020202020204" pitchFamily="34" charset="0"/>
              </a:rPr>
              <a:t> </a:t>
            </a:r>
            <a:r>
              <a:rPr lang="en-US" sz="2400" kern="100" err="1">
                <a:solidFill>
                  <a:schemeClr val="tx1"/>
                </a:solidFill>
                <a:effectLst/>
                <a:latin typeface="Montserrat Black" panose="00000A00000000000000" pitchFamily="2" charset="0"/>
                <a:ea typeface="Calibri" panose="020F0502020204030204" pitchFamily="34" charset="0"/>
                <a:cs typeface="Arial" panose="020B0604020202020204" pitchFamily="34" charset="0"/>
              </a:rPr>
              <a:t>đoán</a:t>
            </a:r>
            <a:r>
              <a:rPr lang="en-US" sz="2400" kern="100">
                <a:solidFill>
                  <a:schemeClr val="tx1"/>
                </a:solidFill>
                <a:effectLst/>
                <a:latin typeface="Montserrat Black" panose="00000A00000000000000" pitchFamily="2" charset="0"/>
                <a:ea typeface="Calibri" panose="020F0502020204030204" pitchFamily="34" charset="0"/>
                <a:cs typeface="Arial" panose="020B0604020202020204" pitchFamily="34" charset="0"/>
              </a:rPr>
              <a:t> </a:t>
            </a:r>
            <a:r>
              <a:rPr lang="en-US" sz="2400" kern="100" err="1">
                <a:solidFill>
                  <a:schemeClr val="tx1"/>
                </a:solidFill>
                <a:effectLst/>
                <a:latin typeface="Montserrat Black" panose="00000A00000000000000" pitchFamily="2" charset="0"/>
                <a:ea typeface="Calibri" panose="020F0502020204030204" pitchFamily="34" charset="0"/>
                <a:cs typeface="Arial" panose="020B0604020202020204" pitchFamily="34" charset="0"/>
              </a:rPr>
              <a:t>và</a:t>
            </a:r>
            <a:r>
              <a:rPr lang="en-US" sz="2400" kern="100">
                <a:solidFill>
                  <a:schemeClr val="tx1"/>
                </a:solidFill>
                <a:effectLst/>
                <a:latin typeface="Montserrat Black" panose="00000A00000000000000" pitchFamily="2" charset="0"/>
                <a:ea typeface="Calibri" panose="020F0502020204030204" pitchFamily="34" charset="0"/>
                <a:cs typeface="Arial" panose="020B0604020202020204" pitchFamily="34" charset="0"/>
              </a:rPr>
              <a:t> </a:t>
            </a:r>
            <a:r>
              <a:rPr lang="en-US" sz="2400" kern="100" err="1">
                <a:solidFill>
                  <a:schemeClr val="tx1"/>
                </a:solidFill>
                <a:effectLst/>
                <a:latin typeface="Montserrat Black" panose="00000A00000000000000" pitchFamily="2" charset="0"/>
                <a:ea typeface="Calibri" panose="020F0502020204030204" pitchFamily="34" charset="0"/>
                <a:cs typeface="Arial" panose="020B0604020202020204" pitchFamily="34" charset="0"/>
              </a:rPr>
              <a:t>cảnh</a:t>
            </a:r>
            <a:r>
              <a:rPr lang="en-US" sz="2400" kern="100">
                <a:solidFill>
                  <a:schemeClr val="tx1"/>
                </a:solidFill>
                <a:effectLst/>
                <a:latin typeface="Montserrat Black" panose="00000A00000000000000" pitchFamily="2" charset="0"/>
                <a:ea typeface="Calibri" panose="020F0502020204030204" pitchFamily="34" charset="0"/>
                <a:cs typeface="Arial" panose="020B0604020202020204" pitchFamily="34" charset="0"/>
              </a:rPr>
              <a:t> </a:t>
            </a:r>
            <a:r>
              <a:rPr lang="en-US" sz="2400" kern="100" err="1">
                <a:solidFill>
                  <a:schemeClr val="tx1"/>
                </a:solidFill>
                <a:effectLst/>
                <a:latin typeface="Montserrat Black" panose="00000A00000000000000" pitchFamily="2" charset="0"/>
                <a:ea typeface="Calibri" panose="020F0502020204030204" pitchFamily="34" charset="0"/>
                <a:cs typeface="Arial" panose="020B0604020202020204" pitchFamily="34" charset="0"/>
              </a:rPr>
              <a:t>báo</a:t>
            </a:r>
            <a:r>
              <a:rPr lang="en-US" sz="2400" kern="100">
                <a:solidFill>
                  <a:schemeClr val="tx1"/>
                </a:solidFill>
                <a:effectLst/>
                <a:latin typeface="Montserrat Black" panose="00000A00000000000000" pitchFamily="2" charset="0"/>
                <a:ea typeface="Calibri" panose="020F0502020204030204" pitchFamily="34" charset="0"/>
                <a:cs typeface="Arial" panose="020B0604020202020204" pitchFamily="34" charset="0"/>
              </a:rPr>
              <a:t> </a:t>
            </a:r>
            <a:r>
              <a:rPr lang="en-US" sz="2400" kern="100" err="1">
                <a:solidFill>
                  <a:schemeClr val="tx1"/>
                </a:solidFill>
                <a:effectLst/>
                <a:latin typeface="Montserrat Black" panose="00000A00000000000000" pitchFamily="2" charset="0"/>
                <a:ea typeface="Calibri" panose="020F0502020204030204" pitchFamily="34" charset="0"/>
                <a:cs typeface="Arial" panose="020B0604020202020204" pitchFamily="34" charset="0"/>
              </a:rPr>
              <a:t>cháy</a:t>
            </a:r>
            <a:r>
              <a:rPr lang="en-US" sz="2400" kern="100">
                <a:solidFill>
                  <a:schemeClr val="tx1"/>
                </a:solidFill>
                <a:effectLst/>
                <a:latin typeface="Montserrat Black" panose="00000A00000000000000" pitchFamily="2" charset="0"/>
                <a:ea typeface="Calibri" panose="020F0502020204030204" pitchFamily="34" charset="0"/>
                <a:cs typeface="Arial" panose="020B0604020202020204" pitchFamily="34" charset="0"/>
              </a:rPr>
              <a:t> </a:t>
            </a:r>
            <a:r>
              <a:rPr lang="en-US" sz="2400" kern="100" err="1">
                <a:solidFill>
                  <a:schemeClr val="tx1"/>
                </a:solidFill>
                <a:effectLst/>
                <a:latin typeface="Montserrat Black" panose="00000A00000000000000" pitchFamily="2" charset="0"/>
                <a:ea typeface="Calibri" panose="020F0502020204030204" pitchFamily="34" charset="0"/>
                <a:cs typeface="Arial" panose="020B0604020202020204" pitchFamily="34" charset="0"/>
              </a:rPr>
              <a:t>rừng</a:t>
            </a:r>
            <a:r>
              <a:rPr lang="en-US" sz="2400" kern="100">
                <a:solidFill>
                  <a:schemeClr val="tx1"/>
                </a:solidFill>
                <a:effectLst/>
                <a:latin typeface="Montserrat Black" panose="00000A00000000000000" pitchFamily="2" charset="0"/>
                <a:ea typeface="Calibri" panose="020F0502020204030204" pitchFamily="34" charset="0"/>
                <a:cs typeface="Arial" panose="020B0604020202020204" pitchFamily="34" charset="0"/>
              </a:rPr>
              <a:t> </a:t>
            </a:r>
            <a:r>
              <a:rPr lang="en-US" sz="2400" kern="100" err="1">
                <a:solidFill>
                  <a:schemeClr val="tx1"/>
                </a:solidFill>
                <a:effectLst/>
                <a:latin typeface="Montserrat Black" panose="00000A00000000000000" pitchFamily="2" charset="0"/>
                <a:ea typeface="Calibri" panose="020F0502020204030204" pitchFamily="34" charset="0"/>
                <a:cs typeface="Arial" panose="020B0604020202020204" pitchFamily="34" charset="0"/>
              </a:rPr>
              <a:t>tại</a:t>
            </a:r>
            <a:r>
              <a:rPr lang="en-US" sz="2400" kern="100">
                <a:solidFill>
                  <a:schemeClr val="tx1"/>
                </a:solidFill>
                <a:effectLst/>
                <a:latin typeface="Montserrat Black" panose="00000A00000000000000" pitchFamily="2" charset="0"/>
                <a:ea typeface="Calibri" panose="020F0502020204030204" pitchFamily="34" charset="0"/>
                <a:cs typeface="Arial" panose="020B0604020202020204" pitchFamily="34" charset="0"/>
              </a:rPr>
              <a:t> Việt Nam</a:t>
            </a:r>
          </a:p>
        </p:txBody>
      </p:sp>
      <p:pic>
        <p:nvPicPr>
          <p:cNvPr id="6" name="Picture 5">
            <a:extLst>
              <a:ext uri="{FF2B5EF4-FFF2-40B4-BE49-F238E27FC236}">
                <a16:creationId xmlns:a16="http://schemas.microsoft.com/office/drawing/2014/main" id="{B4F629C2-8F05-46B0-853B-F096B5B31289}"/>
              </a:ext>
            </a:extLst>
          </p:cNvPr>
          <p:cNvPicPr>
            <a:picLocks noChangeAspect="1"/>
          </p:cNvPicPr>
          <p:nvPr/>
        </p:nvPicPr>
        <p:blipFill>
          <a:blip r:embed="rId2"/>
          <a:stretch>
            <a:fillRect/>
          </a:stretch>
        </p:blipFill>
        <p:spPr>
          <a:xfrm>
            <a:off x="83256" y="0"/>
            <a:ext cx="748594" cy="869244"/>
          </a:xfrm>
          <a:prstGeom prst="rect">
            <a:avLst/>
          </a:prstGeom>
        </p:spPr>
      </p:pic>
    </p:spTree>
    <p:extLst>
      <p:ext uri="{BB962C8B-B14F-4D97-AF65-F5344CB8AC3E}">
        <p14:creationId xmlns:p14="http://schemas.microsoft.com/office/powerpoint/2010/main" val="3575181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27485-88C9-0D9F-C085-144756937C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AC7867-B426-FACE-8FFD-D42E9DE22925}"/>
              </a:ext>
            </a:extLst>
          </p:cNvPr>
          <p:cNvSpPr>
            <a:spLocks noGrp="1"/>
          </p:cNvSpPr>
          <p:nvPr>
            <p:ph type="title"/>
          </p:nvPr>
        </p:nvSpPr>
        <p:spPr>
          <a:xfrm>
            <a:off x="383175" y="835118"/>
            <a:ext cx="11123024" cy="554902"/>
          </a:xfrm>
        </p:spPr>
        <p:txBody>
          <a:bodyPr>
            <a:normAutofit/>
          </a:bodyPr>
          <a:lstStyle/>
          <a:p>
            <a:r>
              <a:rPr lang="en-US"/>
              <a:t>1. Lý do </a:t>
            </a:r>
            <a:r>
              <a:rPr lang="en-US" err="1"/>
              <a:t>chọn</a:t>
            </a:r>
            <a:r>
              <a:rPr lang="en-US"/>
              <a:t> </a:t>
            </a:r>
            <a:r>
              <a:rPr lang="en-US" err="1"/>
              <a:t>đề</a:t>
            </a:r>
            <a:r>
              <a:rPr lang="en-US"/>
              <a:t> </a:t>
            </a:r>
            <a:r>
              <a:rPr lang="en-US" err="1"/>
              <a:t>tài</a:t>
            </a:r>
            <a:endParaRPr lang="en-US" sz="2800">
              <a:latin typeface="Montserrat Black" panose="00000A00000000000000" pitchFamily="50" charset="0"/>
            </a:endParaRPr>
          </a:p>
        </p:txBody>
      </p:sp>
      <p:sp>
        <p:nvSpPr>
          <p:cNvPr id="4" name="TextBox 3">
            <a:extLst>
              <a:ext uri="{FF2B5EF4-FFF2-40B4-BE49-F238E27FC236}">
                <a16:creationId xmlns:a16="http://schemas.microsoft.com/office/drawing/2014/main" id="{F61A260B-C29F-D75A-4956-39554B65C504}"/>
              </a:ext>
            </a:extLst>
          </p:cNvPr>
          <p:cNvSpPr txBox="1"/>
          <p:nvPr/>
        </p:nvSpPr>
        <p:spPr>
          <a:xfrm>
            <a:off x="469873" y="3429000"/>
            <a:ext cx="10665229" cy="2540888"/>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vi-VN">
                <a:latin typeface="+mj-lt"/>
                <a:ea typeface="Roboto" panose="02000000000000000000" pitchFamily="2" charset="0"/>
                <a:cs typeface="Roboto" panose="02000000000000000000" pitchFamily="2" charset="0"/>
              </a:rPr>
              <a:t>Hệ thống giám sát hiện nay, dựa trên ảnh vệ tinh MODIS, VIIRS và bản đồ cảnh báo cấp cháy rừng, còn hạn chế về độ chi tiết và cập nhật theo thời gian thực. Phát hiện cháy vẫn chủ yếu dựa vào phương pháp thủ công, trong khi công nghệ như UAV, camera AI hay xử lý hình ảnh mới chỉ triển khai thí điểm và quy mô nhỏ.</a:t>
            </a:r>
            <a:endParaRPr lang="en-US">
              <a:latin typeface="+mj-lt"/>
              <a:ea typeface="Roboto" panose="02000000000000000000" pitchFamily="2" charset="0"/>
              <a:cs typeface="Roboto" panose="02000000000000000000" pitchFamily="2" charset="0"/>
            </a:endParaRPr>
          </a:p>
          <a:p>
            <a:pPr marL="285750" indent="-285750" algn="just">
              <a:lnSpc>
                <a:spcPct val="150000"/>
              </a:lnSpc>
              <a:buFont typeface="Arial" panose="020B0604020202020204" pitchFamily="34" charset="0"/>
              <a:buChar char="•"/>
            </a:pPr>
            <a:r>
              <a:rPr lang="vi-VN">
                <a:latin typeface="+mj-lt"/>
                <a:ea typeface="Roboto" panose="02000000000000000000" pitchFamily="2" charset="0"/>
                <a:cs typeface="Roboto" panose="02000000000000000000" pitchFamily="2" charset="0"/>
              </a:rPr>
              <a:t>Sự phát triển của trí tuệ nhân tạo, đặc biệt là các mô hình học sâu cho ảnh vệ tinh và mô hình chuỗi thời gian cho dữ liệu khí tượng, mở ra khả năng xây dựng một hệ thống cảnh báo cháy rừng chính xác và phù hợp hơn với điều kiện Việt Nam.</a:t>
            </a:r>
            <a:endParaRPr lang="en-US">
              <a:latin typeface="+mj-lt"/>
              <a:ea typeface="Roboto" panose="02000000000000000000" pitchFamily="2" charset="0"/>
              <a:cs typeface="Roboto" panose="02000000000000000000" pitchFamily="2" charset="0"/>
            </a:endParaRPr>
          </a:p>
        </p:txBody>
      </p:sp>
      <p:sp>
        <p:nvSpPr>
          <p:cNvPr id="6" name="TextBox 5">
            <a:extLst>
              <a:ext uri="{FF2B5EF4-FFF2-40B4-BE49-F238E27FC236}">
                <a16:creationId xmlns:a16="http://schemas.microsoft.com/office/drawing/2014/main" id="{D0083E1B-074A-018E-F675-CDF55AA7D56E}"/>
              </a:ext>
            </a:extLst>
          </p:cNvPr>
          <p:cNvSpPr txBox="1"/>
          <p:nvPr/>
        </p:nvSpPr>
        <p:spPr>
          <a:xfrm>
            <a:off x="469874" y="1390020"/>
            <a:ext cx="7373228" cy="2125390"/>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vi-VN">
                <a:latin typeface="+mj-lt"/>
              </a:rPr>
              <a:t>Trong những năm gần đây, cháy rừng tại Việt Nam có xu hướng gia tăng</a:t>
            </a:r>
            <a:r>
              <a:rPr lang="en-US">
                <a:latin typeface="+mj-lt"/>
              </a:rPr>
              <a:t>, </a:t>
            </a:r>
            <a:r>
              <a:rPr lang="en-US">
                <a:latin typeface="Times New Roman" panose="02020603050405020304" pitchFamily="18" charset="0"/>
                <a:cs typeface="Times New Roman" panose="02020603050405020304" pitchFamily="18" charset="0"/>
              </a:rPr>
              <a:t>tập trung ở Tây Nguyên, Bắc – Nam Trung Bộ và các tỉnh miền núi phía Bắc, đặc biệt trong các đợt nắng nóng kéo dài</a:t>
            </a:r>
            <a:r>
              <a:rPr lang="vi-VN">
                <a:latin typeface="+mj-lt"/>
              </a:rPr>
              <a:t> và diễn biến ngày càng phức tạp do đặc điểm địa hình đồi núi, thảm thực vật dễ bắt lửa và tác động của biến đổi khí hậu.</a:t>
            </a:r>
            <a:endParaRPr lang="en-US">
              <a:latin typeface="+mj-lt"/>
            </a:endParaRPr>
          </a:p>
        </p:txBody>
      </p:sp>
      <p:pic>
        <p:nvPicPr>
          <p:cNvPr id="9218" name="Picture 2" descr="Wildfire - Free nature icons">
            <a:extLst>
              <a:ext uri="{FF2B5EF4-FFF2-40B4-BE49-F238E27FC236}">
                <a16:creationId xmlns:a16="http://schemas.microsoft.com/office/drawing/2014/main" id="{00E992F2-EDA8-67B9-9D58-9838DAC89E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8657" y="835118"/>
            <a:ext cx="2540889" cy="2540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0190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AA4E1-9635-6146-5535-A3DEF01E4A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F1D7E4-6A77-5FD1-DE0E-FECD4EEFD999}"/>
              </a:ext>
            </a:extLst>
          </p:cNvPr>
          <p:cNvSpPr>
            <a:spLocks noGrp="1"/>
          </p:cNvSpPr>
          <p:nvPr>
            <p:ph type="title"/>
          </p:nvPr>
        </p:nvSpPr>
        <p:spPr>
          <a:xfrm>
            <a:off x="383175" y="835118"/>
            <a:ext cx="11123024" cy="554902"/>
          </a:xfrm>
        </p:spPr>
        <p:txBody>
          <a:bodyPr>
            <a:normAutofit/>
          </a:bodyPr>
          <a:lstStyle/>
          <a:p>
            <a:r>
              <a:rPr lang="en-US"/>
              <a:t>2. Mục </a:t>
            </a:r>
            <a:r>
              <a:rPr lang="en-US" err="1"/>
              <a:t>tiêu</a:t>
            </a:r>
            <a:r>
              <a:rPr lang="en-US" sz="2800">
                <a:latin typeface="Montserrat Black" panose="00000A00000000000000" pitchFamily="50" charset="0"/>
              </a:rPr>
              <a:t> </a:t>
            </a:r>
            <a:r>
              <a:rPr lang="en-US" sz="2800" err="1">
                <a:latin typeface="Montserrat Black" panose="00000A00000000000000" pitchFamily="50" charset="0"/>
              </a:rPr>
              <a:t>nghiên</a:t>
            </a:r>
            <a:r>
              <a:rPr lang="en-US" sz="2800">
                <a:latin typeface="Montserrat Black" panose="00000A00000000000000" pitchFamily="50" charset="0"/>
              </a:rPr>
              <a:t> </a:t>
            </a:r>
            <a:r>
              <a:rPr lang="en-US" sz="2800" err="1">
                <a:latin typeface="Montserrat Black" panose="00000A00000000000000" pitchFamily="50" charset="0"/>
              </a:rPr>
              <a:t>cứu</a:t>
            </a:r>
            <a:endParaRPr lang="en-US" sz="2800">
              <a:latin typeface="Montserrat Black" panose="00000A00000000000000" pitchFamily="50" charset="0"/>
            </a:endParaRPr>
          </a:p>
        </p:txBody>
      </p:sp>
      <p:sp>
        <p:nvSpPr>
          <p:cNvPr id="4" name="TextBox 3">
            <a:extLst>
              <a:ext uri="{FF2B5EF4-FFF2-40B4-BE49-F238E27FC236}">
                <a16:creationId xmlns:a16="http://schemas.microsoft.com/office/drawing/2014/main" id="{9FF0BDFC-EC93-4BD0-AA38-6847D7C93FFA}"/>
              </a:ext>
            </a:extLst>
          </p:cNvPr>
          <p:cNvSpPr txBox="1"/>
          <p:nvPr/>
        </p:nvSpPr>
        <p:spPr>
          <a:xfrm>
            <a:off x="507076" y="1629295"/>
            <a:ext cx="10665229" cy="212006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X</a:t>
            </a:r>
            <a:r>
              <a:rPr lang="vi-VN">
                <a:latin typeface="Times New Roman" panose="02020603050405020304" pitchFamily="18" charset="0"/>
                <a:cs typeface="Times New Roman" panose="02020603050405020304" pitchFamily="18" charset="0"/>
              </a:rPr>
              <a:t>ây dựng hệ thống </a:t>
            </a:r>
            <a:r>
              <a:rPr lang="en-US">
                <a:latin typeface="Times New Roman" panose="02020603050405020304" pitchFamily="18" charset="0"/>
                <a:cs typeface="Times New Roman" panose="02020603050405020304" pitchFamily="18" charset="0"/>
              </a:rPr>
              <a:t>dự báo, cảnh báo</a:t>
            </a:r>
            <a:r>
              <a:rPr lang="vi-VN">
                <a:latin typeface="Times New Roman" panose="02020603050405020304" pitchFamily="18" charset="0"/>
                <a:cs typeface="Times New Roman" panose="02020603050405020304" pitchFamily="18" charset="0"/>
              </a:rPr>
              <a:t> nguy cơ</a:t>
            </a:r>
            <a:r>
              <a:rPr lang="en-US">
                <a:latin typeface="Times New Roman" panose="02020603050405020304" pitchFamily="18" charset="0"/>
                <a:cs typeface="Times New Roman" panose="02020603050405020304" pitchFamily="18" charset="0"/>
              </a:rPr>
              <a:t> cháy rừng</a:t>
            </a:r>
            <a:r>
              <a:rPr lang="vi-VN">
                <a:latin typeface="Times New Roman" panose="02020603050405020304" pitchFamily="18" charset="0"/>
                <a:cs typeface="Times New Roman" panose="02020603050405020304" pitchFamily="18" charset="0"/>
              </a:rPr>
              <a:t> dựa trên dữ liệu khí tượng, thảm thực vật và địa hình </a:t>
            </a:r>
            <a:r>
              <a:rPr lang="en-US">
                <a:latin typeface="Times New Roman" panose="02020603050405020304" pitchFamily="18" charset="0"/>
                <a:cs typeface="Times New Roman" panose="02020603050405020304" pitchFamily="18" charset="0"/>
              </a:rPr>
              <a:t>kết hợp</a:t>
            </a:r>
            <a:r>
              <a:rPr lang="vi-VN">
                <a:latin typeface="Times New Roman" panose="02020603050405020304" pitchFamily="18" charset="0"/>
                <a:cs typeface="Times New Roman" panose="02020603050405020304" pitchFamily="18" charset="0"/>
              </a:rPr>
              <a:t> phát hiện đám cháy từ ảnh vệ tinh</a:t>
            </a:r>
            <a:r>
              <a:rPr lang="en-US">
                <a:latin typeface="Times New Roman" panose="02020603050405020304" pitchFamily="18" charset="0"/>
                <a:cs typeface="Times New Roman" panose="02020603050405020304" pitchFamily="18" charset="0"/>
              </a:rPr>
              <a:t>, áp dụng </a:t>
            </a:r>
            <a:r>
              <a:rPr lang="vi-VN">
                <a:latin typeface="Times New Roman" panose="02020603050405020304" pitchFamily="18" charset="0"/>
                <a:cs typeface="Times New Roman" panose="02020603050405020304" pitchFamily="18" charset="0"/>
              </a:rPr>
              <a:t>các phương pháp học máy và học sâu</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vào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các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công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đoạn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dự</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đoán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nguy</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cơ</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cháy</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nhận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diện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đám</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cháy</a:t>
            </a:r>
            <a:r>
              <a:rPr lang="en-US">
                <a:latin typeface="Times New Roman" panose="02020603050405020304" pitchFamily="18" charset="0"/>
                <a:cs typeface="Times New Roman" panose="02020603050405020304" pitchFamily="18" charset="0"/>
              </a:rPr>
              <a:t>.</a:t>
            </a:r>
            <a:endParaRPr lang="en-US">
              <a:solidFill>
                <a:srgbClr val="FF0000"/>
              </a:solidFill>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T</a:t>
            </a:r>
            <a:r>
              <a:rPr lang="vi-VN">
                <a:latin typeface="Times New Roman" panose="02020603050405020304" pitchFamily="18" charset="0"/>
                <a:cs typeface="Times New Roman" panose="02020603050405020304" pitchFamily="18" charset="0"/>
              </a:rPr>
              <a:t>riển khai dưới dạng bản đồ web cảnh báo sớm, hỗ trợ giám sát, cảnh báo và ứng phó cháy rừng kịp thời, phù hợp với điều kiện khí hậu và địa hình Việt Nam.</a:t>
            </a:r>
            <a:r>
              <a:rPr lang="en-US">
                <a:latin typeface="Times New Roman" panose="02020603050405020304" pitchFamily="18" charset="0"/>
                <a:cs typeface="Times New Roman" panose="02020603050405020304" pitchFamily="18" charset="0"/>
              </a:rPr>
              <a:t> </a:t>
            </a:r>
            <a:endParaRPr lang="en-US">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8851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B8589-F3E8-A934-B2AB-AB61B3E473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2289E0-DBC4-5DFB-EEA5-64FB844824D0}"/>
              </a:ext>
            </a:extLst>
          </p:cNvPr>
          <p:cNvSpPr>
            <a:spLocks noGrp="1"/>
          </p:cNvSpPr>
          <p:nvPr>
            <p:ph type="title"/>
          </p:nvPr>
        </p:nvSpPr>
        <p:spPr>
          <a:xfrm>
            <a:off x="383175" y="835118"/>
            <a:ext cx="11123024" cy="554902"/>
          </a:xfrm>
        </p:spPr>
        <p:txBody>
          <a:bodyPr>
            <a:normAutofit/>
          </a:bodyPr>
          <a:lstStyle/>
          <a:p>
            <a:r>
              <a:rPr lang="en-US" sz="2800">
                <a:latin typeface="Montserrat Black" panose="00000A00000000000000" pitchFamily="50" charset="0"/>
              </a:rPr>
              <a:t>3. Đố</a:t>
            </a:r>
            <a:r>
              <a:rPr lang="en-US"/>
              <a:t>i tượng và phạm vi nghiên cứu</a:t>
            </a:r>
            <a:endParaRPr lang="en-US" sz="2800">
              <a:latin typeface="Montserrat Black" panose="00000A00000000000000" pitchFamily="50" charset="0"/>
            </a:endParaRPr>
          </a:p>
        </p:txBody>
      </p:sp>
      <p:sp>
        <p:nvSpPr>
          <p:cNvPr id="3" name="Title 1">
            <a:extLst>
              <a:ext uri="{FF2B5EF4-FFF2-40B4-BE49-F238E27FC236}">
                <a16:creationId xmlns:a16="http://schemas.microsoft.com/office/drawing/2014/main" id="{C7A6160F-01EE-71D0-585F-A96876B87B6B}"/>
              </a:ext>
            </a:extLst>
          </p:cNvPr>
          <p:cNvSpPr txBox="1">
            <a:spLocks/>
          </p:cNvSpPr>
          <p:nvPr/>
        </p:nvSpPr>
        <p:spPr>
          <a:xfrm>
            <a:off x="383175" y="1513907"/>
            <a:ext cx="10857480" cy="36697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kern="1200">
                <a:solidFill>
                  <a:srgbClr val="C00000"/>
                </a:solidFill>
                <a:latin typeface="Montserrat Black" panose="00000A00000000000000" pitchFamily="50" charset="0"/>
                <a:ea typeface="+mj-ea"/>
                <a:cs typeface="+mj-cs"/>
              </a:defRPr>
            </a:lvl1pPr>
          </a:lstStyle>
          <a:p>
            <a:endParaRPr lang="en-US" sz="1800">
              <a:solidFill>
                <a:schemeClr val="tx1"/>
              </a:solidFill>
              <a:latin typeface="Arial" panose="020B0604020202020204" pitchFamily="34" charset="0"/>
              <a:cs typeface="Arial" panose="020B0604020202020204" pitchFamily="34" charset="0"/>
            </a:endParaRPr>
          </a:p>
          <a:p>
            <a:endParaRPr lang="en-US" sz="1800" b="0">
              <a:solidFill>
                <a:schemeClr val="tx1"/>
              </a:solidFill>
              <a:latin typeface="Arial" panose="020B0604020202020204" pitchFamily="34" charset="0"/>
              <a:cs typeface="Arial" panose="020B0604020202020204" pitchFamily="34" charset="0"/>
            </a:endParaRPr>
          </a:p>
          <a:p>
            <a:endParaRPr lang="vi-VN" sz="1800" b="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9C64BF42-EB4B-442A-BAFA-52AD265559D2}"/>
              </a:ext>
            </a:extLst>
          </p:cNvPr>
          <p:cNvSpPr txBox="1"/>
          <p:nvPr/>
        </p:nvSpPr>
        <p:spPr>
          <a:xfrm>
            <a:off x="507076" y="1629295"/>
            <a:ext cx="10665229" cy="295106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err="1">
                <a:latin typeface="Times New Roman" panose="02020603050405020304" pitchFamily="18" charset="0"/>
                <a:cs typeface="Times New Roman" panose="02020603050405020304" pitchFamily="18" charset="0"/>
              </a:rPr>
              <a:t>Đối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tượng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dữ</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liệu</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hình</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ảnh</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dữ</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liệu</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thời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tiết</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chuỗi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thời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gian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và</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các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mô</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hình</a:t>
            </a:r>
            <a:r>
              <a:rPr lang="en-US">
                <a:latin typeface="Times New Roman" panose="02020603050405020304" pitchFamily="18" charset="0"/>
                <a:cs typeface="Times New Roman" panose="02020603050405020304" pitchFamily="18" charset="0"/>
              </a:rPr>
              <a:t> AI, </a:t>
            </a:r>
            <a:r>
              <a:rPr lang="en-US" err="1">
                <a:latin typeface="Times New Roman" panose="02020603050405020304" pitchFamily="18" charset="0"/>
                <a:cs typeface="Times New Roman" panose="02020603050405020304" pitchFamily="18" charset="0"/>
              </a:rPr>
              <a:t>học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máy</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phục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vụ</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dự</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báo</a:t>
            </a:r>
            <a:r>
              <a:rPr lang="en-US">
                <a:latin typeface="Times New Roman" panose="02020603050405020304" pitchFamily="18" charset="0"/>
                <a:cs typeface="Times New Roman" panose="02020603050405020304" pitchFamily="18" charset="0"/>
              </a:rPr>
              <a:t>.</a:t>
            </a:r>
          </a:p>
          <a:p>
            <a:pPr marL="285750" indent="-285750">
              <a:lnSpc>
                <a:spcPct val="150000"/>
              </a:lnSpc>
              <a:buFont typeface="Arial" panose="020B0604020202020204" pitchFamily="34" charset="0"/>
              <a:buChar char="•"/>
            </a:pPr>
            <a:r>
              <a:rPr lang="vi-VN">
                <a:latin typeface="Times New Roman" panose="02020603050405020304" pitchFamily="18" charset="0"/>
                <a:cs typeface="Times New Roman" panose="02020603050405020304" pitchFamily="18" charset="0"/>
              </a:rPr>
              <a:t>Phạm vi nghiên cứu</a:t>
            </a:r>
            <a:r>
              <a:rPr lang="en-US">
                <a:latin typeface="Times New Roman" panose="02020603050405020304" pitchFamily="18" charset="0"/>
                <a:cs typeface="Times New Roman" panose="02020603050405020304" pitchFamily="18" charset="0"/>
              </a:rPr>
              <a:t>:</a:t>
            </a:r>
            <a:r>
              <a:rPr lang="vi-VN">
                <a:latin typeface="Times New Roman" panose="02020603050405020304" pitchFamily="18" charset="0"/>
                <a:cs typeface="Times New Roman" panose="02020603050405020304" pitchFamily="18" charset="0"/>
              </a:rPr>
              <a:t> </a:t>
            </a:r>
            <a:endParaRPr lang="en-US">
              <a:latin typeface="Times New Roman" panose="02020603050405020304" pitchFamily="18" charset="0"/>
              <a:cs typeface="Times New Roman" panose="02020603050405020304" pitchFamily="18" charset="0"/>
            </a:endParaRPr>
          </a:p>
          <a:p>
            <a:pPr marL="742950" lvl="1" indent="-285750">
              <a:lnSpc>
                <a:spcPct val="150000"/>
              </a:lnSpc>
              <a:buFont typeface="Wingdings" panose="05000000000000000000" pitchFamily="2" charset="2"/>
              <a:buChar char="§"/>
            </a:pPr>
            <a:r>
              <a:rPr lang="en-US">
                <a:latin typeface="Times New Roman" panose="02020603050405020304" pitchFamily="18" charset="0"/>
                <a:cs typeface="Times New Roman" panose="02020603050405020304" pitchFamily="18" charset="0"/>
              </a:rPr>
              <a:t>X</a:t>
            </a:r>
            <a:r>
              <a:rPr lang="vi-VN">
                <a:latin typeface="Times New Roman" panose="02020603050405020304" pitchFamily="18" charset="0"/>
                <a:cs typeface="Times New Roman" panose="02020603050405020304" pitchFamily="18" charset="0"/>
              </a:rPr>
              <a:t>ây dựng hệ thống cảnh báo cháy rừng </a:t>
            </a:r>
            <a:r>
              <a:rPr lang="en-US" err="1">
                <a:latin typeface="Times New Roman" panose="02020603050405020304" pitchFamily="18" charset="0"/>
                <a:cs typeface="Times New Roman" panose="02020603050405020304" pitchFamily="18" charset="0"/>
              </a:rPr>
              <a:t>tại</a:t>
            </a:r>
            <a:r>
              <a:rPr lang="vi-VN">
                <a:latin typeface="Times New Roman" panose="02020603050405020304" pitchFamily="18" charset="0"/>
                <a:cs typeface="Times New Roman" panose="02020603050405020304" pitchFamily="18" charset="0"/>
              </a:rPr>
              <a:t> Việt Nam, có đặc điểm khí hậu nhiệt đới gió mùa và địa hình rừng đa dạng</a:t>
            </a:r>
            <a:r>
              <a:rPr lang="en-US">
                <a:latin typeface="Times New Roman" panose="02020603050405020304" pitchFamily="18" charset="0"/>
                <a:cs typeface="Times New Roman" panose="02020603050405020304" pitchFamily="18" charset="0"/>
              </a:rPr>
              <a:t>.</a:t>
            </a:r>
          </a:p>
          <a:p>
            <a:pPr marL="742950" lvl="1" indent="-285750">
              <a:lnSpc>
                <a:spcPct val="150000"/>
              </a:lnSpc>
              <a:buFont typeface="Wingdings" panose="05000000000000000000" pitchFamily="2" charset="2"/>
              <a:buChar char="§"/>
            </a:pPr>
            <a:r>
              <a:rPr lang="vi-VN">
                <a:latin typeface="Times New Roman" panose="02020603050405020304" pitchFamily="18" charset="0"/>
                <a:cs typeface="Times New Roman" panose="02020603050405020304" pitchFamily="18" charset="0"/>
              </a:rPr>
              <a:t>Nghiên cứu tập trung vào việc phát triển mô hình thử nghiệm và nguyên mẫu hệ thống cảnh báo, chưa triển khai trên toàn quốc, nhưng đảm bảo đủ dữ liệu và điều kiện mô phỏng thực tiễn để đánh giá hiệu quả mô hình.</a:t>
            </a: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5107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FD577-53CD-1990-F6C4-E2994C9E33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7F0AB6-37C5-EF17-0BB5-A72113730A5E}"/>
              </a:ext>
            </a:extLst>
          </p:cNvPr>
          <p:cNvSpPr>
            <a:spLocks noGrp="1"/>
          </p:cNvSpPr>
          <p:nvPr>
            <p:ph type="title"/>
          </p:nvPr>
        </p:nvSpPr>
        <p:spPr>
          <a:xfrm>
            <a:off x="383175" y="835118"/>
            <a:ext cx="11123024" cy="554902"/>
          </a:xfrm>
        </p:spPr>
        <p:txBody>
          <a:bodyPr>
            <a:normAutofit/>
          </a:bodyPr>
          <a:lstStyle/>
          <a:p>
            <a:r>
              <a:rPr lang="en-US" sz="2800">
                <a:latin typeface="Montserrat Black" panose="00000A00000000000000" pitchFamily="50" charset="0"/>
              </a:rPr>
              <a:t>4. Cơ sở lý thuyết</a:t>
            </a:r>
          </a:p>
        </p:txBody>
      </p:sp>
      <p:sp>
        <p:nvSpPr>
          <p:cNvPr id="3" name="Title 1">
            <a:extLst>
              <a:ext uri="{FF2B5EF4-FFF2-40B4-BE49-F238E27FC236}">
                <a16:creationId xmlns:a16="http://schemas.microsoft.com/office/drawing/2014/main" id="{D77D0BE7-5662-072D-AA76-3BC8FA3FBB31}"/>
              </a:ext>
            </a:extLst>
          </p:cNvPr>
          <p:cNvSpPr txBox="1">
            <a:spLocks/>
          </p:cNvSpPr>
          <p:nvPr/>
        </p:nvSpPr>
        <p:spPr>
          <a:xfrm>
            <a:off x="383175" y="1513907"/>
            <a:ext cx="10857480" cy="36697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kern="1200">
                <a:solidFill>
                  <a:srgbClr val="C00000"/>
                </a:solidFill>
                <a:latin typeface="Montserrat Black" panose="00000A00000000000000" pitchFamily="50" charset="0"/>
                <a:ea typeface="+mj-ea"/>
                <a:cs typeface="+mj-cs"/>
              </a:defRPr>
            </a:lvl1pPr>
          </a:lstStyle>
          <a:p>
            <a:endParaRPr lang="en-US" sz="1800">
              <a:solidFill>
                <a:schemeClr val="tx1"/>
              </a:solidFill>
              <a:latin typeface="Arial" panose="020B0604020202020204" pitchFamily="34" charset="0"/>
              <a:cs typeface="Arial" panose="020B0604020202020204" pitchFamily="34" charset="0"/>
            </a:endParaRPr>
          </a:p>
          <a:p>
            <a:endParaRPr lang="en-US" sz="1800" b="0">
              <a:solidFill>
                <a:schemeClr val="tx1"/>
              </a:solidFill>
              <a:latin typeface="Arial" panose="020B0604020202020204" pitchFamily="34" charset="0"/>
              <a:cs typeface="Arial" panose="020B0604020202020204" pitchFamily="34" charset="0"/>
            </a:endParaRPr>
          </a:p>
          <a:p>
            <a:endParaRPr lang="vi-VN" sz="1800" b="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F2453951-E9BA-4778-5EED-0E875294D7F6}"/>
              </a:ext>
            </a:extLst>
          </p:cNvPr>
          <p:cNvSpPr txBox="1"/>
          <p:nvPr/>
        </p:nvSpPr>
        <p:spPr>
          <a:xfrm>
            <a:off x="507076" y="1629295"/>
            <a:ext cx="10665229" cy="4613058"/>
          </a:xfrm>
          <a:prstGeom prst="rect">
            <a:avLst/>
          </a:prstGeom>
          <a:noFill/>
        </p:spPr>
        <p:txBody>
          <a:bodyPr wrap="square" rtlCol="0">
            <a:spAutoFit/>
          </a:bodyPr>
          <a:lstStyle/>
          <a:p>
            <a:pPr>
              <a:lnSpc>
                <a:spcPct val="150000"/>
              </a:lnSpc>
            </a:pPr>
            <a:r>
              <a:rPr lang="en-US" b="1">
                <a:latin typeface="Times New Roman" panose="02020603050405020304" pitchFamily="18" charset="0"/>
                <a:cs typeface="Times New Roman" panose="02020603050405020304" pitchFamily="18" charset="0"/>
              </a:rPr>
              <a:t>Các học thuyết liên quan:</a:t>
            </a:r>
          </a:p>
          <a:p>
            <a:pPr marL="285750" indent="-285750">
              <a:lnSpc>
                <a:spcPct val="150000"/>
              </a:lnSpc>
              <a:buFont typeface="Arial" panose="020B0604020202020204" pitchFamily="34" charset="0"/>
              <a:buChar char="•"/>
            </a:pPr>
            <a:r>
              <a:rPr lang="vi-VN" b="1">
                <a:latin typeface="Times New Roman" panose="02020603050405020304" pitchFamily="18" charset="0"/>
                <a:cs typeface="Times New Roman" panose="02020603050405020304" pitchFamily="18" charset="0"/>
              </a:rPr>
              <a:t>Học thuyết nguy cơ cháy rừng (Wildfire Risk Theory)</a:t>
            </a:r>
            <a:r>
              <a:rPr lang="en-US">
                <a:latin typeface="Times New Roman" panose="02020603050405020304" pitchFamily="18" charset="0"/>
                <a:cs typeface="Times New Roman" panose="02020603050405020304" pitchFamily="18" charset="0"/>
              </a:rPr>
              <a:t>:</a:t>
            </a:r>
            <a:r>
              <a:rPr lang="vi-VN">
                <a:latin typeface="Times New Roman" panose="02020603050405020304" pitchFamily="18" charset="0"/>
                <a:cs typeface="Times New Roman" panose="02020603050405020304" pitchFamily="18" charset="0"/>
              </a:rPr>
              <a:t> xác suất cháy phụ thuộc vào ba nhóm yếu tố: khí tượng, nhiên liệu và địa hình, đồng thời có tính chuỗi thời gian.</a:t>
            </a:r>
          </a:p>
          <a:p>
            <a:pPr marL="285750" indent="-285750">
              <a:lnSpc>
                <a:spcPct val="150000"/>
              </a:lnSpc>
              <a:buFont typeface="Arial" panose="020B0604020202020204" pitchFamily="34" charset="0"/>
              <a:buChar char="•"/>
            </a:pPr>
            <a:r>
              <a:rPr lang="vi-VN" b="1">
                <a:latin typeface="Times New Roman" panose="02020603050405020304" pitchFamily="18" charset="0"/>
                <a:cs typeface="Times New Roman" panose="02020603050405020304" pitchFamily="18" charset="0"/>
              </a:rPr>
              <a:t>Giả thuyết không gian–thời gian</a:t>
            </a:r>
            <a:r>
              <a:rPr lang="en-US" b="1">
                <a:latin typeface="Times New Roman" panose="02020603050405020304" pitchFamily="18" charset="0"/>
                <a:cs typeface="Times New Roman" panose="02020603050405020304" pitchFamily="18" charset="0"/>
              </a:rPr>
              <a:t>: </a:t>
            </a:r>
            <a:r>
              <a:rPr lang="vi-VN">
                <a:latin typeface="Times New Roman" panose="02020603050405020304" pitchFamily="18" charset="0"/>
                <a:cs typeface="Times New Roman" panose="02020603050405020304" pitchFamily="18" charset="0"/>
              </a:rPr>
              <a:t>trạng thái nguy cơ tại một điểm bị ảnh hưởng bởi điều kiện hiện tại, quá khứ và các khu vực lân cận, làm cơ sở lý luận cho việc học quan hệ đồng thời không gian và thời gian.</a:t>
            </a:r>
          </a:p>
          <a:p>
            <a:pPr marL="285750" indent="-285750">
              <a:lnSpc>
                <a:spcPct val="150000"/>
              </a:lnSpc>
              <a:buFont typeface="Arial" panose="020B0604020202020204" pitchFamily="34" charset="0"/>
              <a:buChar char="•"/>
            </a:pPr>
            <a:r>
              <a:rPr lang="vi-VN" b="1">
                <a:latin typeface="Times New Roman" panose="02020603050405020304" pitchFamily="18" charset="0"/>
                <a:cs typeface="Times New Roman" panose="02020603050405020304" pitchFamily="18" charset="0"/>
              </a:rPr>
              <a:t>Học thuyết viễn thám quang–nhiệt (Optical–Thermal Remote Sensing)</a:t>
            </a:r>
            <a:r>
              <a:rPr lang="en-US" b="1">
                <a:latin typeface="Times New Roman" panose="02020603050405020304" pitchFamily="18" charset="0"/>
                <a:cs typeface="Times New Roman" panose="02020603050405020304" pitchFamily="18" charset="0"/>
              </a:rPr>
              <a:t>:</a:t>
            </a:r>
            <a:r>
              <a:rPr lang="vi-VN">
                <a:latin typeface="Times New Roman" panose="02020603050405020304" pitchFamily="18" charset="0"/>
                <a:cs typeface="Times New Roman" panose="02020603050405020304" pitchFamily="18" charset="0"/>
              </a:rPr>
              <a:t> cháy phát ra tín hiệu mạnh ở bước sóng hồng ngoại, có thể quan sát bằng vệ tinh như VIIRS hay Landsat. Từ đó cho </a:t>
            </a:r>
            <a:r>
              <a:rPr lang="en-US">
                <a:latin typeface="Times New Roman" panose="02020603050405020304" pitchFamily="18" charset="0"/>
                <a:cs typeface="Times New Roman" panose="02020603050405020304" pitchFamily="18" charset="0"/>
              </a:rPr>
              <a:t>thấy</a:t>
            </a:r>
            <a:r>
              <a:rPr lang="vi-VN">
                <a:latin typeface="Times New Roman" panose="02020603050405020304" pitchFamily="18" charset="0"/>
                <a:cs typeface="Times New Roman" panose="02020603050405020304" pitchFamily="18" charset="0"/>
              </a:rPr>
              <a:t> ảnh vệ tinh chứa đủ đặc trưng để YOLO nhận diện đám cháy.</a:t>
            </a:r>
          </a:p>
          <a:p>
            <a:pPr marL="285750" indent="-285750">
              <a:lnSpc>
                <a:spcPct val="150000"/>
              </a:lnSpc>
              <a:buFont typeface="Arial" panose="020B0604020202020204" pitchFamily="34" charset="0"/>
              <a:buChar char="•"/>
            </a:pPr>
            <a:r>
              <a:rPr lang="vi-VN" b="1">
                <a:latin typeface="Times New Roman" panose="02020603050405020304" pitchFamily="18" charset="0"/>
                <a:cs typeface="Times New Roman" panose="02020603050405020304" pitchFamily="18" charset="0"/>
              </a:rPr>
              <a:t>Học thuyết học đặc trưng và biểu diễn phân cấp</a:t>
            </a:r>
            <a:r>
              <a:rPr lang="vi-VN">
                <a:latin typeface="Times New Roman" panose="02020603050405020304" pitchFamily="18" charset="0"/>
                <a:cs typeface="Times New Roman" panose="02020603050405020304" pitchFamily="18" charset="0"/>
              </a:rPr>
              <a:t> khẳng định CNN/YOLO có thể tự động học các đặc trưng vật thể, phù hợp nhận diện điểm cháy nhỏ, thay đổi hình dạng và bị ảnh hưởng bởi mây hay sương mù.</a:t>
            </a:r>
          </a:p>
          <a:p>
            <a:pPr>
              <a:lnSpc>
                <a:spcPct val="150000"/>
              </a:lnSpc>
            </a:pPr>
            <a:endParaRPr lang="en-US"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09260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59D6A-E013-3C8F-36F9-4A43210A08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833477-A294-5E13-D158-40751786CF7E}"/>
              </a:ext>
            </a:extLst>
          </p:cNvPr>
          <p:cNvSpPr>
            <a:spLocks noGrp="1"/>
          </p:cNvSpPr>
          <p:nvPr>
            <p:ph type="title"/>
          </p:nvPr>
        </p:nvSpPr>
        <p:spPr>
          <a:xfrm>
            <a:off x="383175" y="835118"/>
            <a:ext cx="11123024" cy="554902"/>
          </a:xfrm>
        </p:spPr>
        <p:txBody>
          <a:bodyPr>
            <a:normAutofit/>
          </a:bodyPr>
          <a:lstStyle/>
          <a:p>
            <a:r>
              <a:rPr lang="en-US" sz="2800">
                <a:latin typeface="Montserrat Black" panose="00000A00000000000000" pitchFamily="50" charset="0"/>
              </a:rPr>
              <a:t>4. Cơ sở lý thuyết</a:t>
            </a:r>
          </a:p>
        </p:txBody>
      </p:sp>
      <p:sp>
        <p:nvSpPr>
          <p:cNvPr id="5" name="TextBox 4">
            <a:extLst>
              <a:ext uri="{FF2B5EF4-FFF2-40B4-BE49-F238E27FC236}">
                <a16:creationId xmlns:a16="http://schemas.microsoft.com/office/drawing/2014/main" id="{71F79288-09ED-BC9C-A1BC-71D247DA1343}"/>
              </a:ext>
            </a:extLst>
          </p:cNvPr>
          <p:cNvSpPr txBox="1"/>
          <p:nvPr/>
        </p:nvSpPr>
        <p:spPr>
          <a:xfrm>
            <a:off x="507076" y="1629295"/>
            <a:ext cx="10665229" cy="2951064"/>
          </a:xfrm>
          <a:prstGeom prst="rect">
            <a:avLst/>
          </a:prstGeom>
          <a:noFill/>
        </p:spPr>
        <p:txBody>
          <a:bodyPr wrap="square" rtlCol="0">
            <a:spAutoFit/>
          </a:bodyPr>
          <a:lstStyle/>
          <a:p>
            <a:pPr>
              <a:lnSpc>
                <a:spcPct val="150000"/>
              </a:lnSpc>
            </a:pPr>
            <a:r>
              <a:rPr lang="en-US" b="1">
                <a:latin typeface="Times New Roman" panose="02020603050405020304" pitchFamily="18" charset="0"/>
                <a:cs typeface="Times New Roman" panose="02020603050405020304" pitchFamily="18" charset="0"/>
              </a:rPr>
              <a:t>Các yếu tố ảnh hưởng đến nghiên cứu:</a:t>
            </a:r>
          </a:p>
          <a:p>
            <a:pPr marL="285750" indent="-285750">
              <a:lnSpc>
                <a:spcPct val="150000"/>
              </a:lnSpc>
              <a:buFont typeface="Arial" panose="020B0604020202020204" pitchFamily="34" charset="0"/>
              <a:buChar char="•"/>
            </a:pPr>
            <a:r>
              <a:rPr lang="vi-VN" b="1">
                <a:latin typeface="Times New Roman" panose="02020603050405020304" pitchFamily="18" charset="0"/>
                <a:cs typeface="Times New Roman" panose="02020603050405020304" pitchFamily="18" charset="0"/>
              </a:rPr>
              <a:t>Nhóm khí tượng – khí hậu</a:t>
            </a:r>
            <a:r>
              <a:rPr lang="vi-VN">
                <a:latin typeface="Times New Roman" panose="02020603050405020304" pitchFamily="18" charset="0"/>
                <a:cs typeface="Times New Roman" panose="02020603050405020304" pitchFamily="18" charset="0"/>
              </a:rPr>
              <a:t>: nhiệt độ, độ ẩm, gió, nắng nóng và khô hạn theo mùa. </a:t>
            </a:r>
          </a:p>
          <a:p>
            <a:pPr marL="285750" indent="-285750">
              <a:lnSpc>
                <a:spcPct val="150000"/>
              </a:lnSpc>
              <a:buFont typeface="Arial" panose="020B0604020202020204" pitchFamily="34" charset="0"/>
              <a:buChar char="•"/>
            </a:pPr>
            <a:r>
              <a:rPr lang="vi-VN" b="1">
                <a:latin typeface="Times New Roman" panose="02020603050405020304" pitchFamily="18" charset="0"/>
                <a:cs typeface="Times New Roman" panose="02020603050405020304" pitchFamily="18" charset="0"/>
              </a:rPr>
              <a:t>Nhóm địa hình và thảm thực vật</a:t>
            </a:r>
            <a:r>
              <a:rPr lang="vi-VN">
                <a:latin typeface="Times New Roman" panose="02020603050405020304" pitchFamily="18" charset="0"/>
                <a:cs typeface="Times New Roman" panose="02020603050405020304" pitchFamily="18" charset="0"/>
              </a:rPr>
              <a:t>: độ cao, độ dốc, hướng dốc và loại rừng. </a:t>
            </a:r>
          </a:p>
          <a:p>
            <a:pPr marL="285750" indent="-285750">
              <a:lnSpc>
                <a:spcPct val="150000"/>
              </a:lnSpc>
              <a:buFont typeface="Arial" panose="020B0604020202020204" pitchFamily="34" charset="0"/>
              <a:buChar char="•"/>
            </a:pPr>
            <a:r>
              <a:rPr lang="vi-VN" b="1">
                <a:latin typeface="Times New Roman" panose="02020603050405020304" pitchFamily="18" charset="0"/>
                <a:cs typeface="Times New Roman" panose="02020603050405020304" pitchFamily="18" charset="0"/>
              </a:rPr>
              <a:t>Chất lượng dữ liệu viễn thám</a:t>
            </a:r>
            <a:r>
              <a:rPr lang="vi-VN">
                <a:latin typeface="Times New Roman" panose="02020603050405020304" pitchFamily="18" charset="0"/>
                <a:cs typeface="Times New Roman" panose="02020603050405020304" pitchFamily="18" charset="0"/>
              </a:rPr>
              <a:t>: mây, khói, sương mù và tần suất quét ảnh khác nhau của vệ tinh. </a:t>
            </a:r>
          </a:p>
          <a:p>
            <a:pPr marL="285750" indent="-285750">
              <a:lnSpc>
                <a:spcPct val="150000"/>
              </a:lnSpc>
              <a:buFont typeface="Arial" panose="020B0604020202020204" pitchFamily="34" charset="0"/>
              <a:buChar char="•"/>
            </a:pPr>
            <a:r>
              <a:rPr lang="vi-VN" b="1">
                <a:latin typeface="Times New Roman" panose="02020603050405020304" pitchFamily="18" charset="0"/>
                <a:cs typeface="Times New Roman" panose="02020603050405020304" pitchFamily="18" charset="0"/>
              </a:rPr>
              <a:t>Hoạt động con người</a:t>
            </a:r>
            <a:r>
              <a:rPr lang="vi-VN">
                <a:latin typeface="Times New Roman" panose="02020603050405020304" pitchFamily="18" charset="0"/>
                <a:cs typeface="Times New Roman" panose="02020603050405020304" pitchFamily="18" charset="0"/>
              </a:rPr>
              <a:t>: như đốt nương rẫy hoặc khai thác rừng, có thể tạo điểm sáng giả và thay đổi bề mặt đất, gây khó khăn cho dự báo và đánh giá mô hình.</a:t>
            </a:r>
          </a:p>
          <a:p>
            <a:pPr>
              <a:lnSpc>
                <a:spcPct val="150000"/>
              </a:lnSpc>
            </a:pPr>
            <a:endParaRPr lang="en-US" b="1">
              <a:latin typeface="Times New Roman" panose="02020603050405020304" pitchFamily="18" charset="0"/>
              <a:cs typeface="Times New Roman" panose="02020603050405020304" pitchFamily="18" charset="0"/>
            </a:endParaRPr>
          </a:p>
        </p:txBody>
      </p:sp>
      <p:pic>
        <p:nvPicPr>
          <p:cNvPr id="3078" name="Picture 6" descr="Temperature - Free weather icons">
            <a:extLst>
              <a:ext uri="{FF2B5EF4-FFF2-40B4-BE49-F238E27FC236}">
                <a16:creationId xmlns:a16="http://schemas.microsoft.com/office/drawing/2014/main" id="{2E7F51CA-A1AC-95F0-CA4F-E56A9BEC055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04214" y="4580360"/>
            <a:ext cx="1289578" cy="1289578"/>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Slope Icons - Free SVG &amp; PNG Slope Images - Noun Project">
            <a:extLst>
              <a:ext uri="{FF2B5EF4-FFF2-40B4-BE49-F238E27FC236}">
                <a16:creationId xmlns:a16="http://schemas.microsoft.com/office/drawing/2014/main" id="{C1D5A98B-587F-B3AC-CFB9-928FAF452D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04215" y="4438434"/>
            <a:ext cx="1573430" cy="1573430"/>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Image - Free Icon PNG, SVG">
            <a:extLst>
              <a:ext uri="{FF2B5EF4-FFF2-40B4-BE49-F238E27FC236}">
                <a16:creationId xmlns:a16="http://schemas.microsoft.com/office/drawing/2014/main" id="{070BBD30-3184-4E09-C875-BBB65B0DAF0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80841" y="4748114"/>
            <a:ext cx="970660" cy="961181"/>
          </a:xfrm>
          <a:prstGeom prst="rect">
            <a:avLst/>
          </a:prstGeom>
          <a:noFill/>
          <a:extLst>
            <a:ext uri="{909E8E84-426E-40DD-AFC4-6F175D3DCCD1}">
              <a14:hiddenFill xmlns:a14="http://schemas.microsoft.com/office/drawing/2010/main">
                <a:solidFill>
                  <a:srgbClr val="FFFFFF"/>
                </a:solidFill>
              </a14:hiddenFill>
            </a:ext>
          </a:extLst>
        </p:spPr>
      </p:pic>
      <p:pic>
        <p:nvPicPr>
          <p:cNvPr id="3088" name="Picture 16" descr="Deforestation - Free nature icons">
            <a:extLst>
              <a:ext uri="{FF2B5EF4-FFF2-40B4-BE49-F238E27FC236}">
                <a16:creationId xmlns:a16="http://schemas.microsoft.com/office/drawing/2014/main" id="{EBBADBC5-A68F-7FA1-1BA2-658719EAC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229599" y="4580359"/>
            <a:ext cx="1128936" cy="1128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8071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A41A8-80B5-584D-F00B-DE3B05248D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9B47BA-3C07-BD61-ADA2-A940E449E5FE}"/>
              </a:ext>
            </a:extLst>
          </p:cNvPr>
          <p:cNvSpPr>
            <a:spLocks noGrp="1"/>
          </p:cNvSpPr>
          <p:nvPr>
            <p:ph type="title"/>
          </p:nvPr>
        </p:nvSpPr>
        <p:spPr>
          <a:xfrm>
            <a:off x="383175" y="835118"/>
            <a:ext cx="11123024" cy="554902"/>
          </a:xfrm>
        </p:spPr>
        <p:txBody>
          <a:bodyPr>
            <a:normAutofit/>
          </a:bodyPr>
          <a:lstStyle/>
          <a:p>
            <a:r>
              <a:rPr lang="en-US" sz="2800">
                <a:latin typeface="Montserrat Black" panose="00000A00000000000000" pitchFamily="50" charset="0"/>
              </a:rPr>
              <a:t>4. Cơ sở lý thuyết</a:t>
            </a:r>
          </a:p>
        </p:txBody>
      </p:sp>
      <p:sp>
        <p:nvSpPr>
          <p:cNvPr id="3" name="Title 1">
            <a:extLst>
              <a:ext uri="{FF2B5EF4-FFF2-40B4-BE49-F238E27FC236}">
                <a16:creationId xmlns:a16="http://schemas.microsoft.com/office/drawing/2014/main" id="{FBD833FA-713F-059D-9F00-930C519D7C83}"/>
              </a:ext>
            </a:extLst>
          </p:cNvPr>
          <p:cNvSpPr txBox="1">
            <a:spLocks/>
          </p:cNvSpPr>
          <p:nvPr/>
        </p:nvSpPr>
        <p:spPr>
          <a:xfrm>
            <a:off x="383175" y="1513907"/>
            <a:ext cx="10857480" cy="36697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kern="1200">
                <a:solidFill>
                  <a:srgbClr val="C00000"/>
                </a:solidFill>
                <a:latin typeface="Montserrat Black" panose="00000A00000000000000" pitchFamily="50" charset="0"/>
                <a:ea typeface="+mj-ea"/>
                <a:cs typeface="+mj-cs"/>
              </a:defRPr>
            </a:lvl1pPr>
          </a:lstStyle>
          <a:p>
            <a:endParaRPr lang="en-US" sz="1800">
              <a:solidFill>
                <a:schemeClr val="tx1"/>
              </a:solidFill>
              <a:latin typeface="Arial" panose="020B0604020202020204" pitchFamily="34" charset="0"/>
              <a:cs typeface="Arial" panose="020B0604020202020204" pitchFamily="34" charset="0"/>
            </a:endParaRPr>
          </a:p>
          <a:p>
            <a:endParaRPr lang="en-US" sz="1800" b="0">
              <a:solidFill>
                <a:schemeClr val="tx1"/>
              </a:solidFill>
              <a:latin typeface="Arial" panose="020B0604020202020204" pitchFamily="34" charset="0"/>
              <a:cs typeface="Arial" panose="020B0604020202020204" pitchFamily="34" charset="0"/>
            </a:endParaRPr>
          </a:p>
          <a:p>
            <a:endParaRPr lang="vi-VN" sz="1800" b="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18AE61F8-20B1-78B2-82A8-C218C1DF6AE4}"/>
              </a:ext>
            </a:extLst>
          </p:cNvPr>
          <p:cNvSpPr txBox="1"/>
          <p:nvPr/>
        </p:nvSpPr>
        <p:spPr>
          <a:xfrm>
            <a:off x="507076" y="1629295"/>
            <a:ext cx="10665229" cy="4197559"/>
          </a:xfrm>
          <a:prstGeom prst="rect">
            <a:avLst/>
          </a:prstGeom>
          <a:noFill/>
        </p:spPr>
        <p:txBody>
          <a:bodyPr wrap="square" rtlCol="0">
            <a:spAutoFit/>
          </a:bodyPr>
          <a:lstStyle/>
          <a:p>
            <a:pPr>
              <a:lnSpc>
                <a:spcPct val="150000"/>
              </a:lnSpc>
            </a:pPr>
            <a:r>
              <a:rPr lang="en-US" b="1">
                <a:latin typeface="Times New Roman" panose="02020603050405020304" pitchFamily="18" charset="0"/>
                <a:cs typeface="Times New Roman" panose="02020603050405020304" pitchFamily="18" charset="0"/>
              </a:rPr>
              <a:t>Các nghiên cứu liên quan:</a:t>
            </a:r>
          </a:p>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Nghiên cứu [1]</a:t>
            </a:r>
            <a:r>
              <a:rPr lang="vi-VN">
                <a:latin typeface="Times New Roman" panose="02020603050405020304" pitchFamily="18" charset="0"/>
                <a:cs typeface="Times New Roman" panose="02020603050405020304" pitchFamily="18" charset="0"/>
              </a:rPr>
              <a:t> sử dụng ảnh viễn thám Landsat kết hợp GIS và phương pháp chồng lớp trọng số để xây dựng bản đồ nguy cơ cháy rừng tỉnh Đắk Lắk, tuy nhiên chưa áp dụng học máy hay dự báo theo thời gian thực.</a:t>
            </a:r>
          </a:p>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Nghiên cứu [2]</a:t>
            </a:r>
            <a:r>
              <a:rPr lang="vi-VN">
                <a:latin typeface="Times New Roman" panose="02020603050405020304" pitchFamily="18" charset="0"/>
                <a:cs typeface="Times New Roman" panose="02020603050405020304" pitchFamily="18" charset="0"/>
              </a:rPr>
              <a:t> đề xuất mô hình Deep Learning dự báo mức độ nguy hiểm cháy rừng dựa trên dữ liệu môi trường và khí hậu, nhưng chưa khai thác thông tin ảnh vệ tinh phục vụ phát hiện cháy trực tiếp.</a:t>
            </a:r>
          </a:p>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Nghiên cứu [3]</a:t>
            </a:r>
            <a:r>
              <a:rPr lang="vi-VN">
                <a:latin typeface="Times New Roman" panose="02020603050405020304" pitchFamily="18" charset="0"/>
                <a:cs typeface="Times New Roman" panose="02020603050405020304" pitchFamily="18" charset="0"/>
              </a:rPr>
              <a:t> tích hợp dữ liệu viễn thám và dữ liệu môi trường trong mô hình học sâu để dự báo nguy cơ cháy rừng, song chưa kết hợp bài toán phát hiện cháy từ ảnh hoặc video theo thời gian thực.</a:t>
            </a:r>
          </a:p>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Nghiên cứu [4]</a:t>
            </a:r>
            <a:r>
              <a:rPr lang="vi-VN">
                <a:latin typeface="Times New Roman" panose="02020603050405020304" pitchFamily="18" charset="0"/>
                <a:cs typeface="Times New Roman" panose="02020603050405020304" pitchFamily="18" charset="0"/>
              </a:rPr>
              <a:t> ứng dụng các mô hình học máy và học sâu trên ảnh vệ tinh để phát hiện cháy rừng tại Úc, nhưng chỉ tập trung vào dữ liệu ảnh mà chưa xét đến yếu tố chuỗi thời gian môi trường.</a:t>
            </a:r>
            <a:endParaRPr lang="en-US">
              <a:latin typeface="Times New Roman" panose="02020603050405020304" pitchFamily="18" charset="0"/>
              <a:cs typeface="Times New Roman" panose="02020603050405020304" pitchFamily="18" charset="0"/>
            </a:endParaRPr>
          </a:p>
          <a:p>
            <a:pPr>
              <a:lnSpc>
                <a:spcPct val="150000"/>
              </a:lnSpc>
            </a:pP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7284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F76EE-D9CD-A53D-DC6D-9B8940518A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342A0E-713F-3AC5-4D63-0B6A4B94E26C}"/>
              </a:ext>
            </a:extLst>
          </p:cNvPr>
          <p:cNvSpPr>
            <a:spLocks noGrp="1"/>
          </p:cNvSpPr>
          <p:nvPr>
            <p:ph type="title"/>
          </p:nvPr>
        </p:nvSpPr>
        <p:spPr>
          <a:xfrm>
            <a:off x="383175" y="835118"/>
            <a:ext cx="11123024" cy="554902"/>
          </a:xfrm>
        </p:spPr>
        <p:txBody>
          <a:bodyPr>
            <a:normAutofit/>
          </a:bodyPr>
          <a:lstStyle/>
          <a:p>
            <a:r>
              <a:rPr lang="en-US"/>
              <a:t>5. Đề xuất phương pháp</a:t>
            </a:r>
            <a:endParaRPr lang="en-US" sz="2800">
              <a:latin typeface="Montserrat Black" panose="00000A00000000000000" pitchFamily="50" charset="0"/>
            </a:endParaRPr>
          </a:p>
        </p:txBody>
      </p:sp>
      <p:sp>
        <p:nvSpPr>
          <p:cNvPr id="3" name="Title 1">
            <a:extLst>
              <a:ext uri="{FF2B5EF4-FFF2-40B4-BE49-F238E27FC236}">
                <a16:creationId xmlns:a16="http://schemas.microsoft.com/office/drawing/2014/main" id="{8545B586-E1DD-80D3-276D-287D76B23EBB}"/>
              </a:ext>
            </a:extLst>
          </p:cNvPr>
          <p:cNvSpPr txBox="1">
            <a:spLocks/>
          </p:cNvSpPr>
          <p:nvPr/>
        </p:nvSpPr>
        <p:spPr>
          <a:xfrm>
            <a:off x="383175" y="1513907"/>
            <a:ext cx="10857480" cy="36697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kern="1200">
                <a:solidFill>
                  <a:srgbClr val="C00000"/>
                </a:solidFill>
                <a:latin typeface="Montserrat Black" panose="00000A00000000000000" pitchFamily="50" charset="0"/>
                <a:ea typeface="+mj-ea"/>
                <a:cs typeface="+mj-cs"/>
              </a:defRPr>
            </a:lvl1pPr>
          </a:lstStyle>
          <a:p>
            <a:endParaRPr lang="en-US" sz="1800">
              <a:solidFill>
                <a:schemeClr val="tx1"/>
              </a:solidFill>
              <a:latin typeface="Arial" panose="020B0604020202020204" pitchFamily="34" charset="0"/>
              <a:cs typeface="Arial" panose="020B0604020202020204" pitchFamily="34" charset="0"/>
            </a:endParaRPr>
          </a:p>
          <a:p>
            <a:endParaRPr lang="en-US" sz="1800" b="0">
              <a:solidFill>
                <a:schemeClr val="tx1"/>
              </a:solidFill>
              <a:latin typeface="Arial" panose="020B0604020202020204" pitchFamily="34" charset="0"/>
              <a:cs typeface="Arial" panose="020B0604020202020204" pitchFamily="34" charset="0"/>
            </a:endParaRPr>
          </a:p>
          <a:p>
            <a:endParaRPr lang="vi-VN" sz="1800" b="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DA625815-376E-FBA4-4108-642457F1B270}"/>
              </a:ext>
            </a:extLst>
          </p:cNvPr>
          <p:cNvSpPr txBox="1"/>
          <p:nvPr/>
        </p:nvSpPr>
        <p:spPr>
          <a:xfrm>
            <a:off x="507076" y="1629295"/>
            <a:ext cx="10665229" cy="3782061"/>
          </a:xfrm>
          <a:prstGeom prst="rect">
            <a:avLst/>
          </a:prstGeom>
          <a:noFill/>
        </p:spPr>
        <p:txBody>
          <a:bodyPr wrap="square" rtlCol="0">
            <a:spAutoFit/>
          </a:bodyPr>
          <a:lstStyle/>
          <a:p>
            <a:pPr>
              <a:lnSpc>
                <a:spcPct val="150000"/>
              </a:lnSpc>
            </a:pPr>
            <a:r>
              <a:rPr lang="en-US" b="1">
                <a:latin typeface="Times New Roman" panose="02020603050405020304" pitchFamily="18" charset="0"/>
                <a:cs typeface="Times New Roman" panose="02020603050405020304" pitchFamily="18" charset="0"/>
              </a:rPr>
              <a:t>Tổng quan phương pháp:</a:t>
            </a:r>
          </a:p>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Thu thập dữ liệu khí tượng, </a:t>
            </a:r>
            <a:r>
              <a:rPr lang="vi-VN">
                <a:latin typeface="Times New Roman" panose="02020603050405020304" pitchFamily="18" charset="0"/>
                <a:cs typeface="Times New Roman" panose="02020603050405020304" pitchFamily="18" charset="0"/>
              </a:rPr>
              <a:t>thảm thực vật và địa hình</a:t>
            </a:r>
            <a:r>
              <a:rPr lang="en-US">
                <a:latin typeface="Times New Roman" panose="02020603050405020304" pitchFamily="18" charset="0"/>
                <a:cs typeface="Times New Roman" panose="02020603050405020304" pitchFamily="18" charset="0"/>
              </a:rPr>
              <a:t> </a:t>
            </a:r>
            <a:r>
              <a:rPr lang="vi-VN">
                <a:latin typeface="Times New Roman" panose="02020603050405020304" pitchFamily="18" charset="0"/>
                <a:cs typeface="Times New Roman" panose="02020603050405020304" pitchFamily="18" charset="0"/>
              </a:rPr>
              <a:t>sau đó tiền xử lý, chuẩn hóa và đồng bộ về thời gian.</a:t>
            </a:r>
            <a:endParaRPr lang="en-US">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Ứng dụng mô hình </a:t>
            </a:r>
            <a:r>
              <a:rPr lang="vi-VN" b="1">
                <a:latin typeface="Times New Roman" panose="02020603050405020304" pitchFamily="18" charset="0"/>
                <a:cs typeface="Times New Roman" panose="02020603050405020304" pitchFamily="18" charset="0"/>
              </a:rPr>
              <a:t>XGBoost</a:t>
            </a:r>
            <a:r>
              <a:rPr lang="vi-VN">
                <a:latin typeface="Times New Roman" panose="02020603050405020304" pitchFamily="18" charset="0"/>
                <a:cs typeface="Times New Roman" panose="02020603050405020304" pitchFamily="18" charset="0"/>
              </a:rPr>
              <a:t> để dự báo nguy cơ cháy từ</a:t>
            </a:r>
            <a:r>
              <a:rPr lang="en-US">
                <a:latin typeface="Times New Roman" panose="02020603050405020304" pitchFamily="18" charset="0"/>
                <a:cs typeface="Times New Roman" panose="02020603050405020304" pitchFamily="18" charset="0"/>
              </a:rPr>
              <a:t> dữ liệu dạng bảng của</a:t>
            </a:r>
            <a:r>
              <a:rPr lang="vi-VN">
                <a:latin typeface="Times New Roman" panose="02020603050405020304" pitchFamily="18" charset="0"/>
                <a:cs typeface="Times New Roman" panose="02020603050405020304" pitchFamily="18" charset="0"/>
              </a:rPr>
              <a:t> các yếu tố khí tượng, thảm thực vật và địa hình</a:t>
            </a:r>
            <a:r>
              <a:rPr lang="en-US">
                <a:latin typeface="Times New Roman" panose="02020603050405020304" pitchFamily="18" charset="0"/>
                <a:cs typeface="Times New Roman" panose="02020603050405020304" pitchFamily="18" charset="0"/>
              </a:rPr>
              <a:t>.</a:t>
            </a:r>
          </a:p>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Ứng dụng mô hình </a:t>
            </a:r>
            <a:r>
              <a:rPr lang="vi-VN" b="1">
                <a:latin typeface="Times New Roman" panose="02020603050405020304" pitchFamily="18" charset="0"/>
                <a:cs typeface="Times New Roman" panose="02020603050405020304" pitchFamily="18" charset="0"/>
              </a:rPr>
              <a:t>ConvLSTM</a:t>
            </a:r>
            <a:r>
              <a:rPr lang="vi-VN">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để</a:t>
            </a:r>
            <a:r>
              <a:rPr lang="vi-VN">
                <a:latin typeface="+mj-lt"/>
              </a:rPr>
              <a:t> học và mô hình hóa các đặc trưng không gian–thời gian từ chuỗi ảnh vệ tinh nhiều thời điểm nhằm dự báo sự biến đổi và nguy cơ cháy rừng theo thời gian.</a:t>
            </a:r>
            <a:endParaRPr lang="en-US">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Ứng dụng mô hình </a:t>
            </a:r>
            <a:r>
              <a:rPr lang="vi-VN" b="1">
                <a:latin typeface="Times New Roman" panose="02020603050405020304" pitchFamily="18" charset="0"/>
                <a:cs typeface="Times New Roman" panose="02020603050405020304" pitchFamily="18" charset="0"/>
              </a:rPr>
              <a:t>YOLO</a:t>
            </a:r>
            <a:r>
              <a:rPr lang="vi-VN">
                <a:latin typeface="Times New Roman" panose="02020603050405020304" pitchFamily="18" charset="0"/>
                <a:cs typeface="Times New Roman" panose="02020603050405020304" pitchFamily="18" charset="0"/>
              </a:rPr>
              <a:t> nhận diện đám cháy, khói và hotspot từ ảnh vệ tinh. </a:t>
            </a:r>
            <a:endParaRPr lang="en-US">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vi-VN">
                <a:latin typeface="Times New Roman" panose="02020603050405020304" pitchFamily="18" charset="0"/>
                <a:cs typeface="Times New Roman" panose="02020603050405020304" pitchFamily="18" charset="0"/>
              </a:rPr>
              <a:t>Kết quả từ </a:t>
            </a:r>
            <a:r>
              <a:rPr lang="en-US">
                <a:latin typeface="Times New Roman" panose="02020603050405020304" pitchFamily="18" charset="0"/>
                <a:cs typeface="Times New Roman" panose="02020603050405020304" pitchFamily="18" charset="0"/>
              </a:rPr>
              <a:t>các</a:t>
            </a:r>
            <a:r>
              <a:rPr lang="vi-VN">
                <a:latin typeface="Times New Roman" panose="02020603050405020304" pitchFamily="18" charset="0"/>
                <a:cs typeface="Times New Roman" panose="02020603050405020304" pitchFamily="18" charset="0"/>
              </a:rPr>
              <a:t> mô hình được tích hợp (fusion) để xác định các khu vực nguy cơ cao có cháy thực tế, trình bày trực quan trên web bản đồ theo thời gian thực. </a:t>
            </a: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1977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6A7A2-FBDD-E94E-C050-0F670E6E78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6315ED-81DB-5474-A68B-4B35B3183472}"/>
              </a:ext>
            </a:extLst>
          </p:cNvPr>
          <p:cNvSpPr>
            <a:spLocks noGrp="1"/>
          </p:cNvSpPr>
          <p:nvPr>
            <p:ph type="title"/>
          </p:nvPr>
        </p:nvSpPr>
        <p:spPr>
          <a:xfrm>
            <a:off x="383175" y="835118"/>
            <a:ext cx="11123024" cy="554902"/>
          </a:xfrm>
        </p:spPr>
        <p:txBody>
          <a:bodyPr>
            <a:normAutofit/>
          </a:bodyPr>
          <a:lstStyle/>
          <a:p>
            <a:r>
              <a:rPr lang="en-US"/>
              <a:t>5. Đề xuất phương pháp</a:t>
            </a:r>
            <a:endParaRPr lang="en-US" sz="2800">
              <a:latin typeface="Montserrat Black" panose="00000A00000000000000" pitchFamily="50" charset="0"/>
            </a:endParaRPr>
          </a:p>
        </p:txBody>
      </p:sp>
      <p:sp>
        <p:nvSpPr>
          <p:cNvPr id="3" name="Title 1">
            <a:extLst>
              <a:ext uri="{FF2B5EF4-FFF2-40B4-BE49-F238E27FC236}">
                <a16:creationId xmlns:a16="http://schemas.microsoft.com/office/drawing/2014/main" id="{29C1AB65-676A-1C09-8D03-FAEDFF3F4BEB}"/>
              </a:ext>
            </a:extLst>
          </p:cNvPr>
          <p:cNvSpPr txBox="1">
            <a:spLocks/>
          </p:cNvSpPr>
          <p:nvPr/>
        </p:nvSpPr>
        <p:spPr>
          <a:xfrm>
            <a:off x="383175" y="1513907"/>
            <a:ext cx="10857480" cy="36697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kern="1200">
                <a:solidFill>
                  <a:srgbClr val="C00000"/>
                </a:solidFill>
                <a:latin typeface="Montserrat Black" panose="00000A00000000000000" pitchFamily="50" charset="0"/>
                <a:ea typeface="+mj-ea"/>
                <a:cs typeface="+mj-cs"/>
              </a:defRPr>
            </a:lvl1pPr>
          </a:lstStyle>
          <a:p>
            <a:endParaRPr lang="en-US" sz="1800">
              <a:solidFill>
                <a:schemeClr val="tx1"/>
              </a:solidFill>
              <a:latin typeface="Arial" panose="020B0604020202020204" pitchFamily="34" charset="0"/>
              <a:cs typeface="Arial" panose="020B0604020202020204" pitchFamily="34" charset="0"/>
            </a:endParaRPr>
          </a:p>
          <a:p>
            <a:endParaRPr lang="en-US" sz="1800" b="0">
              <a:solidFill>
                <a:schemeClr val="tx1"/>
              </a:solidFill>
              <a:latin typeface="Arial" panose="020B0604020202020204" pitchFamily="34" charset="0"/>
              <a:cs typeface="Arial" panose="020B0604020202020204" pitchFamily="34" charset="0"/>
            </a:endParaRPr>
          </a:p>
          <a:p>
            <a:endParaRPr lang="vi-VN" sz="1800" b="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a:p>
            <a:endParaRPr lang="en-US" sz="1800">
              <a:solidFill>
                <a:schemeClr val="tx1"/>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73531DCA-6CD3-DFA0-1B08-EBAFF2A6E8FE}"/>
              </a:ext>
            </a:extLst>
          </p:cNvPr>
          <p:cNvSpPr txBox="1"/>
          <p:nvPr/>
        </p:nvSpPr>
        <p:spPr>
          <a:xfrm>
            <a:off x="507076" y="1629295"/>
            <a:ext cx="10665229" cy="458074"/>
          </a:xfrm>
          <a:prstGeom prst="rect">
            <a:avLst/>
          </a:prstGeom>
          <a:noFill/>
        </p:spPr>
        <p:txBody>
          <a:bodyPr wrap="square" rtlCol="0">
            <a:spAutoFit/>
          </a:bodyPr>
          <a:lstStyle/>
          <a:p>
            <a:pPr>
              <a:lnSpc>
                <a:spcPct val="150000"/>
              </a:lnSpc>
            </a:pPr>
            <a:r>
              <a:rPr lang="en-US" b="1">
                <a:latin typeface="Times New Roman" panose="02020603050405020304" pitchFamily="18" charset="0"/>
                <a:cs typeface="Times New Roman" panose="02020603050405020304" pitchFamily="18" charset="0"/>
              </a:rPr>
              <a:t>Thu thập dữ liệu và tiền xử lý:</a:t>
            </a:r>
            <a:endParaRPr lang="en-US">
              <a:latin typeface="Times New Roman" panose="02020603050405020304" pitchFamily="18" charset="0"/>
              <a:cs typeface="Times New Roman" panose="02020603050405020304" pitchFamily="18" charset="0"/>
            </a:endParaRPr>
          </a:p>
        </p:txBody>
      </p:sp>
      <p:pic>
        <p:nvPicPr>
          <p:cNvPr id="2050" name="Picture 2" descr="Table - Free business and finance icons">
            <a:extLst>
              <a:ext uri="{FF2B5EF4-FFF2-40B4-BE49-F238E27FC236}">
                <a16:creationId xmlns:a16="http://schemas.microsoft.com/office/drawing/2014/main" id="{0508CE43-A74C-170D-1DCE-4146AD4727C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87398" y="2198693"/>
            <a:ext cx="1282045" cy="128204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Temporal - Free miscellaneous icons">
            <a:extLst>
              <a:ext uri="{FF2B5EF4-FFF2-40B4-BE49-F238E27FC236}">
                <a16:creationId xmlns:a16="http://schemas.microsoft.com/office/drawing/2014/main" id="{182D9B36-9041-1BC2-853A-0838BCB3646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02434" y="2286393"/>
            <a:ext cx="1267120" cy="126712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mage - Free ui icons">
            <a:extLst>
              <a:ext uri="{FF2B5EF4-FFF2-40B4-BE49-F238E27FC236}">
                <a16:creationId xmlns:a16="http://schemas.microsoft.com/office/drawing/2014/main" id="{732E0136-E91D-3D2C-82BB-0227FB08645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44377" y="2324100"/>
            <a:ext cx="1191705" cy="119170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F0A96F1-0EFB-5CC5-628E-495D75E7516D}"/>
              </a:ext>
            </a:extLst>
          </p:cNvPr>
          <p:cNvSpPr txBox="1"/>
          <p:nvPr/>
        </p:nvSpPr>
        <p:spPr>
          <a:xfrm>
            <a:off x="783687" y="3546051"/>
            <a:ext cx="3233397" cy="2552109"/>
          </a:xfrm>
          <a:prstGeom prst="rect">
            <a:avLst/>
          </a:prstGeom>
          <a:noFill/>
        </p:spPr>
        <p:txBody>
          <a:bodyPr wrap="square" rtlCol="0">
            <a:spAutoFit/>
          </a:bodyPr>
          <a:lstStyle/>
          <a:p>
            <a:pPr algn="just">
              <a:lnSpc>
                <a:spcPct val="150000"/>
              </a:lnSpc>
            </a:pPr>
            <a:r>
              <a:rPr lang="en-US" sz="1200" b="1">
                <a:latin typeface="Times New Roman" panose="02020603050405020304" pitchFamily="18" charset="0"/>
                <a:cs typeface="Times New Roman" panose="02020603050405020304" pitchFamily="18" charset="0"/>
              </a:rPr>
              <a:t>D</a:t>
            </a:r>
            <a:r>
              <a:rPr lang="vi-VN" sz="1200" b="1">
                <a:latin typeface="Times New Roman" panose="02020603050405020304" pitchFamily="18" charset="0"/>
                <a:cs typeface="Times New Roman" panose="02020603050405020304" pitchFamily="18" charset="0"/>
              </a:rPr>
              <a:t>ữ liệu dạng bảng</a:t>
            </a:r>
            <a:r>
              <a:rPr lang="vi-VN" sz="1200">
                <a:latin typeface="Times New Roman" panose="02020603050405020304" pitchFamily="18" charset="0"/>
                <a:cs typeface="Times New Roman" panose="02020603050405020304" pitchFamily="18" charset="0"/>
              </a:rPr>
              <a:t> (khí tượng, độ ẩm đất, chỉ số NDVI tổng hợp, địa hình…) sẽ được thu thập theo từng khu vực và thời điểm</a:t>
            </a:r>
            <a:r>
              <a:rPr lang="en-US" sz="1200">
                <a:latin typeface="Times New Roman" panose="02020603050405020304" pitchFamily="18" charset="0"/>
                <a:cs typeface="Times New Roman" panose="02020603050405020304" pitchFamily="18" charset="0"/>
              </a:rPr>
              <a:t> </a:t>
            </a:r>
            <a:r>
              <a:rPr lang="vi-VN" sz="1200">
                <a:latin typeface="Times New Roman" panose="02020603050405020304" pitchFamily="18" charset="0"/>
                <a:cs typeface="Times New Roman" panose="02020603050405020304" pitchFamily="18" charset="0"/>
              </a:rPr>
              <a:t>từ các nguồn dữ liệu viễn thám khí tượng công khai như NOAA, NASA (MODIS, SMAP)</a:t>
            </a:r>
            <a:r>
              <a:rPr lang="en-US" sz="1200">
                <a:latin typeface="Times New Roman" panose="02020603050405020304" pitchFamily="18" charset="0"/>
                <a:cs typeface="Times New Roman" panose="02020603050405020304" pitchFamily="18" charset="0"/>
              </a:rPr>
              <a:t> và</a:t>
            </a:r>
            <a:r>
              <a:rPr lang="vi-VN" sz="1200">
                <a:latin typeface="Times New Roman" panose="02020603050405020304" pitchFamily="18" charset="0"/>
                <a:cs typeface="Times New Roman" panose="02020603050405020304" pitchFamily="18" charset="0"/>
              </a:rPr>
              <a:t> ESA (Sentinel).. Các bước tiền xử lý dự kiến</a:t>
            </a:r>
            <a:r>
              <a:rPr lang="en-US" sz="1200">
                <a:latin typeface="Times New Roman" panose="02020603050405020304" pitchFamily="18" charset="0"/>
                <a:cs typeface="Times New Roman" panose="02020603050405020304" pitchFamily="18" charset="0"/>
              </a:rPr>
              <a:t>:</a:t>
            </a:r>
            <a:r>
              <a:rPr lang="vi-VN" sz="1200">
                <a:latin typeface="Times New Roman" panose="02020603050405020304" pitchFamily="18" charset="0"/>
                <a:cs typeface="Times New Roman" panose="02020603050405020304" pitchFamily="18" charset="0"/>
              </a:rPr>
              <a:t> chuẩn hóa dữ liệu, xử lý giá trị thiếu và chọn lọc các đặc trưng có ý nghĩa cho mô hình dự báo nguy cơ cháy. Đây là nguồn dữ liệu chính cho mô hình XGBoost.</a:t>
            </a:r>
            <a:endParaRPr lang="en-US" sz="120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027DB06E-52D2-CA2C-B024-68F8BF72A397}"/>
              </a:ext>
            </a:extLst>
          </p:cNvPr>
          <p:cNvSpPr txBox="1"/>
          <p:nvPr/>
        </p:nvSpPr>
        <p:spPr>
          <a:xfrm>
            <a:off x="4232924" y="3553513"/>
            <a:ext cx="3233397" cy="2552109"/>
          </a:xfrm>
          <a:prstGeom prst="rect">
            <a:avLst/>
          </a:prstGeom>
          <a:noFill/>
        </p:spPr>
        <p:txBody>
          <a:bodyPr wrap="square" rtlCol="0">
            <a:spAutoFit/>
          </a:bodyPr>
          <a:lstStyle/>
          <a:p>
            <a:pPr algn="just">
              <a:lnSpc>
                <a:spcPct val="150000"/>
              </a:lnSpc>
            </a:pPr>
            <a:r>
              <a:rPr lang="en-US" sz="1200" b="1">
                <a:latin typeface="Times New Roman" panose="02020603050405020304" pitchFamily="18" charset="0"/>
                <a:cs typeface="Times New Roman" panose="02020603050405020304" pitchFamily="18" charset="0"/>
              </a:rPr>
              <a:t>D</a:t>
            </a:r>
            <a:r>
              <a:rPr lang="vi-VN" sz="1200" b="1">
                <a:latin typeface="Times New Roman" panose="02020603050405020304" pitchFamily="18" charset="0"/>
                <a:cs typeface="Times New Roman" panose="02020603050405020304" pitchFamily="18" charset="0"/>
              </a:rPr>
              <a:t>ữ liệu không gian–thời gian</a:t>
            </a:r>
            <a:r>
              <a:rPr lang="vi-VN" sz="1200">
                <a:latin typeface="Times New Roman" panose="02020603050405020304" pitchFamily="18" charset="0"/>
                <a:cs typeface="Times New Roman" panose="02020603050405020304" pitchFamily="18" charset="0"/>
              </a:rPr>
              <a:t> từ ảnh vệ tinh nhiều thời điểm</a:t>
            </a:r>
            <a:r>
              <a:rPr lang="en-US" sz="1200">
                <a:latin typeface="Times New Roman" panose="02020603050405020304" pitchFamily="18" charset="0"/>
                <a:cs typeface="Times New Roman" panose="02020603050405020304" pitchFamily="18" charset="0"/>
              </a:rPr>
              <a:t> </a:t>
            </a:r>
            <a:r>
              <a:rPr lang="vi-VN" sz="1200">
                <a:latin typeface="Times New Roman" panose="02020603050405020304" pitchFamily="18" charset="0"/>
                <a:cs typeface="Times New Roman" panose="02020603050405020304" pitchFamily="18" charset="0"/>
              </a:rPr>
              <a:t>sử dụng cho mô hình ConvLSTM</a:t>
            </a:r>
            <a:r>
              <a:rPr lang="en-US" sz="1200">
                <a:latin typeface="Times New Roman" panose="02020603050405020304" pitchFamily="18" charset="0"/>
                <a:cs typeface="Times New Roman" panose="02020603050405020304" pitchFamily="18" charset="0"/>
              </a:rPr>
              <a:t> được thu thập </a:t>
            </a:r>
            <a:r>
              <a:rPr lang="vi-VN" sz="1200">
                <a:latin typeface="Times New Roman" panose="02020603050405020304" pitchFamily="18" charset="0"/>
                <a:cs typeface="Times New Roman" panose="02020603050405020304" pitchFamily="18" charset="0"/>
              </a:rPr>
              <a:t>từ các nền tảng viễn thám như MODIS, Landsat, Sentinel-2, thông qua Google Earth Engine. Quy trình tiền xử lý dự </a:t>
            </a:r>
            <a:r>
              <a:rPr lang="en-US" sz="1200">
                <a:latin typeface="Times New Roman" panose="02020603050405020304" pitchFamily="18" charset="0"/>
                <a:cs typeface="Times New Roman" panose="02020603050405020304" pitchFamily="18" charset="0"/>
              </a:rPr>
              <a:t>kiến gồm</a:t>
            </a:r>
            <a:r>
              <a:rPr lang="vi-VN" sz="1200">
                <a:latin typeface="Times New Roman" panose="02020603050405020304" pitchFamily="18" charset="0"/>
                <a:cs typeface="Times New Roman" panose="02020603050405020304" pitchFamily="18" charset="0"/>
              </a:rPr>
              <a:t> đồng bộ thời gian chụp, hiệu chỉnh không gian giữa các ảnh, chuyển đổi ảnh về định dạng phù hợp và tạo ra các chuỗi dữ liệu thể hiện sự biến đổi của thảm thực vật theo thời gian.</a:t>
            </a:r>
            <a:endParaRPr lang="en-US" sz="120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1B7D015C-6AD7-EDB5-D123-6DEC1B99F100}"/>
              </a:ext>
            </a:extLst>
          </p:cNvPr>
          <p:cNvSpPr txBox="1"/>
          <p:nvPr/>
        </p:nvSpPr>
        <p:spPr>
          <a:xfrm>
            <a:off x="7717935" y="3555478"/>
            <a:ext cx="3233397" cy="2275110"/>
          </a:xfrm>
          <a:prstGeom prst="rect">
            <a:avLst/>
          </a:prstGeom>
          <a:noFill/>
        </p:spPr>
        <p:txBody>
          <a:bodyPr wrap="square" rtlCol="0">
            <a:spAutoFit/>
          </a:bodyPr>
          <a:lstStyle/>
          <a:p>
            <a:pPr algn="just">
              <a:lnSpc>
                <a:spcPct val="150000"/>
              </a:lnSpc>
            </a:pPr>
            <a:r>
              <a:rPr lang="en-US" sz="1200" b="1">
                <a:latin typeface="Times New Roman" panose="02020603050405020304" pitchFamily="18" charset="0"/>
                <a:cs typeface="Times New Roman" panose="02020603050405020304" pitchFamily="18" charset="0"/>
              </a:rPr>
              <a:t>D</a:t>
            </a:r>
            <a:r>
              <a:rPr lang="vi-VN" sz="1200" b="1">
                <a:latin typeface="Times New Roman" panose="02020603050405020304" pitchFamily="18" charset="0"/>
                <a:cs typeface="Times New Roman" panose="02020603050405020304" pitchFamily="18" charset="0"/>
              </a:rPr>
              <a:t>ữ liệu hình ảnh</a:t>
            </a:r>
            <a:r>
              <a:rPr lang="vi-VN" sz="1200">
                <a:latin typeface="Times New Roman" panose="02020603050405020304" pitchFamily="18" charset="0"/>
                <a:cs typeface="Times New Roman" panose="02020603050405020304" pitchFamily="18" charset="0"/>
              </a:rPr>
              <a:t> từ ảnh vệ tinh độ phân giải cao</a:t>
            </a:r>
            <a:r>
              <a:rPr lang="en-US" sz="1200">
                <a:latin typeface="Times New Roman" panose="02020603050405020304" pitchFamily="18" charset="0"/>
                <a:cs typeface="Times New Roman" panose="02020603050405020304" pitchFamily="18" charset="0"/>
              </a:rPr>
              <a:t>, các bộ dữ liệu công khai (Kaggle, FireNet)</a:t>
            </a:r>
            <a:r>
              <a:rPr lang="vi-VN" sz="1200">
                <a:latin typeface="Times New Roman" panose="02020603050405020304" pitchFamily="18" charset="0"/>
                <a:cs typeface="Times New Roman" panose="02020603050405020304" pitchFamily="18" charset="0"/>
              </a:rPr>
              <a:t> sẽ phục vụ cho mô hình YOLO. </a:t>
            </a:r>
            <a:endParaRPr lang="en-US" sz="1200">
              <a:latin typeface="Times New Roman" panose="02020603050405020304" pitchFamily="18" charset="0"/>
              <a:cs typeface="Times New Roman" panose="02020603050405020304" pitchFamily="18" charset="0"/>
            </a:endParaRPr>
          </a:p>
          <a:p>
            <a:pPr algn="just">
              <a:lnSpc>
                <a:spcPct val="150000"/>
              </a:lnSpc>
            </a:pPr>
            <a:r>
              <a:rPr lang="vi-VN" sz="1200">
                <a:latin typeface="Times New Roman" panose="02020603050405020304" pitchFamily="18" charset="0"/>
                <a:cs typeface="Times New Roman" panose="02020603050405020304" pitchFamily="18" charset="0"/>
              </a:rPr>
              <a:t>Dữ liệu này sẽ trải qua các bước sàng lọc, gán nhãn đối tượng (cháy, khói…), đồng nhất kích thước ảnh và tăng cường dữ liệu ở mức cần thiết nhằm giúp mô hình học được nhiều tình huống khác nhau.</a:t>
            </a:r>
            <a:endParaRPr lang="en-US" sz="1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7820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ECC93-EDCF-4313-C8BB-3C4B9901A4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36F1B6-073E-09C1-95E3-6CB732B9F29B}"/>
              </a:ext>
            </a:extLst>
          </p:cNvPr>
          <p:cNvSpPr>
            <a:spLocks noGrp="1"/>
          </p:cNvSpPr>
          <p:nvPr>
            <p:ph type="title"/>
          </p:nvPr>
        </p:nvSpPr>
        <p:spPr>
          <a:xfrm>
            <a:off x="383175" y="835118"/>
            <a:ext cx="11123024" cy="554902"/>
          </a:xfrm>
        </p:spPr>
        <p:txBody>
          <a:bodyPr>
            <a:normAutofit/>
          </a:bodyPr>
          <a:lstStyle/>
          <a:p>
            <a:r>
              <a:rPr lang="en-US"/>
              <a:t>5. Đề xuất phương pháp</a:t>
            </a:r>
            <a:endParaRPr lang="en-US" sz="2800">
              <a:latin typeface="Montserrat Black" panose="00000A00000000000000" pitchFamily="50" charset="0"/>
            </a:endParaRPr>
          </a:p>
        </p:txBody>
      </p:sp>
      <p:sp>
        <p:nvSpPr>
          <p:cNvPr id="4" name="TextBox 3">
            <a:extLst>
              <a:ext uri="{FF2B5EF4-FFF2-40B4-BE49-F238E27FC236}">
                <a16:creationId xmlns:a16="http://schemas.microsoft.com/office/drawing/2014/main" id="{EC1A51CF-18ED-8D86-AAFB-6C09E47FA7A9}"/>
              </a:ext>
            </a:extLst>
          </p:cNvPr>
          <p:cNvSpPr txBox="1"/>
          <p:nvPr/>
        </p:nvSpPr>
        <p:spPr>
          <a:xfrm>
            <a:off x="507076" y="1629295"/>
            <a:ext cx="10665229" cy="4659224"/>
          </a:xfrm>
          <a:prstGeom prst="rect">
            <a:avLst/>
          </a:prstGeom>
          <a:noFill/>
        </p:spPr>
        <p:txBody>
          <a:bodyPr wrap="square" rtlCol="0">
            <a:spAutoFit/>
          </a:bodyPr>
          <a:lstStyle/>
          <a:p>
            <a:pPr algn="just">
              <a:lnSpc>
                <a:spcPct val="150000"/>
              </a:lnSpc>
            </a:pPr>
            <a:r>
              <a:rPr lang="en-US" b="1">
                <a:latin typeface="Times New Roman" panose="02020603050405020304" pitchFamily="18" charset="0"/>
                <a:cs typeface="Times New Roman" panose="02020603050405020304" pitchFamily="18" charset="0"/>
              </a:rPr>
              <a:t>Xây dựng mô hình:</a:t>
            </a:r>
          </a:p>
          <a:p>
            <a:pPr algn="just">
              <a:lnSpc>
                <a:spcPct val="150000"/>
              </a:lnSpc>
            </a:pPr>
            <a:r>
              <a:rPr lang="vi-VN" sz="1600">
                <a:latin typeface="Times New Roman" panose="02020603050405020304" pitchFamily="18" charset="0"/>
                <a:cs typeface="Times New Roman" panose="02020603050405020304" pitchFamily="18" charset="0"/>
              </a:rPr>
              <a:t>Việc xây dựng mô hình được triển khai theo ba hướng tương ứng với ba loại dữ liệu</a:t>
            </a:r>
            <a:r>
              <a:rPr lang="en-US" sz="160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vi-VN" sz="1600" b="1">
                <a:latin typeface="Times New Roman" panose="02020603050405020304" pitchFamily="18" charset="0"/>
                <a:cs typeface="Times New Roman" panose="02020603050405020304" pitchFamily="18" charset="0"/>
              </a:rPr>
              <a:t>XGBoost</a:t>
            </a:r>
            <a:r>
              <a:rPr lang="vi-VN" sz="1600">
                <a:latin typeface="Times New Roman" panose="02020603050405020304" pitchFamily="18" charset="0"/>
                <a:cs typeface="Times New Roman" panose="02020603050405020304" pitchFamily="18" charset="0"/>
              </a:rPr>
              <a:t> được sử dụng để dự báo nguy cơ cháy rừng từ dữ liệu dạng bảng, bao gồm các yếu tố khí tượng, độ ẩm đất, chỉ số thảm thực vật và địa hình. Quy trình xây dựng mô hình XGBoost bao gồm việc lựa chọn đặc trưng đầu vào, tiền xử lý dữ liệu, thiết lập tham số và huấn luyện mô hình trên tập dữ liệu lịch sử.</a:t>
            </a:r>
            <a:endParaRPr lang="en-US" sz="160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vi-VN" sz="1600" b="1">
                <a:latin typeface="Times New Roman" panose="02020603050405020304" pitchFamily="18" charset="0"/>
                <a:cs typeface="Times New Roman" panose="02020603050405020304" pitchFamily="18" charset="0"/>
              </a:rPr>
              <a:t>ConvLSTM</a:t>
            </a:r>
            <a:r>
              <a:rPr lang="vi-VN" sz="1600">
                <a:latin typeface="Times New Roman" panose="02020603050405020304" pitchFamily="18" charset="0"/>
                <a:cs typeface="Times New Roman" panose="02020603050405020304" pitchFamily="18" charset="0"/>
              </a:rPr>
              <a:t> được xây dựng để khai thác mối quan hệ không gian–thời gian từ chuỗi ảnh vệ tinh nhiều thời điểm. Kiến trúc ConvLSTM cho phép kết hợp khả năng trích xuất đặc trưng không gian của mạng tích chập và khả năng ghi nhớ diễn biến theo thời gian của mạng LSTM, qua đó mô hình hóa sự biến đổi của thảm thực vật và các yếu tố liên quan đến nguy cơ cháy rừng.</a:t>
            </a:r>
            <a:endParaRPr lang="en-US" sz="160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vi-VN" sz="1600" b="1">
                <a:latin typeface="Times New Roman" panose="02020603050405020304" pitchFamily="18" charset="0"/>
                <a:cs typeface="Times New Roman" panose="02020603050405020304" pitchFamily="18" charset="0"/>
              </a:rPr>
              <a:t>YOLO</a:t>
            </a:r>
            <a:r>
              <a:rPr lang="vi-VN" sz="1600">
                <a:latin typeface="Times New Roman" panose="02020603050405020304" pitchFamily="18" charset="0"/>
                <a:cs typeface="Times New Roman" panose="02020603050405020304" pitchFamily="18" charset="0"/>
              </a:rPr>
              <a:t> được xây dựng cho bài toán phát hiện cháy và khói từ dữ liệu hình ảnh. Mô hình này được huấn luyện trên các tập ảnh đã được gán nhãn nhằm học cách nhận diện nhanh và chính xác các đối tượng cháy rừng trong ảnh hoặc video, hướng tới khả năng phát hiện gần thời gian thực.</a:t>
            </a:r>
            <a:endParaRPr lang="en-US" sz="16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02049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D6CD4-018A-A895-062C-9B0A2751A6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4949C1-3754-C4BF-A763-D64416D4B2E3}"/>
              </a:ext>
            </a:extLst>
          </p:cNvPr>
          <p:cNvSpPr>
            <a:spLocks noGrp="1"/>
          </p:cNvSpPr>
          <p:nvPr>
            <p:ph type="title"/>
          </p:nvPr>
        </p:nvSpPr>
        <p:spPr>
          <a:xfrm>
            <a:off x="383175" y="835118"/>
            <a:ext cx="11123024" cy="554902"/>
          </a:xfrm>
        </p:spPr>
        <p:txBody>
          <a:bodyPr>
            <a:normAutofit/>
          </a:bodyPr>
          <a:lstStyle/>
          <a:p>
            <a:r>
              <a:rPr lang="en-US"/>
              <a:t>5. Đề xuất phương pháp</a:t>
            </a:r>
            <a:endParaRPr lang="en-US" sz="2800">
              <a:latin typeface="Montserrat Black" panose="00000A00000000000000" pitchFamily="50" charset="0"/>
            </a:endParaRPr>
          </a:p>
        </p:txBody>
      </p:sp>
      <p:sp>
        <p:nvSpPr>
          <p:cNvPr id="4" name="TextBox 3">
            <a:extLst>
              <a:ext uri="{FF2B5EF4-FFF2-40B4-BE49-F238E27FC236}">
                <a16:creationId xmlns:a16="http://schemas.microsoft.com/office/drawing/2014/main" id="{BAA49BE4-E10F-6467-649D-7D8802AABED6}"/>
              </a:ext>
            </a:extLst>
          </p:cNvPr>
          <p:cNvSpPr txBox="1"/>
          <p:nvPr/>
        </p:nvSpPr>
        <p:spPr>
          <a:xfrm>
            <a:off x="507077" y="1629295"/>
            <a:ext cx="10550564" cy="4365619"/>
          </a:xfrm>
          <a:prstGeom prst="rect">
            <a:avLst/>
          </a:prstGeom>
          <a:noFill/>
        </p:spPr>
        <p:txBody>
          <a:bodyPr wrap="square" rtlCol="0">
            <a:spAutoFit/>
          </a:bodyPr>
          <a:lstStyle/>
          <a:p>
            <a:pPr algn="just">
              <a:lnSpc>
                <a:spcPct val="150000"/>
              </a:lnSpc>
            </a:pPr>
            <a:r>
              <a:rPr lang="en-US" sz="2000" b="1">
                <a:latin typeface="Times New Roman" panose="02020603050405020304" pitchFamily="18" charset="0"/>
                <a:cs typeface="Times New Roman" panose="02020603050405020304" pitchFamily="18" charset="0"/>
              </a:rPr>
              <a:t>Mô phỏng và thực nghiệm:</a:t>
            </a:r>
          </a:p>
          <a:p>
            <a:pPr algn="just">
              <a:lnSpc>
                <a:spcPct val="150000"/>
              </a:lnSpc>
            </a:pPr>
            <a:r>
              <a:rPr lang="vi-VN">
                <a:latin typeface="+mj-lt"/>
              </a:rPr>
              <a:t>Sau khi các mô hình được xây dựng, quá trình mô phỏng và thực nghiệm được tiến hành nhằm đánh giá hiệu quả và độ tin cậy của từng mô hình. </a:t>
            </a:r>
            <a:endParaRPr lang="en-US">
              <a:latin typeface="+mj-lt"/>
              <a:cs typeface="Times New Roman" panose="02020603050405020304" pitchFamily="18" charset="0"/>
            </a:endParaRPr>
          </a:p>
          <a:p>
            <a:pPr marL="285750" indent="-285750" algn="just">
              <a:lnSpc>
                <a:spcPct val="150000"/>
              </a:lnSpc>
              <a:buFont typeface="Arial" panose="020B0604020202020204" pitchFamily="34" charset="0"/>
              <a:buChar char="•"/>
            </a:pPr>
            <a:r>
              <a:rPr lang="vi-VN">
                <a:latin typeface="Times New Roman" panose="02020603050405020304" pitchFamily="18" charset="0"/>
                <a:cs typeface="Times New Roman" panose="02020603050405020304" pitchFamily="18" charset="0"/>
              </a:rPr>
              <a:t>Mô hình </a:t>
            </a:r>
            <a:r>
              <a:rPr lang="vi-VN" b="1">
                <a:latin typeface="Times New Roman" panose="02020603050405020304" pitchFamily="18" charset="0"/>
                <a:cs typeface="Times New Roman" panose="02020603050405020304" pitchFamily="18" charset="0"/>
              </a:rPr>
              <a:t>XGBoost</a:t>
            </a:r>
            <a:r>
              <a:rPr lang="vi-VN">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được đánh giá</a:t>
            </a:r>
            <a:r>
              <a:rPr lang="vi-VN">
                <a:latin typeface="Times New Roman" panose="02020603050405020304" pitchFamily="18" charset="0"/>
                <a:cs typeface="Times New Roman" panose="02020603050405020304" pitchFamily="18" charset="0"/>
              </a:rPr>
              <a:t> dựa trên ma trận nhầm lẫn (confusion matrix) và các chỉ số dẫn xuất như Accuracy, Precision, Recall và F1-score trong bài toán phân loại nguy cơ cháy.</a:t>
            </a:r>
            <a:endParaRPr lang="en-US">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Mô hình</a:t>
            </a:r>
            <a:r>
              <a:rPr lang="en-US" b="1">
                <a:latin typeface="Times New Roman" panose="02020603050405020304" pitchFamily="18" charset="0"/>
                <a:cs typeface="Times New Roman" panose="02020603050405020304" pitchFamily="18" charset="0"/>
              </a:rPr>
              <a:t> </a:t>
            </a:r>
            <a:r>
              <a:rPr lang="vi-VN" b="1">
                <a:latin typeface="Times New Roman" panose="02020603050405020304" pitchFamily="18" charset="0"/>
                <a:cs typeface="Times New Roman" panose="02020603050405020304" pitchFamily="18" charset="0"/>
              </a:rPr>
              <a:t>ConvLSTM</a:t>
            </a:r>
            <a:r>
              <a:rPr lang="vi-VN">
                <a:latin typeface="Times New Roman" panose="02020603050405020304" pitchFamily="18" charset="0"/>
                <a:cs typeface="Times New Roman" panose="02020603050405020304" pitchFamily="18" charset="0"/>
              </a:rPr>
              <a:t> được đánh giá thông qua confusion matrix và các chỉ số Precision, Recall, F1-score khi thực hiện phân loại, hoặc bằng MAE và RMSE trong trường hợp dự báo giá trị liên tục theo không gian–thời gian.</a:t>
            </a:r>
            <a:endParaRPr lang="en-US">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Mô hình</a:t>
            </a:r>
            <a:r>
              <a:rPr lang="en-US" b="1">
                <a:latin typeface="Times New Roman" panose="02020603050405020304" pitchFamily="18" charset="0"/>
                <a:cs typeface="Times New Roman" panose="02020603050405020304" pitchFamily="18" charset="0"/>
              </a:rPr>
              <a:t> </a:t>
            </a:r>
            <a:r>
              <a:rPr lang="vi-VN" b="1">
                <a:latin typeface="Times New Roman" panose="02020603050405020304" pitchFamily="18" charset="0"/>
                <a:cs typeface="Times New Roman" panose="02020603050405020304" pitchFamily="18" charset="0"/>
              </a:rPr>
              <a:t>YOLO</a:t>
            </a:r>
            <a:r>
              <a:rPr lang="vi-VN">
                <a:latin typeface="Times New Roman" panose="02020603050405020304" pitchFamily="18" charset="0"/>
                <a:cs typeface="Times New Roman" panose="02020603050405020304" pitchFamily="18" charset="0"/>
              </a:rPr>
              <a:t> được đánh giá bằng confusion matrix cho bài toán phát hiện đối tượng cùng các chỉ số đặc thù như Precision, Recall và mAP nhằm đo lường khả năng phát hiện cháy và khói trên ảnh</a:t>
            </a:r>
            <a:r>
              <a:rPr lang="vi-VN" sz="2000">
                <a:latin typeface="Times New Roman" panose="02020603050405020304" pitchFamily="18" charset="0"/>
                <a:cs typeface="Times New Roman" panose="02020603050405020304" pitchFamily="18" charset="0"/>
              </a:rPr>
              <a:t>. </a:t>
            </a:r>
            <a:endParaRPr lang="en-US"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46614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98781-AE9C-E82F-ACA4-895E6F955D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816E77-81BF-395A-75A7-0B149EDE5310}"/>
              </a:ext>
            </a:extLst>
          </p:cNvPr>
          <p:cNvSpPr>
            <a:spLocks noGrp="1"/>
          </p:cNvSpPr>
          <p:nvPr>
            <p:ph type="title"/>
          </p:nvPr>
        </p:nvSpPr>
        <p:spPr>
          <a:xfrm>
            <a:off x="383175" y="835118"/>
            <a:ext cx="11123024" cy="554902"/>
          </a:xfrm>
        </p:spPr>
        <p:txBody>
          <a:bodyPr>
            <a:normAutofit/>
          </a:bodyPr>
          <a:lstStyle/>
          <a:p>
            <a:r>
              <a:rPr lang="en-US"/>
              <a:t>Kết luận</a:t>
            </a:r>
            <a:endParaRPr lang="en-US" sz="2800">
              <a:latin typeface="Montserrat Black" panose="00000A00000000000000" pitchFamily="50" charset="0"/>
            </a:endParaRPr>
          </a:p>
        </p:txBody>
      </p:sp>
      <p:sp>
        <p:nvSpPr>
          <p:cNvPr id="4" name="TextBox 3">
            <a:extLst>
              <a:ext uri="{FF2B5EF4-FFF2-40B4-BE49-F238E27FC236}">
                <a16:creationId xmlns:a16="http://schemas.microsoft.com/office/drawing/2014/main" id="{79F46695-1AA0-A901-FD23-5E7B02C073B1}"/>
              </a:ext>
            </a:extLst>
          </p:cNvPr>
          <p:cNvSpPr txBox="1"/>
          <p:nvPr/>
        </p:nvSpPr>
        <p:spPr>
          <a:xfrm>
            <a:off x="507076" y="1629295"/>
            <a:ext cx="10665229" cy="337188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vi-VN">
                <a:latin typeface="+mj-lt"/>
              </a:rPr>
              <a:t>Đề tài đã xây dựng và thử nghiệm mô hình cảnh báo cháy rừng dựa trên dữ liệu môi trường, ảnh viễn thám và thông tin lịch sử cháy. Qua quá trình tiền xử lý, lựa chọn đặc trưng và mô phỏng trên bộ dữ liệu mẫu, mô hình cho thấy khả năng nhận diện nguy cơ cháy rừng ở mức chấp nhận được, phù hợp với yêu cầu ban đầu của đề tài.</a:t>
            </a:r>
            <a:endParaRPr lang="en-US">
              <a:latin typeface="+mj-lt"/>
            </a:endParaRPr>
          </a:p>
          <a:p>
            <a:pPr marL="285750" indent="-285750">
              <a:lnSpc>
                <a:spcPct val="150000"/>
              </a:lnSpc>
              <a:buFont typeface="Arial" panose="020B0604020202020204" pitchFamily="34" charset="0"/>
              <a:buChar char="•"/>
            </a:pPr>
            <a:r>
              <a:rPr lang="vi-VN">
                <a:latin typeface="+mj-lt"/>
              </a:rPr>
              <a:t>Kết quả đạt được khẳng định rằng việc kết hợp dữ liệu đa nguồn cùng các thuật toán học máy có thể hỗ trợ hiệu quả cho công tác dự báo cháy rừng, đặc biệt trong bối cảnh nhu cầu cảnh báo sớm ngày càng tăng.</a:t>
            </a:r>
            <a:endParaRPr lang="en-US">
              <a:latin typeface="+mj-lt"/>
            </a:endParaRPr>
          </a:p>
          <a:p>
            <a:pPr marL="285750" indent="-285750">
              <a:lnSpc>
                <a:spcPct val="150000"/>
              </a:lnSpc>
              <a:buFont typeface="Arial" panose="020B0604020202020204" pitchFamily="34" charset="0"/>
              <a:buChar char="•"/>
            </a:pPr>
            <a:r>
              <a:rPr lang="vi-VN">
                <a:latin typeface="+mj-lt"/>
              </a:rPr>
              <a:t>Tuy nhiên, mô hình vẫn còn một số hạn chế liên quan đến quy mô dữ liệu thử nghiệm, độ phân giải ảnh và mức độ đa dạng điều kiện thời tiết. Đây là nền tảng để tiếp tục cải thiện trong các nghiên cứu tiếp theo.</a:t>
            </a:r>
            <a:endParaRPr lang="en-US">
              <a:latin typeface="+mj-lt"/>
            </a:endParaRPr>
          </a:p>
        </p:txBody>
      </p:sp>
    </p:spTree>
    <p:extLst>
      <p:ext uri="{BB962C8B-B14F-4D97-AF65-F5344CB8AC3E}">
        <p14:creationId xmlns:p14="http://schemas.microsoft.com/office/powerpoint/2010/main" val="2936782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CFF80-7D64-3A19-F55E-99A75E72FC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EEA843-EDAF-2AFE-303C-C628300EC915}"/>
              </a:ext>
            </a:extLst>
          </p:cNvPr>
          <p:cNvSpPr>
            <a:spLocks noGrp="1"/>
          </p:cNvSpPr>
          <p:nvPr>
            <p:ph type="title"/>
          </p:nvPr>
        </p:nvSpPr>
        <p:spPr>
          <a:xfrm>
            <a:off x="383175" y="835118"/>
            <a:ext cx="11123024" cy="554902"/>
          </a:xfrm>
        </p:spPr>
        <p:txBody>
          <a:bodyPr>
            <a:normAutofit/>
          </a:bodyPr>
          <a:lstStyle/>
          <a:p>
            <a:r>
              <a:rPr lang="en-US"/>
              <a:t>Timeline</a:t>
            </a:r>
            <a:endParaRPr lang="en-US" sz="2800">
              <a:latin typeface="Montserrat Black" panose="00000A00000000000000" pitchFamily="50" charset="0"/>
            </a:endParaRPr>
          </a:p>
        </p:txBody>
      </p:sp>
      <p:pic>
        <p:nvPicPr>
          <p:cNvPr id="7" name="Picture 6">
            <a:extLst>
              <a:ext uri="{FF2B5EF4-FFF2-40B4-BE49-F238E27FC236}">
                <a16:creationId xmlns:a16="http://schemas.microsoft.com/office/drawing/2014/main" id="{E26BAC34-9285-347E-8448-82B5767448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2144" y="1390020"/>
            <a:ext cx="9825086" cy="4814496"/>
          </a:xfrm>
          <a:prstGeom prst="rect">
            <a:avLst/>
          </a:prstGeom>
        </p:spPr>
      </p:pic>
    </p:spTree>
    <p:extLst>
      <p:ext uri="{BB962C8B-B14F-4D97-AF65-F5344CB8AC3E}">
        <p14:creationId xmlns:p14="http://schemas.microsoft.com/office/powerpoint/2010/main" val="30530431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F90E5-2DF9-FB16-5070-F26F406C37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78B98B-7CAE-0740-1CBD-BF5E5314F6EC}"/>
              </a:ext>
            </a:extLst>
          </p:cNvPr>
          <p:cNvSpPr>
            <a:spLocks noGrp="1"/>
          </p:cNvSpPr>
          <p:nvPr>
            <p:ph type="title"/>
          </p:nvPr>
        </p:nvSpPr>
        <p:spPr>
          <a:xfrm>
            <a:off x="383175" y="835118"/>
            <a:ext cx="11123024" cy="554902"/>
          </a:xfrm>
        </p:spPr>
        <p:txBody>
          <a:bodyPr>
            <a:normAutofit/>
          </a:bodyPr>
          <a:lstStyle/>
          <a:p>
            <a:r>
              <a:rPr lang="en-US"/>
              <a:t>Tài liệu tham khảo</a:t>
            </a:r>
            <a:endParaRPr lang="en-US" sz="2800">
              <a:latin typeface="Montserrat Black" panose="00000A00000000000000" pitchFamily="50" charset="0"/>
            </a:endParaRPr>
          </a:p>
        </p:txBody>
      </p:sp>
      <p:sp>
        <p:nvSpPr>
          <p:cNvPr id="4" name="TextBox 3">
            <a:extLst>
              <a:ext uri="{FF2B5EF4-FFF2-40B4-BE49-F238E27FC236}">
                <a16:creationId xmlns:a16="http://schemas.microsoft.com/office/drawing/2014/main" id="{705A5F07-2527-9086-55F7-7AD0C116F6AB}"/>
              </a:ext>
            </a:extLst>
          </p:cNvPr>
          <p:cNvSpPr txBox="1"/>
          <p:nvPr/>
        </p:nvSpPr>
        <p:spPr>
          <a:xfrm>
            <a:off x="507076" y="1629295"/>
            <a:ext cx="10665229" cy="3366563"/>
          </a:xfrm>
          <a:prstGeom prst="rect">
            <a:avLst/>
          </a:prstGeom>
          <a:noFill/>
        </p:spPr>
        <p:txBody>
          <a:bodyPr wrap="square" rtlCol="0">
            <a:spAutoFit/>
          </a:bodyPr>
          <a:lstStyle/>
          <a:p>
            <a:pPr>
              <a:lnSpc>
                <a:spcPct val="150000"/>
              </a:lnSpc>
            </a:pPr>
            <a:r>
              <a:rPr lang="en-US">
                <a:latin typeface="Times New Roman" panose="02020603050405020304" pitchFamily="18" charset="0"/>
                <a:cs typeface="Times New Roman" panose="02020603050405020304" pitchFamily="18" charset="0"/>
              </a:rPr>
              <a:t>[1] </a:t>
            </a:r>
            <a:r>
              <a:rPr lang="vi-VN">
                <a:latin typeface="Times New Roman" panose="02020603050405020304" pitchFamily="18" charset="0"/>
                <a:cs typeface="Times New Roman" panose="02020603050405020304" pitchFamily="18" charset="0"/>
              </a:rPr>
              <a:t>Lưu Thế Anh et al.</a:t>
            </a:r>
            <a:r>
              <a:rPr lang="en-US">
                <a:latin typeface="Times New Roman" panose="02020603050405020304" pitchFamily="18" charset="0"/>
                <a:cs typeface="Times New Roman" panose="02020603050405020304" pitchFamily="18" charset="0"/>
              </a:rPr>
              <a:t> (2023)</a:t>
            </a:r>
            <a:r>
              <a:rPr lang="vi-VN">
                <a:latin typeface="Times New Roman" panose="02020603050405020304" pitchFamily="18" charset="0"/>
                <a:cs typeface="Times New Roman" panose="02020603050405020304" pitchFamily="18" charset="0"/>
              </a:rPr>
              <a:t>, </a:t>
            </a:r>
            <a:r>
              <a:rPr lang="vi-VN" i="1">
                <a:latin typeface="Times New Roman" panose="02020603050405020304" pitchFamily="18" charset="0"/>
                <a:cs typeface="Times New Roman" panose="02020603050405020304" pitchFamily="18" charset="0"/>
              </a:rPr>
              <a:t>Application of Remote Sensing Imagery and GIS in Establishment of Forest Fire Hazard Map in Daklak Province</a:t>
            </a:r>
            <a:r>
              <a:rPr lang="vi-VN">
                <a:latin typeface="Times New Roman" panose="02020603050405020304" pitchFamily="18" charset="0"/>
                <a:cs typeface="Times New Roman" panose="02020603050405020304" pitchFamily="18" charset="0"/>
              </a:rPr>
              <a:t>. </a:t>
            </a:r>
            <a:endParaRPr lang="en-US">
              <a:latin typeface="Times New Roman" panose="02020603050405020304" pitchFamily="18" charset="0"/>
              <a:cs typeface="Times New Roman" panose="02020603050405020304" pitchFamily="18" charset="0"/>
            </a:endParaRPr>
          </a:p>
          <a:p>
            <a:pPr>
              <a:lnSpc>
                <a:spcPct val="150000"/>
              </a:lnSpc>
            </a:pPr>
            <a:r>
              <a:rPr lang="en-US">
                <a:latin typeface="Times New Roman" panose="02020603050405020304" pitchFamily="18" charset="0"/>
                <a:cs typeface="Times New Roman" panose="02020603050405020304" pitchFamily="18" charset="0"/>
              </a:rPr>
              <a:t>[2] Kondylatos, S., et al. (2022). </a:t>
            </a:r>
            <a:r>
              <a:rPr lang="en-US" i="1">
                <a:latin typeface="Times New Roman" panose="02020603050405020304" pitchFamily="18" charset="0"/>
                <a:cs typeface="Times New Roman" panose="02020603050405020304" pitchFamily="18" charset="0"/>
              </a:rPr>
              <a:t>Wildfire Danger Prediction and Understanding With Deep Learning</a:t>
            </a:r>
            <a:r>
              <a:rPr lang="en-US">
                <a:latin typeface="Times New Roman" panose="02020603050405020304" pitchFamily="18" charset="0"/>
                <a:cs typeface="Times New Roman" panose="02020603050405020304" pitchFamily="18" charset="0"/>
              </a:rPr>
              <a:t>. Geophysical Research Letters. </a:t>
            </a:r>
          </a:p>
          <a:p>
            <a:pPr>
              <a:lnSpc>
                <a:spcPct val="150000"/>
              </a:lnSpc>
            </a:pPr>
            <a:r>
              <a:rPr lang="en-US">
                <a:latin typeface="Times New Roman" panose="02020603050405020304" pitchFamily="18" charset="0"/>
                <a:cs typeface="Times New Roman" panose="02020603050405020304" pitchFamily="18" charset="0"/>
              </a:rPr>
              <a:t>[3] Xu, Z., Li, J., Cheng, S., Rui, X., Zhao, Y., He, H., &amp; Xu, L. (2025). </a:t>
            </a:r>
            <a:r>
              <a:rPr lang="en-US" i="1">
                <a:latin typeface="Times New Roman" panose="02020603050405020304" pitchFamily="18" charset="0"/>
                <a:cs typeface="Times New Roman" panose="02020603050405020304" pitchFamily="18" charset="0"/>
              </a:rPr>
              <a:t>Deep learning for wildfire risk prediction: Integrating remote sensing and environmental data</a:t>
            </a:r>
            <a:r>
              <a:rPr lang="en-US">
                <a:latin typeface="Times New Roman" panose="02020603050405020304" pitchFamily="18" charset="0"/>
                <a:cs typeface="Times New Roman" panose="02020603050405020304" pitchFamily="18" charset="0"/>
              </a:rPr>
              <a:t>. ISPRS Journal of Photogrammetry and Remote Sensing.</a:t>
            </a:r>
            <a:r>
              <a:rPr lang="vi-VN" u="sng">
                <a:latin typeface="Times New Roman" panose="02020603050405020304" pitchFamily="18" charset="0"/>
                <a:cs typeface="Times New Roman" panose="02020603050405020304" pitchFamily="18" charset="0"/>
                <a:hlinkClick r:id="rId3"/>
              </a:rPr>
              <a:t> </a:t>
            </a:r>
            <a:endParaRPr lang="en-US" u="sng">
              <a:latin typeface="Times New Roman" panose="02020603050405020304" pitchFamily="18" charset="0"/>
              <a:cs typeface="Times New Roman" panose="02020603050405020304" pitchFamily="18" charset="0"/>
            </a:endParaRPr>
          </a:p>
          <a:p>
            <a:pPr>
              <a:lnSpc>
                <a:spcPct val="150000"/>
              </a:lnSpc>
            </a:pPr>
            <a:r>
              <a:rPr lang="en-US">
                <a:latin typeface="Times New Roman" panose="02020603050405020304" pitchFamily="18" charset="0"/>
                <a:cs typeface="Times New Roman" panose="02020603050405020304" pitchFamily="18" charset="0"/>
              </a:rPr>
              <a:t>[4] Singh, H., Ang, L.-M., &amp; Srivastava, S. K. (2025). </a:t>
            </a:r>
            <a:r>
              <a:rPr lang="en-US" i="1">
                <a:latin typeface="Times New Roman" panose="02020603050405020304" pitchFamily="18" charset="0"/>
                <a:cs typeface="Times New Roman" panose="02020603050405020304" pitchFamily="18" charset="0"/>
              </a:rPr>
              <a:t>Active wildfire detection via satellite imagery and machine learning: an empirical investigation of Australian wildfires</a:t>
            </a:r>
            <a:r>
              <a:rPr lang="en-US">
                <a:latin typeface="Times New Roman" panose="02020603050405020304" pitchFamily="18" charset="0"/>
                <a:cs typeface="Times New Roman" panose="02020603050405020304" pitchFamily="18" charset="0"/>
              </a:rPr>
              <a:t>. Natural Hazards.</a:t>
            </a:r>
            <a:r>
              <a:rPr lang="en-US" u="sng">
                <a:latin typeface="Times New Roman" panose="02020603050405020304" pitchFamily="18" charset="0"/>
                <a:cs typeface="Times New Roman" panose="02020603050405020304" pitchFamily="18" charset="0"/>
                <a:hlinkClick r:id="rId4"/>
              </a:rPr>
              <a:t> </a:t>
            </a: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2406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Trân trọng cảm ơn!</a:t>
            </a:r>
          </a:p>
        </p:txBody>
      </p:sp>
      <p:pic>
        <p:nvPicPr>
          <p:cNvPr id="3" name="Picture 2">
            <a:extLst>
              <a:ext uri="{FF2B5EF4-FFF2-40B4-BE49-F238E27FC236}">
                <a16:creationId xmlns:a16="http://schemas.microsoft.com/office/drawing/2014/main" id="{B12E27E2-F665-40D1-8A15-722CD75E9792}"/>
              </a:ext>
            </a:extLst>
          </p:cNvPr>
          <p:cNvPicPr>
            <a:picLocks noChangeAspect="1"/>
          </p:cNvPicPr>
          <p:nvPr/>
        </p:nvPicPr>
        <p:blipFill>
          <a:blip r:embed="rId2"/>
          <a:stretch>
            <a:fillRect/>
          </a:stretch>
        </p:blipFill>
        <p:spPr>
          <a:xfrm>
            <a:off x="83256" y="0"/>
            <a:ext cx="748594" cy="869244"/>
          </a:xfrm>
          <a:prstGeom prst="rect">
            <a:avLst/>
          </a:prstGeom>
        </p:spPr>
      </p:pic>
    </p:spTree>
    <p:extLst>
      <p:ext uri="{BB962C8B-B14F-4D97-AF65-F5344CB8AC3E}">
        <p14:creationId xmlns:p14="http://schemas.microsoft.com/office/powerpoint/2010/main" val="169771780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UUID" val="{11D965E7-D29C-4338-BF51-882690D79B0F}"/>
  <p:tag name="ISPRING_RESOURCE_FOLDER" val="C:\Users\Phanh\Desktop\Slide HV\"/>
  <p:tag name="ISPRING_PRESENTATION_PATH" val="C:\Users\Phanh\Desktop\Slide HV.pptx"/>
  <p:tag name="ISPRING_PROJECT_VERSION" val="9.3"/>
  <p:tag name="ISPRING_PROJECT_FOLDER_UPDATED" val="1"/>
  <p:tag name="ISPRING_SCREEN_RECS_UPDATED" val="C:\Users\Phanh\Desktop\Slide HV\"/>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14276</TotalTime>
  <Words>2575</Words>
  <Application>Microsoft Office PowerPoint</Application>
  <PresentationFormat>Widescreen</PresentationFormat>
  <Paragraphs>157</Paragraphs>
  <Slides>15</Slides>
  <Notes>13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15</vt:i4>
      </vt:variant>
    </vt:vector>
  </HeadingPairs>
  <TitlesOfParts>
    <vt:vector size="24" baseType="lpstr">
      <vt:lpstr>Montserrat Black</vt:lpstr>
      <vt:lpstr>Montserrat</vt:lpstr>
      <vt:lpstr>Wingdings</vt:lpstr>
      <vt:lpstr>Arial</vt:lpstr>
      <vt:lpstr>Calibri</vt:lpstr>
      <vt:lpstr>Times New Roman</vt:lpstr>
      <vt:lpstr>Calibri Light</vt:lpstr>
      <vt:lpstr>Office Theme</vt:lpstr>
      <vt:lpstr>Custom Design</vt:lpstr>
      <vt:lpstr>PowerPoint Presentation</vt:lpstr>
      <vt:lpstr>1. Lý do chọn đề tài</vt:lpstr>
      <vt:lpstr>2. Mục tiêu nghiên cứu</vt:lpstr>
      <vt:lpstr>3. Đối tượng và phạm vi nghiên cứu</vt:lpstr>
      <vt:lpstr>4. Cơ sở lý thuyết</vt:lpstr>
      <vt:lpstr>4. Cơ sở lý thuyết</vt:lpstr>
      <vt:lpstr>4. Cơ sở lý thuyết</vt:lpstr>
      <vt:lpstr>5. Đề xuất phương pháp</vt:lpstr>
      <vt:lpstr>5. Đề xuất phương pháp</vt:lpstr>
      <vt:lpstr>5. Đề xuất phương pháp</vt:lpstr>
      <vt:lpstr>5. Đề xuất phương pháp</vt:lpstr>
      <vt:lpstr>Kết luận</vt:lpstr>
      <vt:lpstr>Timeline</vt:lpstr>
      <vt:lpstr>Tài liệu tham khảo</vt:lpstr>
      <vt:lpstr>Trân trọng cảm ơn!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Phanh</dc:creator>
  <cp:lastModifiedBy>Đông Nguyễn</cp:lastModifiedBy>
  <cp:revision>281</cp:revision>
  <dcterms:created xsi:type="dcterms:W3CDTF">2024-10-10T09:46:29Z</dcterms:created>
  <dcterms:modified xsi:type="dcterms:W3CDTF">2026-01-12T17:14:55Z</dcterms:modified>
</cp:coreProperties>
</file>