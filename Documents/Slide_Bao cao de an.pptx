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4" r:id="rId2"/>
  </p:sldMasterIdLst>
  <p:notesMasterIdLst>
    <p:notesMasterId r:id="rId19"/>
  </p:notesMasterIdLst>
  <p:sldIdLst>
    <p:sldId id="276" r:id="rId3"/>
    <p:sldId id="306" r:id="rId4"/>
    <p:sldId id="307" r:id="rId5"/>
    <p:sldId id="308" r:id="rId6"/>
    <p:sldId id="309" r:id="rId7"/>
    <p:sldId id="310" r:id="rId8"/>
    <p:sldId id="311" r:id="rId9"/>
    <p:sldId id="312" r:id="rId10"/>
    <p:sldId id="313" r:id="rId11"/>
    <p:sldId id="314" r:id="rId12"/>
    <p:sldId id="315" r:id="rId13"/>
    <p:sldId id="317" r:id="rId14"/>
    <p:sldId id="319" r:id="rId15"/>
    <p:sldId id="316" r:id="rId16"/>
    <p:sldId id="318" r:id="rId17"/>
    <p:sldId id="286" r:id="rId18"/>
  </p:sldIdLst>
  <p:sldSz cx="12192000" cy="6858000"/>
  <p:notesSz cx="6858000" cy="9144000"/>
  <p:embeddedFontLst>
    <p:embeddedFont>
      <p:font typeface="Montserrat" panose="00000500000000000000" pitchFamily="2" charset="0"/>
      <p:regular r:id="rId20"/>
      <p:bold r:id="rId21"/>
      <p:italic r:id="rId22"/>
      <p:boldItalic r:id="rId23"/>
    </p:embeddedFont>
    <p:embeddedFont>
      <p:font typeface="Montserrat Black" panose="00000A00000000000000" pitchFamily="2" charset="0"/>
      <p:bold r:id="rId24"/>
      <p:italic r:id="rId25"/>
      <p:boldItalic r:id="rId26"/>
    </p:embeddedFont>
    <p:embeddedFont>
      <p:font typeface="Roboto" panose="02000000000000000000" pitchFamily="2" charset="0"/>
      <p:regular r:id="rId27"/>
      <p:bold r:id="rId28"/>
      <p:italic r:id="rId29"/>
      <p:boldItalic r:id="rId30"/>
    </p:embeddedFont>
    <p:embeddedFont>
      <p:font typeface="Trebuchet MS" panose="020B0603020202020204" pitchFamily="34" charset="0"/>
      <p:regular r:id="rId31"/>
      <p:bold r:id="rId32"/>
      <p:italic r:id="rId33"/>
      <p:boldItalic r:id="rId34"/>
    </p:embeddedFont>
  </p:embeddedFontLst>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33CC33"/>
    <a:srgbClr val="C00000"/>
    <a:srgbClr val="CC00FF"/>
    <a:srgbClr val="E890D7"/>
    <a:srgbClr val="BB2025"/>
    <a:srgbClr val="3399F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14" autoAdjust="0"/>
    <p:restoredTop sz="94707" autoAdjust="0"/>
  </p:normalViewPr>
  <p:slideViewPr>
    <p:cSldViewPr snapToGrid="0">
      <p:cViewPr varScale="1">
        <p:scale>
          <a:sx n="81" d="100"/>
          <a:sy n="81" d="100"/>
        </p:scale>
        <p:origin x="1224" y="53"/>
      </p:cViewPr>
      <p:guideLst/>
    </p:cSldViewPr>
  </p:slideViewPr>
  <p:notesTextViewPr>
    <p:cViewPr>
      <p:scale>
        <a:sx n="3" d="2"/>
        <a:sy n="3" d="2"/>
      </p:scale>
      <p:origin x="0" y="0"/>
    </p:cViewPr>
  </p:notesTextViewPr>
  <p:notesViewPr>
    <p:cSldViewPr snapToGrid="0">
      <p:cViewPr varScale="1">
        <p:scale>
          <a:sx n="88" d="100"/>
          <a:sy n="88" d="100"/>
        </p:scale>
        <p:origin x="3822"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CF054-6379-4867-A3D8-742D726B596D}" type="datetimeFigureOut">
              <a:rPr lang="en-US" smtClean="0"/>
              <a:t>08-Jun-26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D4208E-E87E-42A8-9817-0F85E86B242A}" type="slidenum">
              <a:rPr lang="en-US" smtClean="0"/>
              <a:t>‹#›</a:t>
            </a:fld>
            <a:endParaRPr lang="en-US"/>
          </a:p>
        </p:txBody>
      </p:sp>
    </p:spTree>
    <p:extLst>
      <p:ext uri="{BB962C8B-B14F-4D97-AF65-F5344CB8AC3E}">
        <p14:creationId xmlns:p14="http://schemas.microsoft.com/office/powerpoint/2010/main" val="2498331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2ADDA-C590-9000-3AF9-49C784F87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CF89E-1193-E377-C1FA-CBE724393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6765C-70BA-8DBC-DDE6-793BD57BA6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BCA42A-A359-8754-D92E-57968DD8A419}"/>
              </a:ext>
            </a:extLst>
          </p:cNvPr>
          <p:cNvSpPr>
            <a:spLocks noGrp="1"/>
          </p:cNvSpPr>
          <p:nvPr>
            <p:ph type="sldNum" sz="quarter" idx="10"/>
          </p:nvPr>
        </p:nvSpPr>
        <p:spPr/>
        <p:txBody>
          <a:bodyPr/>
          <a:lstStyle/>
          <a:p>
            <a:fld id="{61D4208E-E87E-42A8-9817-0F85E86B242A}" type="slidenum">
              <a:rPr lang="en-US" smtClean="0"/>
              <a:t>2</a:t>
            </a:fld>
            <a:endParaRPr lang="en-US"/>
          </a:p>
        </p:txBody>
      </p:sp>
    </p:spTree>
    <p:extLst>
      <p:ext uri="{BB962C8B-B14F-4D97-AF65-F5344CB8AC3E}">
        <p14:creationId xmlns:p14="http://schemas.microsoft.com/office/powerpoint/2010/main" val="4209098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CEDE6-DBB0-9F2E-C9EB-10C19C1EE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124CA-C5EB-54B2-BCED-B72355B96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45D99-AE60-266F-FD18-841CFE2CCD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9A464A-366D-0322-C661-42E5149FE717}"/>
              </a:ext>
            </a:extLst>
          </p:cNvPr>
          <p:cNvSpPr>
            <a:spLocks noGrp="1"/>
          </p:cNvSpPr>
          <p:nvPr>
            <p:ph type="sldNum" sz="quarter" idx="10"/>
          </p:nvPr>
        </p:nvSpPr>
        <p:spPr/>
        <p:txBody>
          <a:bodyPr/>
          <a:lstStyle/>
          <a:p>
            <a:fld id="{61D4208E-E87E-42A8-9817-0F85E86B242A}" type="slidenum">
              <a:rPr lang="en-US" smtClean="0"/>
              <a:t>3</a:t>
            </a:fld>
            <a:endParaRPr lang="en-US"/>
          </a:p>
        </p:txBody>
      </p:sp>
    </p:spTree>
    <p:extLst>
      <p:ext uri="{BB962C8B-B14F-4D97-AF65-F5344CB8AC3E}">
        <p14:creationId xmlns:p14="http://schemas.microsoft.com/office/powerpoint/2010/main" val="215642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C6B2B-D12D-DEF9-78E1-D64CBC7DC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1B841-41E4-32E9-7CA9-8523AC737B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65390-0C5E-342A-3C38-23CAABD44D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890D95-EDA4-4840-63C5-4CE455519AD2}"/>
              </a:ext>
            </a:extLst>
          </p:cNvPr>
          <p:cNvSpPr>
            <a:spLocks noGrp="1"/>
          </p:cNvSpPr>
          <p:nvPr>
            <p:ph type="sldNum" sz="quarter" idx="10"/>
          </p:nvPr>
        </p:nvSpPr>
        <p:spPr/>
        <p:txBody>
          <a:bodyPr/>
          <a:lstStyle/>
          <a:p>
            <a:fld id="{61D4208E-E87E-42A8-9817-0F85E86B242A}" type="slidenum">
              <a:rPr lang="en-US" smtClean="0"/>
              <a:t>4</a:t>
            </a:fld>
            <a:endParaRPr lang="en-US"/>
          </a:p>
        </p:txBody>
      </p:sp>
    </p:spTree>
    <p:extLst>
      <p:ext uri="{BB962C8B-B14F-4D97-AF65-F5344CB8AC3E}">
        <p14:creationId xmlns:p14="http://schemas.microsoft.com/office/powerpoint/2010/main" val="229342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7968-E550-94A6-F175-FEE942B20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99A6F-31B1-1160-AAB7-56D7B5C346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0979E-C0F4-A3A1-86D1-1100165751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3D9E11-20E2-252F-EC53-26376D658427}"/>
              </a:ext>
            </a:extLst>
          </p:cNvPr>
          <p:cNvSpPr>
            <a:spLocks noGrp="1"/>
          </p:cNvSpPr>
          <p:nvPr>
            <p:ph type="sldNum" sz="quarter" idx="10"/>
          </p:nvPr>
        </p:nvSpPr>
        <p:spPr/>
        <p:txBody>
          <a:bodyPr/>
          <a:lstStyle/>
          <a:p>
            <a:fld id="{61D4208E-E87E-42A8-9817-0F85E86B242A}" type="slidenum">
              <a:rPr lang="en-US" smtClean="0"/>
              <a:t>5</a:t>
            </a:fld>
            <a:endParaRPr lang="en-US"/>
          </a:p>
        </p:txBody>
      </p:sp>
    </p:spTree>
    <p:extLst>
      <p:ext uri="{BB962C8B-B14F-4D97-AF65-F5344CB8AC3E}">
        <p14:creationId xmlns:p14="http://schemas.microsoft.com/office/powerpoint/2010/main" val="345503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DD481-7F81-97FF-0113-0B3FF25888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70384-3AC6-B038-EA80-CBE9D686B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A4428-E0BB-605C-0B49-B6FD9DF849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1952B3-9EDD-604D-D95C-362678B633F7}"/>
              </a:ext>
            </a:extLst>
          </p:cNvPr>
          <p:cNvSpPr>
            <a:spLocks noGrp="1"/>
          </p:cNvSpPr>
          <p:nvPr>
            <p:ph type="sldNum" sz="quarter" idx="10"/>
          </p:nvPr>
        </p:nvSpPr>
        <p:spPr/>
        <p:txBody>
          <a:bodyPr/>
          <a:lstStyle/>
          <a:p>
            <a:fld id="{61D4208E-E87E-42A8-9817-0F85E86B242A}" type="slidenum">
              <a:rPr lang="en-US" smtClean="0"/>
              <a:t>6</a:t>
            </a:fld>
            <a:endParaRPr lang="en-US"/>
          </a:p>
        </p:txBody>
      </p:sp>
    </p:spTree>
    <p:extLst>
      <p:ext uri="{BB962C8B-B14F-4D97-AF65-F5344CB8AC3E}">
        <p14:creationId xmlns:p14="http://schemas.microsoft.com/office/powerpoint/2010/main" val="4254302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9A52B-3C66-8D42-221A-8B07F2E99C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0A233-786D-AB5C-ED75-FFB0B7D539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4C3AC-0932-3127-9362-C9052D165E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EC7E12-9312-9B7E-A30C-F101EDB8DEFA}"/>
              </a:ext>
            </a:extLst>
          </p:cNvPr>
          <p:cNvSpPr>
            <a:spLocks noGrp="1"/>
          </p:cNvSpPr>
          <p:nvPr>
            <p:ph type="sldNum" sz="quarter" idx="10"/>
          </p:nvPr>
        </p:nvSpPr>
        <p:spPr/>
        <p:txBody>
          <a:bodyPr/>
          <a:lstStyle/>
          <a:p>
            <a:fld id="{61D4208E-E87E-42A8-9817-0F85E86B242A}" type="slidenum">
              <a:rPr lang="en-US" smtClean="0"/>
              <a:t>7</a:t>
            </a:fld>
            <a:endParaRPr lang="en-US"/>
          </a:p>
        </p:txBody>
      </p:sp>
    </p:spTree>
    <p:extLst>
      <p:ext uri="{BB962C8B-B14F-4D97-AF65-F5344CB8AC3E}">
        <p14:creationId xmlns:p14="http://schemas.microsoft.com/office/powerpoint/2010/main" val="2717123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22186-6723-6FA2-E9CE-7CB4D4A6D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49CBFE-700D-9CE2-518A-11F0958E9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01A4A-AC34-1A1F-9108-AFDA24331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A398934-C0E3-C32A-EB4E-47D69EC9D61C}"/>
              </a:ext>
            </a:extLst>
          </p:cNvPr>
          <p:cNvSpPr>
            <a:spLocks noGrp="1"/>
          </p:cNvSpPr>
          <p:nvPr>
            <p:ph type="sldNum" sz="quarter" idx="10"/>
          </p:nvPr>
        </p:nvSpPr>
        <p:spPr/>
        <p:txBody>
          <a:bodyPr/>
          <a:lstStyle/>
          <a:p>
            <a:fld id="{61D4208E-E87E-42A8-9817-0F85E86B242A}" type="slidenum">
              <a:rPr lang="en-US" smtClean="0"/>
              <a:t>8</a:t>
            </a:fld>
            <a:endParaRPr lang="en-US"/>
          </a:p>
        </p:txBody>
      </p:sp>
    </p:spTree>
    <p:extLst>
      <p:ext uri="{BB962C8B-B14F-4D97-AF65-F5344CB8AC3E}">
        <p14:creationId xmlns:p14="http://schemas.microsoft.com/office/powerpoint/2010/main" val="1163151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A29BC-FE6B-338A-81E6-D161260C9E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C48063-0002-7082-382C-79DF060542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63DFF-F489-4A09-DC7C-CAA3297B18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9F3532D-4DA9-6EEB-D98F-7B37A48055FA}"/>
              </a:ext>
            </a:extLst>
          </p:cNvPr>
          <p:cNvSpPr>
            <a:spLocks noGrp="1"/>
          </p:cNvSpPr>
          <p:nvPr>
            <p:ph type="sldNum" sz="quarter" idx="10"/>
          </p:nvPr>
        </p:nvSpPr>
        <p:spPr/>
        <p:txBody>
          <a:bodyPr/>
          <a:lstStyle/>
          <a:p>
            <a:fld id="{61D4208E-E87E-42A8-9817-0F85E86B242A}" type="slidenum">
              <a:rPr lang="en-US" smtClean="0"/>
              <a:t>9</a:t>
            </a:fld>
            <a:endParaRPr lang="en-US"/>
          </a:p>
        </p:txBody>
      </p:sp>
    </p:spTree>
    <p:extLst>
      <p:ext uri="{BB962C8B-B14F-4D97-AF65-F5344CB8AC3E}">
        <p14:creationId xmlns:p14="http://schemas.microsoft.com/office/powerpoint/2010/main" val="4235508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57E1F-3EEE-D966-CAA0-9783687C29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1E581-49B2-14E8-5584-CFD69752E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B48E8-1ADB-ED95-4993-A9FEC01C81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BE6E38-8CAD-B9FA-4D81-27A3FD35E114}"/>
              </a:ext>
            </a:extLst>
          </p:cNvPr>
          <p:cNvSpPr>
            <a:spLocks noGrp="1"/>
          </p:cNvSpPr>
          <p:nvPr>
            <p:ph type="sldNum" sz="quarter" idx="10"/>
          </p:nvPr>
        </p:nvSpPr>
        <p:spPr/>
        <p:txBody>
          <a:bodyPr/>
          <a:lstStyle/>
          <a:p>
            <a:fld id="{61D4208E-E87E-42A8-9817-0F85E86B242A}" type="slidenum">
              <a:rPr lang="en-US" smtClean="0"/>
              <a:t>10</a:t>
            </a:fld>
            <a:endParaRPr lang="en-US"/>
          </a:p>
        </p:txBody>
      </p:sp>
    </p:spTree>
    <p:extLst>
      <p:ext uri="{BB962C8B-B14F-4D97-AF65-F5344CB8AC3E}">
        <p14:creationId xmlns:p14="http://schemas.microsoft.com/office/powerpoint/2010/main" val="1521540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70863-6B57-2AB7-98F9-49DF5AA45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7CD25-E99B-892B-92A3-EAD771FC2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7175D-663F-C5CE-8362-D1B749893E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CF925E-8822-7854-84D8-05218CDD2C7D}"/>
              </a:ext>
            </a:extLst>
          </p:cNvPr>
          <p:cNvSpPr>
            <a:spLocks noGrp="1"/>
          </p:cNvSpPr>
          <p:nvPr>
            <p:ph type="sldNum" sz="quarter" idx="10"/>
          </p:nvPr>
        </p:nvSpPr>
        <p:spPr/>
        <p:txBody>
          <a:bodyPr/>
          <a:lstStyle/>
          <a:p>
            <a:fld id="{61D4208E-E87E-42A8-9817-0F85E86B242A}" type="slidenum">
              <a:rPr lang="en-US" smtClean="0"/>
              <a:t>11</a:t>
            </a:fld>
            <a:endParaRPr lang="en-US"/>
          </a:p>
        </p:txBody>
      </p:sp>
    </p:spTree>
    <p:extLst>
      <p:ext uri="{BB962C8B-B14F-4D97-AF65-F5344CB8AC3E}">
        <p14:creationId xmlns:p14="http://schemas.microsoft.com/office/powerpoint/2010/main" val="268267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8FB89-24F1-C63B-0562-F777E1F47D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B8550-9ADD-B952-B0C6-45A83E41E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B0E711-B400-99A1-B28A-A9160AE02C4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AFB028-4304-AD94-CA56-905BDBAAC9D7}"/>
              </a:ext>
            </a:extLst>
          </p:cNvPr>
          <p:cNvSpPr>
            <a:spLocks noGrp="1"/>
          </p:cNvSpPr>
          <p:nvPr>
            <p:ph type="sldNum" sz="quarter" idx="10"/>
          </p:nvPr>
        </p:nvSpPr>
        <p:spPr/>
        <p:txBody>
          <a:bodyPr/>
          <a:lstStyle/>
          <a:p>
            <a:fld id="{61D4208E-E87E-42A8-9817-0F85E86B242A}" type="slidenum">
              <a:rPr lang="en-US" smtClean="0"/>
              <a:t>12</a:t>
            </a:fld>
            <a:endParaRPr lang="en-US"/>
          </a:p>
        </p:txBody>
      </p:sp>
    </p:spTree>
    <p:extLst>
      <p:ext uri="{BB962C8B-B14F-4D97-AF65-F5344CB8AC3E}">
        <p14:creationId xmlns:p14="http://schemas.microsoft.com/office/powerpoint/2010/main" val="3628350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F634C-86A1-F831-8203-16616C667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5E242-2217-2195-35A1-AEE7BA039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E9B73-3C3E-BE9D-FD00-213D21A39E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4BD7710-1A22-C94A-0DA4-FE3D44127B74}"/>
              </a:ext>
            </a:extLst>
          </p:cNvPr>
          <p:cNvSpPr>
            <a:spLocks noGrp="1"/>
          </p:cNvSpPr>
          <p:nvPr>
            <p:ph type="sldNum" sz="quarter" idx="10"/>
          </p:nvPr>
        </p:nvSpPr>
        <p:spPr/>
        <p:txBody>
          <a:bodyPr/>
          <a:lstStyle/>
          <a:p>
            <a:fld id="{61D4208E-E87E-42A8-9817-0F85E86B242A}" type="slidenum">
              <a:rPr lang="en-US" smtClean="0"/>
              <a:t>13</a:t>
            </a:fld>
            <a:endParaRPr lang="en-US"/>
          </a:p>
        </p:txBody>
      </p:sp>
    </p:spTree>
    <p:extLst>
      <p:ext uri="{BB962C8B-B14F-4D97-AF65-F5344CB8AC3E}">
        <p14:creationId xmlns:p14="http://schemas.microsoft.com/office/powerpoint/2010/main" val="1397763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CE957-41D0-5AE8-D324-7BA9C6ABE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04E555-ABD9-D76A-0E42-1D8892FC3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6E83C-4794-5EEC-0B2C-29B64AA20A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25B5A-6251-1FC2-43AC-396F5C41392C}"/>
              </a:ext>
            </a:extLst>
          </p:cNvPr>
          <p:cNvSpPr>
            <a:spLocks noGrp="1"/>
          </p:cNvSpPr>
          <p:nvPr>
            <p:ph type="sldNum" sz="quarter" idx="10"/>
          </p:nvPr>
        </p:nvSpPr>
        <p:spPr/>
        <p:txBody>
          <a:bodyPr/>
          <a:lstStyle/>
          <a:p>
            <a:fld id="{61D4208E-E87E-42A8-9817-0F85E86B242A}" type="slidenum">
              <a:rPr lang="en-US" smtClean="0"/>
              <a:t>14</a:t>
            </a:fld>
            <a:endParaRPr lang="en-US"/>
          </a:p>
        </p:txBody>
      </p:sp>
    </p:spTree>
    <p:extLst>
      <p:ext uri="{BB962C8B-B14F-4D97-AF65-F5344CB8AC3E}">
        <p14:creationId xmlns:p14="http://schemas.microsoft.com/office/powerpoint/2010/main" val="433618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80BA9-39F8-67CF-93A1-D037963D2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342B8-9439-FEA1-FD3A-C3DA42488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412D3C-9134-5C9E-3242-76D2540851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01933C-906D-8B48-D029-54BA18278EA9}"/>
              </a:ext>
            </a:extLst>
          </p:cNvPr>
          <p:cNvSpPr>
            <a:spLocks noGrp="1"/>
          </p:cNvSpPr>
          <p:nvPr>
            <p:ph type="sldNum" sz="quarter" idx="10"/>
          </p:nvPr>
        </p:nvSpPr>
        <p:spPr/>
        <p:txBody>
          <a:bodyPr/>
          <a:lstStyle/>
          <a:p>
            <a:fld id="{61D4208E-E87E-42A8-9817-0F85E86B242A}" type="slidenum">
              <a:rPr lang="en-US" smtClean="0"/>
              <a:t>15</a:t>
            </a:fld>
            <a:endParaRPr lang="en-US"/>
          </a:p>
        </p:txBody>
      </p:sp>
    </p:spTree>
    <p:extLst>
      <p:ext uri="{BB962C8B-B14F-4D97-AF65-F5344CB8AC3E}">
        <p14:creationId xmlns:p14="http://schemas.microsoft.com/office/powerpoint/2010/main" val="14107353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2" name="Title 1"/>
          <p:cNvSpPr>
            <a:spLocks noGrp="1"/>
          </p:cNvSpPr>
          <p:nvPr>
            <p:ph type="ctrTitle"/>
          </p:nvPr>
        </p:nvSpPr>
        <p:spPr>
          <a:xfrm>
            <a:off x="994063" y="2035538"/>
            <a:ext cx="7573162" cy="1371599"/>
          </a:xfrm>
        </p:spPr>
        <p:txBody>
          <a:bodyPr anchor="b">
            <a:normAutofit/>
          </a:bodyPr>
          <a:lstStyle>
            <a:lvl1pPr algn="l">
              <a:defRPr sz="4400" b="1">
                <a:solidFill>
                  <a:srgbClr val="C00000"/>
                </a:solidFill>
                <a:latin typeface="Montserrat Black" panose="00000A00000000000000" pitchFamily="50" charset="0"/>
              </a:defRPr>
            </a:lvl1pPr>
          </a:lstStyle>
          <a:p>
            <a:r>
              <a:rPr lang="en-US" dirty="0"/>
              <a:t>Click to edit Master title style</a:t>
            </a:r>
          </a:p>
        </p:txBody>
      </p:sp>
      <p:sp>
        <p:nvSpPr>
          <p:cNvPr id="3" name="Subtitle 2"/>
          <p:cNvSpPr>
            <a:spLocks noGrp="1"/>
          </p:cNvSpPr>
          <p:nvPr>
            <p:ph type="subTitle" idx="1" hasCustomPrompt="1"/>
          </p:nvPr>
        </p:nvSpPr>
        <p:spPr>
          <a:xfrm>
            <a:off x="994063" y="1411721"/>
            <a:ext cx="7308273" cy="417802"/>
          </a:xfrm>
        </p:spPr>
        <p:txBody>
          <a:bodyPr/>
          <a:lstStyle>
            <a:lvl1pPr marL="0" indent="0" algn="l">
              <a:buNone/>
              <a:defRPr sz="2400" b="1">
                <a:solidFill>
                  <a:schemeClr val="tx1">
                    <a:lumMod val="75000"/>
                    <a:lumOff val="25000"/>
                  </a:schemeClr>
                </a:solidFill>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5" name="Group 4">
            <a:extLst>
              <a:ext uri="{FF2B5EF4-FFF2-40B4-BE49-F238E27FC236}">
                <a16:creationId xmlns:a16="http://schemas.microsoft.com/office/drawing/2014/main" id="{52E113E7-2D3B-3E98-63FF-01937BA325AF}"/>
              </a:ext>
            </a:extLst>
          </p:cNvPr>
          <p:cNvGrpSpPr/>
          <p:nvPr userDrawn="1"/>
        </p:nvGrpSpPr>
        <p:grpSpPr>
          <a:xfrm>
            <a:off x="146236" y="126065"/>
            <a:ext cx="1236911" cy="652027"/>
            <a:chOff x="1319183" y="2905809"/>
            <a:chExt cx="3753380" cy="1978564"/>
          </a:xfrm>
        </p:grpSpPr>
        <p:pic>
          <p:nvPicPr>
            <p:cNvPr id="6" name="Picture 5">
              <a:extLst>
                <a:ext uri="{FF2B5EF4-FFF2-40B4-BE49-F238E27FC236}">
                  <a16:creationId xmlns:a16="http://schemas.microsoft.com/office/drawing/2014/main" id="{F72AF624-D91D-258D-5029-3E745024582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8534" t="13609" r="15991" b="11112"/>
            <a:stretch/>
          </p:blipFill>
          <p:spPr>
            <a:xfrm>
              <a:off x="3351674" y="2905809"/>
              <a:ext cx="1720889" cy="1978564"/>
            </a:xfrm>
            <a:prstGeom prst="rect">
              <a:avLst/>
            </a:prstGeom>
          </p:spPr>
        </p:pic>
        <p:pic>
          <p:nvPicPr>
            <p:cNvPr id="7" name="Picture 2" descr="Chức năng và cơ cấu tổ chức mới của Bộ Khoa học và Công">
              <a:extLst>
                <a:ext uri="{FF2B5EF4-FFF2-40B4-BE49-F238E27FC236}">
                  <a16:creationId xmlns:a16="http://schemas.microsoft.com/office/drawing/2014/main" id="{B7AFF62B-9AAC-9119-62B7-F2724B22B6D1}"/>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319183" y="2905809"/>
              <a:ext cx="2032491" cy="191293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13434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2792" y="168998"/>
            <a:ext cx="7329054" cy="766184"/>
          </a:xfrm>
        </p:spPr>
        <p:txBody>
          <a:bodyPr>
            <a:normAutofit/>
          </a:bodyPr>
          <a:lstStyle>
            <a:lvl1pPr>
              <a:defRPr sz="2800" b="1">
                <a:solidFill>
                  <a:srgbClr val="C00000"/>
                </a:solidFill>
                <a:latin typeface="Montserrat Black" panose="00000A00000000000000" pitchFamily="50" charset="0"/>
              </a:defRPr>
            </a:lvl1pPr>
          </a:lstStyle>
          <a:p>
            <a:r>
              <a:rPr lang="en-US" dirty="0"/>
              <a:t>Click to edit Master title style</a:t>
            </a:r>
          </a:p>
        </p:txBody>
      </p:sp>
      <p:sp>
        <p:nvSpPr>
          <p:cNvPr id="3" name="Content Placeholder 2"/>
          <p:cNvSpPr>
            <a:spLocks noGrp="1"/>
          </p:cNvSpPr>
          <p:nvPr>
            <p:ph idx="1"/>
          </p:nvPr>
        </p:nvSpPr>
        <p:spPr>
          <a:xfrm>
            <a:off x="162791" y="1129434"/>
            <a:ext cx="11714017" cy="4351338"/>
          </a:xfrm>
        </p:spPr>
        <p:txBody>
          <a:bodyPr/>
          <a:lstStyle>
            <a:lvl1pPr>
              <a:defRPr>
                <a:latin typeface="Roboto" panose="02000000000000000000" pitchFamily="2" charset="0"/>
                <a:ea typeface="Roboto" panose="02000000000000000000" pitchFamily="2" charset="0"/>
              </a:defRPr>
            </a:lvl1pPr>
            <a:lvl2pPr>
              <a:defRPr>
                <a:latin typeface="Roboto" panose="02000000000000000000" pitchFamily="2" charset="0"/>
                <a:ea typeface="Roboto" panose="02000000000000000000" pitchFamily="2" charset="0"/>
              </a:defRPr>
            </a:lvl2pPr>
            <a:lvl3pPr>
              <a:defRPr>
                <a:latin typeface="Roboto" panose="02000000000000000000" pitchFamily="2" charset="0"/>
                <a:ea typeface="Roboto" panose="02000000000000000000" pitchFamily="2" charset="0"/>
              </a:defRPr>
            </a:lvl3pPr>
            <a:lvl4pPr>
              <a:defRPr>
                <a:latin typeface="Roboto" panose="02000000000000000000" pitchFamily="2" charset="0"/>
                <a:ea typeface="Roboto" panose="02000000000000000000" pitchFamily="2" charset="0"/>
              </a:defRPr>
            </a:lvl4pPr>
            <a:lvl5pP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1156252" y="6348847"/>
            <a:ext cx="2743200" cy="365125"/>
          </a:xfrm>
        </p:spPr>
        <p:txBody>
          <a:bodyPr/>
          <a:lstStyle/>
          <a:p>
            <a:fld id="{9C567215-7C29-4132-833E-BA43A394FAD0}" type="datetimeFigureOut">
              <a:rPr lang="en-US" smtClean="0"/>
              <a:t>08-Jun-26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userDrawn="1"/>
        </p:nvSpPr>
        <p:spPr>
          <a:xfrm>
            <a:off x="0" y="6303128"/>
            <a:ext cx="11353800" cy="45719"/>
          </a:xfrm>
          <a:prstGeom prst="rect">
            <a:avLst/>
          </a:prstGeom>
          <a:solidFill>
            <a:srgbClr val="BB2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5"/>
          <p:cNvSpPr>
            <a:spLocks noGrp="1"/>
          </p:cNvSpPr>
          <p:nvPr>
            <p:ph type="sldNum" sz="quarter" idx="12"/>
          </p:nvPr>
        </p:nvSpPr>
        <p:spPr>
          <a:xfrm>
            <a:off x="10900064" y="6303128"/>
            <a:ext cx="453735" cy="418347"/>
          </a:xfrm>
          <a:solidFill>
            <a:srgbClr val="BB2025"/>
          </a:solidFill>
          <a:ln>
            <a:noFill/>
          </a:ln>
        </p:spPr>
        <p:txBody>
          <a:bodyPr/>
          <a:lstStyle>
            <a:lvl1pPr>
              <a:defRPr b="1">
                <a:solidFill>
                  <a:schemeClr val="bg1"/>
                </a:solidFill>
              </a:defRPr>
            </a:lvl1pPr>
          </a:lstStyle>
          <a:p>
            <a:fld id="{853E3903-0777-4E83-A7C8-92B121E4D226}" type="slidenum">
              <a:rPr lang="en-US" smtClean="0"/>
              <a:pPr/>
              <a:t>‹#›</a:t>
            </a:fld>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10330039" y="794504"/>
            <a:ext cx="3036202" cy="1001740"/>
          </a:xfrm>
          <a:prstGeom prst="rect">
            <a:avLst/>
          </a:prstGeom>
        </p:spPr>
      </p:pic>
      <p:grpSp>
        <p:nvGrpSpPr>
          <p:cNvPr id="13" name="Group 12">
            <a:extLst>
              <a:ext uri="{FF2B5EF4-FFF2-40B4-BE49-F238E27FC236}">
                <a16:creationId xmlns:a16="http://schemas.microsoft.com/office/drawing/2014/main" id="{47666B99-B63A-0B99-7F0F-EF15812AAF2E}"/>
              </a:ext>
            </a:extLst>
          </p:cNvPr>
          <p:cNvGrpSpPr/>
          <p:nvPr userDrawn="1"/>
        </p:nvGrpSpPr>
        <p:grpSpPr>
          <a:xfrm>
            <a:off x="146237" y="6421722"/>
            <a:ext cx="739765" cy="389961"/>
            <a:chOff x="1319183" y="2905809"/>
            <a:chExt cx="3753380" cy="1978564"/>
          </a:xfrm>
        </p:grpSpPr>
        <p:pic>
          <p:nvPicPr>
            <p:cNvPr id="11" name="Picture 10">
              <a:extLst>
                <a:ext uri="{FF2B5EF4-FFF2-40B4-BE49-F238E27FC236}">
                  <a16:creationId xmlns:a16="http://schemas.microsoft.com/office/drawing/2014/main" id="{BFF34145-DE6F-BA7D-B60E-F535B0E0651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8534" t="13609" r="15991" b="11112"/>
            <a:stretch/>
          </p:blipFill>
          <p:spPr>
            <a:xfrm>
              <a:off x="3351674" y="2905809"/>
              <a:ext cx="1720889" cy="1978564"/>
            </a:xfrm>
            <a:prstGeom prst="rect">
              <a:avLst/>
            </a:prstGeom>
          </p:spPr>
        </p:pic>
        <p:pic>
          <p:nvPicPr>
            <p:cNvPr id="1026" name="Picture 2" descr="Chức năng và cơ cấu tổ chức mới của Bộ Khoa học và Công">
              <a:extLst>
                <a:ext uri="{FF2B5EF4-FFF2-40B4-BE49-F238E27FC236}">
                  <a16:creationId xmlns:a16="http://schemas.microsoft.com/office/drawing/2014/main" id="{8B9619AA-6128-24C4-C056-EDADF7042668}"/>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319183" y="2905809"/>
              <a:ext cx="2032491" cy="191293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38163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67215-7C29-4132-833E-BA43A394FAD0}" type="datetimeFigureOut">
              <a:rPr lang="en-US" smtClean="0"/>
              <a:t>08-Jun-26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userDrawn="1"/>
        </p:nvSpPr>
        <p:spPr>
          <a:xfrm>
            <a:off x="0" y="6303128"/>
            <a:ext cx="11353800" cy="45719"/>
          </a:xfrm>
          <a:prstGeom prst="rect">
            <a:avLst/>
          </a:prstGeom>
          <a:solidFill>
            <a:srgbClr val="BB2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967" y="6413498"/>
            <a:ext cx="800283" cy="387439"/>
          </a:xfrm>
          <a:prstGeom prst="rect">
            <a:avLst/>
          </a:prstGeom>
        </p:spPr>
      </p:pic>
    </p:spTree>
    <p:extLst>
      <p:ext uri="{BB962C8B-B14F-4D97-AF65-F5344CB8AC3E}">
        <p14:creationId xmlns:p14="http://schemas.microsoft.com/office/powerpoint/2010/main" val="1975577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1417182"/>
          </a:xfrm>
        </p:spPr>
        <p:txBody>
          <a:bodyPr anchor="b">
            <a:normAutofit/>
          </a:bodyPr>
          <a:lstStyle>
            <a:lvl1pPr algn="ctr">
              <a:defRPr sz="4000" b="1">
                <a:solidFill>
                  <a:srgbClr val="C00000"/>
                </a:solidFill>
                <a:latin typeface="Montserrat" panose="00000500000000000000" pitchFamily="50" charset="0"/>
              </a:defRPr>
            </a:lvl1pPr>
          </a:lstStyle>
          <a:p>
            <a:r>
              <a:rPr lang="en-US" dirty="0"/>
              <a:t>Click to edit Master title style</a:t>
            </a:r>
          </a:p>
        </p:txBody>
      </p:sp>
      <p:sp>
        <p:nvSpPr>
          <p:cNvPr id="3" name="Text Placeholder 2"/>
          <p:cNvSpPr>
            <a:spLocks noGrp="1"/>
          </p:cNvSpPr>
          <p:nvPr>
            <p:ph type="body" idx="1"/>
          </p:nvPr>
        </p:nvSpPr>
        <p:spPr>
          <a:xfrm>
            <a:off x="831850" y="3413807"/>
            <a:ext cx="10515600" cy="570366"/>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C567215-7C29-4132-833E-BA43A394FAD0}" type="datetimeFigureOut">
              <a:rPr lang="en-US" smtClean="0"/>
              <a:t>08-Jun-26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3E3903-0777-4E83-A7C8-92B121E4D226}" type="slidenum">
              <a:rPr lang="en-US" smtClean="0"/>
              <a:t>‹#›</a:t>
            </a:fld>
            <a:endParaRPr lang="en-US"/>
          </a:p>
        </p:txBody>
      </p:sp>
      <p:sp>
        <p:nvSpPr>
          <p:cNvPr id="7" name="Slide Number Placeholder 5"/>
          <p:cNvSpPr txBox="1">
            <a:spLocks/>
          </p:cNvSpPr>
          <p:nvPr userDrawn="1"/>
        </p:nvSpPr>
        <p:spPr>
          <a:xfrm>
            <a:off x="10900064" y="6303128"/>
            <a:ext cx="453735" cy="418347"/>
          </a:xfrm>
          <a:prstGeom prst="rect">
            <a:avLst/>
          </a:prstGeom>
          <a:solidFill>
            <a:srgbClr val="BB2025"/>
          </a:solid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3E3903-0777-4E83-A7C8-92B121E4D226}" type="slidenum">
              <a:rPr lang="en-US" smtClean="0"/>
              <a:pPr/>
              <a:t>‹#›</a:t>
            </a:fld>
            <a:endParaRPr lang="en-US"/>
          </a:p>
        </p:txBody>
      </p:sp>
      <p:sp>
        <p:nvSpPr>
          <p:cNvPr id="9" name="Rectangle 8"/>
          <p:cNvSpPr/>
          <p:nvPr userDrawn="1"/>
        </p:nvSpPr>
        <p:spPr>
          <a:xfrm>
            <a:off x="0" y="6303128"/>
            <a:ext cx="11353800" cy="45719"/>
          </a:xfrm>
          <a:prstGeom prst="rect">
            <a:avLst/>
          </a:prstGeom>
          <a:solidFill>
            <a:srgbClr val="BB20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967" y="6413498"/>
            <a:ext cx="800283" cy="387439"/>
          </a:xfrm>
          <a:prstGeom prst="rect">
            <a:avLst/>
          </a:prstGeom>
        </p:spPr>
      </p:pic>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4967" y="126255"/>
            <a:ext cx="933633" cy="451997"/>
          </a:xfrm>
          <a:prstGeom prst="rect">
            <a:avLst/>
          </a:prstGeom>
        </p:spPr>
      </p:pic>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5002755"/>
            <a:ext cx="12466864" cy="2032814"/>
          </a:xfrm>
          <a:prstGeom prst="rect">
            <a:avLst/>
          </a:prstGeom>
        </p:spPr>
      </p:pic>
      <p:grpSp>
        <p:nvGrpSpPr>
          <p:cNvPr id="8" name="Group 7">
            <a:extLst>
              <a:ext uri="{FF2B5EF4-FFF2-40B4-BE49-F238E27FC236}">
                <a16:creationId xmlns:a16="http://schemas.microsoft.com/office/drawing/2014/main" id="{BA2F55D4-8A76-28C8-4099-980A9740B62B}"/>
              </a:ext>
            </a:extLst>
          </p:cNvPr>
          <p:cNvGrpSpPr/>
          <p:nvPr userDrawn="1"/>
        </p:nvGrpSpPr>
        <p:grpSpPr>
          <a:xfrm>
            <a:off x="146236" y="126065"/>
            <a:ext cx="1236911" cy="652027"/>
            <a:chOff x="1319183" y="2905809"/>
            <a:chExt cx="3753380" cy="1978564"/>
          </a:xfrm>
        </p:grpSpPr>
        <p:pic>
          <p:nvPicPr>
            <p:cNvPr id="11" name="Picture 10">
              <a:extLst>
                <a:ext uri="{FF2B5EF4-FFF2-40B4-BE49-F238E27FC236}">
                  <a16:creationId xmlns:a16="http://schemas.microsoft.com/office/drawing/2014/main" id="{4C88F699-7B36-73B6-69F1-C234BB328C6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l="18534" t="13609" r="15991" b="11112"/>
            <a:stretch/>
          </p:blipFill>
          <p:spPr>
            <a:xfrm>
              <a:off x="3351674" y="2905809"/>
              <a:ext cx="1720889" cy="1978564"/>
            </a:xfrm>
            <a:prstGeom prst="rect">
              <a:avLst/>
            </a:prstGeom>
          </p:spPr>
        </p:pic>
        <p:pic>
          <p:nvPicPr>
            <p:cNvPr id="14" name="Picture 2" descr="Chức năng và cơ cấu tổ chức mới của Bộ Khoa học và Công">
              <a:extLst>
                <a:ext uri="{FF2B5EF4-FFF2-40B4-BE49-F238E27FC236}">
                  <a16:creationId xmlns:a16="http://schemas.microsoft.com/office/drawing/2014/main" id="{9C7A0374-4EFF-C03A-D961-F55320BE54B4}"/>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319183" y="2905809"/>
              <a:ext cx="2032491" cy="191293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740949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4_Title Slide">
  <p:cSld name="14_Title Slide">
    <p:spTree>
      <p:nvGrpSpPr>
        <p:cNvPr id="1" name="Shape 13"/>
        <p:cNvGrpSpPr/>
        <p:nvPr/>
      </p:nvGrpSpPr>
      <p:grpSpPr>
        <a:xfrm>
          <a:off x="0" y="0"/>
          <a:ext cx="0" cy="0"/>
          <a:chOff x="0" y="0"/>
          <a:chExt cx="0" cy="0"/>
        </a:xfrm>
      </p:grpSpPr>
      <p:sp>
        <p:nvSpPr>
          <p:cNvPr id="14" name="Google Shape;14;p25"/>
          <p:cNvSpPr>
            <a:spLocks noGrp="1"/>
          </p:cNvSpPr>
          <p:nvPr>
            <p:ph type="pic" idx="2"/>
          </p:nvPr>
        </p:nvSpPr>
        <p:spPr>
          <a:xfrm>
            <a:off x="7891576" y="0"/>
            <a:ext cx="4101639" cy="6857999"/>
          </a:xfrm>
          <a:prstGeom prst="rect">
            <a:avLst/>
          </a:prstGeom>
          <a:solidFill>
            <a:schemeClr val="lt1"/>
          </a:solidFill>
          <a:ln>
            <a:noFill/>
          </a:ln>
        </p:spPr>
      </p:sp>
    </p:spTree>
    <p:extLst>
      <p:ext uri="{BB962C8B-B14F-4D97-AF65-F5344CB8AC3E}">
        <p14:creationId xmlns:p14="http://schemas.microsoft.com/office/powerpoint/2010/main" val="37330255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567215-7C29-4132-833E-BA43A394FAD0}" type="datetimeFigureOut">
              <a:rPr lang="en-US" smtClean="0"/>
              <a:t>08-Jun-26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3E3903-0777-4E83-A7C8-92B121E4D226}" type="slidenum">
              <a:rPr lang="en-US" smtClean="0"/>
              <a:t>‹#›</a:t>
            </a:fld>
            <a:endParaRPr lang="en-US"/>
          </a:p>
        </p:txBody>
      </p:sp>
      <p:sp>
        <p:nvSpPr>
          <p:cNvPr id="8" name="Slide Number Placeholder 5"/>
          <p:cNvSpPr txBox="1">
            <a:spLocks/>
          </p:cNvSpPr>
          <p:nvPr userDrawn="1"/>
        </p:nvSpPr>
        <p:spPr>
          <a:xfrm>
            <a:off x="10900064" y="6303128"/>
            <a:ext cx="453735" cy="418347"/>
          </a:xfrm>
          <a:prstGeom prst="rect">
            <a:avLst/>
          </a:prstGeom>
          <a:solidFill>
            <a:srgbClr val="BB2025"/>
          </a:solidFill>
          <a:ln>
            <a:noFill/>
          </a:ln>
        </p:spPr>
        <p:txBody>
          <a:bodyPr vert="horz" lIns="91440" tIns="45720" rIns="91440" bIns="45720" rtlCol="0" anchor="ctr"/>
          <a:lstStyle>
            <a:defPPr>
              <a:defRPr lang="en-US"/>
            </a:defPPr>
            <a:lvl1pPr marL="0" algn="r" defTabSz="914400" rtl="0" eaLnBrk="1" latinLnBrk="0" hangingPunct="1">
              <a:defRPr sz="12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3E3903-0777-4E83-A7C8-92B121E4D226}" type="slidenum">
              <a:rPr lang="en-US" smtClean="0"/>
              <a:pPr/>
              <a:t>‹#›</a:t>
            </a:fld>
            <a:endParaRPr lang="en-US" dirty="0"/>
          </a:p>
        </p:txBody>
      </p:sp>
    </p:spTree>
    <p:extLst>
      <p:ext uri="{BB962C8B-B14F-4D97-AF65-F5344CB8AC3E}">
        <p14:creationId xmlns:p14="http://schemas.microsoft.com/office/powerpoint/2010/main" val="1831077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5" r:id="rId3"/>
    <p:sldLayoutId id="2147483651" r:id="rId4"/>
    <p:sldLayoutId id="2147483665" r:id="rId5"/>
  </p:sldLayoutIdLst>
  <p:txStyles>
    <p:titleStyle>
      <a:lvl1pPr algn="l" defTabSz="914400" rtl="0" eaLnBrk="1" latinLnBrk="0" hangingPunct="1">
        <a:lnSpc>
          <a:spcPct val="90000"/>
        </a:lnSpc>
        <a:spcBef>
          <a:spcPct val="0"/>
        </a:spcBef>
        <a:buNone/>
        <a:defRPr sz="2800" kern="1200">
          <a:solidFill>
            <a:schemeClr val="tx1"/>
          </a:solidFill>
          <a:latin typeface="Montserrat Black" panose="00000A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itchFamily="2" charset="0"/>
          <a:ea typeface="Roboto"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itchFamily="2" charset="0"/>
          <a:ea typeface="Roboto"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itchFamily="2" charset="0"/>
          <a:ea typeface="Roboto"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itchFamily="2" charset="0"/>
          <a:ea typeface="Roboto"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itchFamily="2" charset="0"/>
          <a:ea typeface="Roboto"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A64589-E7C8-41AC-A6DC-2E49CAB58FB2}" type="datetimeFigureOut">
              <a:rPr lang="en-US" smtClean="0"/>
              <a:t>08-Jun-26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AA8543-C305-48B8-987F-76CB6D84F7F2}" type="slidenum">
              <a:rPr lang="en-US" smtClean="0"/>
              <a:t>‹#›</a:t>
            </a:fld>
            <a:endParaRPr lang="en-US"/>
          </a:p>
        </p:txBody>
      </p:sp>
    </p:spTree>
    <p:extLst>
      <p:ext uri="{BB962C8B-B14F-4D97-AF65-F5344CB8AC3E}">
        <p14:creationId xmlns:p14="http://schemas.microsoft.com/office/powerpoint/2010/main" val="144261183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06038" y="1117584"/>
            <a:ext cx="10660213" cy="1373298"/>
          </a:xfrm>
        </p:spPr>
        <p:txBody>
          <a:bodyPr>
            <a:normAutofit/>
          </a:bodyPr>
          <a:lstStyle/>
          <a:p>
            <a:pPr>
              <a:lnSpc>
                <a:spcPct val="150000"/>
              </a:lnSpc>
              <a:spcAft>
                <a:spcPts val="1200"/>
              </a:spcAft>
            </a:pPr>
            <a:r>
              <a:rPr lang="en-US" sz="2800" kern="100">
                <a:solidFill>
                  <a:srgbClr val="C00000"/>
                </a:solidFill>
                <a:latin typeface="+mn-lt"/>
                <a:ea typeface="Calibri" panose="020F0502020204030204" pitchFamily="34" charset="0"/>
                <a:cs typeface="Arial" panose="020B0604020202020204" pitchFamily="34" charset="0"/>
              </a:rPr>
              <a:t>ĐỀ </a:t>
            </a:r>
            <a:r>
              <a:rPr lang="en-US" sz="2800" kern="100" dirty="0">
                <a:solidFill>
                  <a:srgbClr val="C00000"/>
                </a:solidFill>
                <a:latin typeface="+mn-lt"/>
                <a:ea typeface="Calibri" panose="020F0502020204030204" pitchFamily="34" charset="0"/>
                <a:cs typeface="Arial" panose="020B0604020202020204" pitchFamily="34" charset="0"/>
              </a:rPr>
              <a:t>ÁN TỐT NGHIỆP THẠC SĨ</a:t>
            </a:r>
            <a:endParaRPr lang="en-US" sz="3200" kern="100" dirty="0">
              <a:solidFill>
                <a:srgbClr val="C00000"/>
              </a:solidFill>
              <a:latin typeface="+mn-lt"/>
              <a:ea typeface="Calibri" panose="020F0502020204030204" pitchFamily="34" charset="0"/>
              <a:cs typeface="Arial" panose="020B0604020202020204" pitchFamily="34" charset="0"/>
            </a:endParaRPr>
          </a:p>
        </p:txBody>
      </p:sp>
      <p:sp>
        <p:nvSpPr>
          <p:cNvPr id="4" name="Footer Placeholder 4"/>
          <p:cNvSpPr txBox="1">
            <a:spLocks/>
          </p:cNvSpPr>
          <p:nvPr/>
        </p:nvSpPr>
        <p:spPr>
          <a:xfrm>
            <a:off x="228599" y="5416062"/>
            <a:ext cx="5679832" cy="1081453"/>
          </a:xfrm>
          <a:prstGeom prst="rect">
            <a:avLst/>
          </a:prstGeom>
        </p:spPr>
        <p:txBody>
          <a:bodyPr/>
          <a:lstStyle>
            <a:defPPr>
              <a:defRPr lang="en-US"/>
            </a:defPPr>
            <a:lvl1pPr marL="0" algn="l" defTabSz="914400" rtl="0" eaLnBrk="1" latinLnBrk="0" hangingPunct="1">
              <a:defRPr sz="1400" b="1" kern="1200">
                <a:solidFill>
                  <a:schemeClr val="bg1"/>
                </a:solidFill>
                <a:latin typeface="Roboto" panose="02000000000000000000" pitchFamily="2" charset="0"/>
                <a:ea typeface="Roboto" panose="02000000000000000000"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1600" dirty="0">
                <a:latin typeface="+mn-lt"/>
              </a:rPr>
              <a:t>HỌC VIÊN</a:t>
            </a:r>
            <a:r>
              <a:rPr lang="en-US" sz="1600">
                <a:latin typeface="+mn-lt"/>
              </a:rPr>
              <a:t>: Nguyễn Phương Đông</a:t>
            </a:r>
            <a:endParaRPr lang="en-US" sz="1600" dirty="0">
              <a:latin typeface="+mn-lt"/>
            </a:endParaRPr>
          </a:p>
          <a:p>
            <a:pPr>
              <a:lnSpc>
                <a:spcPct val="150000"/>
              </a:lnSpc>
            </a:pPr>
            <a:r>
              <a:rPr lang="en-US" sz="1600" dirty="0">
                <a:latin typeface="+mn-lt"/>
              </a:rPr>
              <a:t>GIẢNG VIÊN HƯỚNG DẪN</a:t>
            </a:r>
            <a:r>
              <a:rPr lang="en-US" sz="1600">
                <a:latin typeface="+mn-lt"/>
              </a:rPr>
              <a:t>: TS. Kim Ngọc Bách</a:t>
            </a:r>
            <a:endParaRPr lang="en-US" sz="1600" dirty="0">
              <a:latin typeface="+mn-lt"/>
            </a:endParaRPr>
          </a:p>
          <a:p>
            <a:endParaRPr lang="en-US" sz="1600" i="1" dirty="0">
              <a:latin typeface="+mn-lt"/>
            </a:endParaRPr>
          </a:p>
        </p:txBody>
      </p:sp>
      <p:sp>
        <p:nvSpPr>
          <p:cNvPr id="2" name="TextBox 1">
            <a:extLst>
              <a:ext uri="{FF2B5EF4-FFF2-40B4-BE49-F238E27FC236}">
                <a16:creationId xmlns:a16="http://schemas.microsoft.com/office/drawing/2014/main" id="{2019F529-5DE5-79A2-5C1C-DB2E03861B06}"/>
              </a:ext>
            </a:extLst>
          </p:cNvPr>
          <p:cNvSpPr txBox="1"/>
          <p:nvPr/>
        </p:nvSpPr>
        <p:spPr>
          <a:xfrm>
            <a:off x="906039" y="1969031"/>
            <a:ext cx="7276427" cy="1954125"/>
          </a:xfrm>
          <a:prstGeom prst="rect">
            <a:avLst/>
          </a:prstGeom>
          <a:noFill/>
        </p:spPr>
        <p:txBody>
          <a:bodyPr wrap="square">
            <a:spAutoFit/>
          </a:bodyPr>
          <a:lstStyle/>
          <a:p>
            <a:pPr>
              <a:lnSpc>
                <a:spcPct val="150000"/>
              </a:lnSpc>
              <a:spcAft>
                <a:spcPts val="1200"/>
              </a:spcAft>
            </a:pPr>
            <a:r>
              <a:rPr lang="vi-VN" sz="2800" b="1" kern="100">
                <a:ea typeface="Calibri" panose="020F0502020204030204" pitchFamily="34" charset="0"/>
                <a:cs typeface="Arial" panose="020B0604020202020204" pitchFamily="34" charset="0"/>
              </a:rPr>
              <a:t>Ứng dụng Trí tuệ Nhân tạo kết hợp Dữ liệu Khí tượng</a:t>
            </a:r>
            <a:r>
              <a:rPr lang="en-US" sz="2800" b="1" kern="100">
                <a:ea typeface="Calibri" panose="020F0502020204030204" pitchFamily="34" charset="0"/>
                <a:cs typeface="Arial" panose="020B0604020202020204" pitchFamily="34" charset="0"/>
              </a:rPr>
              <a:t> </a:t>
            </a:r>
            <a:r>
              <a:rPr lang="vi-VN" sz="2800" b="1" kern="100">
                <a:ea typeface="Calibri" panose="020F0502020204030204" pitchFamily="34" charset="0"/>
                <a:cs typeface="Arial" panose="020B0604020202020204" pitchFamily="34" charset="0"/>
              </a:rPr>
              <a:t>vào Dự đoán &amp; Cảnh báo Cháy Rừng tại Việt Nam</a:t>
            </a:r>
          </a:p>
        </p:txBody>
      </p:sp>
      <p:pic>
        <p:nvPicPr>
          <p:cNvPr id="6" name="Picture 5">
            <a:extLst>
              <a:ext uri="{FF2B5EF4-FFF2-40B4-BE49-F238E27FC236}">
                <a16:creationId xmlns:a16="http://schemas.microsoft.com/office/drawing/2014/main" id="{B4F629C2-8F05-46B0-853B-F096B5B31289}"/>
              </a:ext>
            </a:extLst>
          </p:cNvPr>
          <p:cNvPicPr>
            <a:picLocks noChangeAspect="1"/>
          </p:cNvPicPr>
          <p:nvPr/>
        </p:nvPicPr>
        <p:blipFill>
          <a:blip r:embed="rId2"/>
          <a:stretch>
            <a:fillRect/>
          </a:stretch>
        </p:blipFill>
        <p:spPr>
          <a:xfrm>
            <a:off x="83256" y="0"/>
            <a:ext cx="748594" cy="869244"/>
          </a:xfrm>
          <a:prstGeom prst="rect">
            <a:avLst/>
          </a:prstGeom>
        </p:spPr>
      </p:pic>
    </p:spTree>
    <p:extLst>
      <p:ext uri="{BB962C8B-B14F-4D97-AF65-F5344CB8AC3E}">
        <p14:creationId xmlns:p14="http://schemas.microsoft.com/office/powerpoint/2010/main" val="3575181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0A1CE-3D38-9B6F-CC03-0BA9C87744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755C3-B8D5-C692-EF11-206F75987E3E}"/>
              </a:ext>
            </a:extLst>
          </p:cNvPr>
          <p:cNvSpPr>
            <a:spLocks noGrp="1"/>
          </p:cNvSpPr>
          <p:nvPr>
            <p:ph type="title"/>
          </p:nvPr>
        </p:nvSpPr>
        <p:spPr>
          <a:xfrm>
            <a:off x="383175" y="835118"/>
            <a:ext cx="11123024" cy="554902"/>
          </a:xfrm>
        </p:spPr>
        <p:txBody>
          <a:bodyPr>
            <a:normAutofit/>
          </a:bodyPr>
          <a:lstStyle/>
          <a:p>
            <a:r>
              <a:rPr lang="vi-VN">
                <a:latin typeface="Calibri" panose="020F0502020204030204" pitchFamily="34" charset="0"/>
                <a:ea typeface="Calibri" panose="020F0502020204030204" pitchFamily="34" charset="0"/>
                <a:cs typeface="Calibri" panose="020F0502020204030204" pitchFamily="34" charset="0"/>
              </a:rPr>
              <a:t>NỘI DUNG TRÌNH BÀY</a:t>
            </a:r>
          </a:p>
        </p:txBody>
      </p:sp>
      <p:sp>
        <p:nvSpPr>
          <p:cNvPr id="3" name="Title 1">
            <a:extLst>
              <a:ext uri="{FF2B5EF4-FFF2-40B4-BE49-F238E27FC236}">
                <a16:creationId xmlns:a16="http://schemas.microsoft.com/office/drawing/2014/main" id="{A504B9A6-00EE-3352-DA80-3CAEAC9068FC}"/>
              </a:ext>
            </a:extLst>
          </p:cNvPr>
          <p:cNvSpPr txBox="1">
            <a:spLocks/>
          </p:cNvSpPr>
          <p:nvPr/>
        </p:nvSpPr>
        <p:spPr>
          <a:xfrm>
            <a:off x="383175" y="1513907"/>
            <a:ext cx="10857480" cy="3669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kern="1200">
                <a:solidFill>
                  <a:srgbClr val="C00000"/>
                </a:solidFill>
                <a:latin typeface="Montserrat Black" panose="00000A00000000000000" pitchFamily="50" charset="0"/>
                <a:ea typeface="+mj-ea"/>
                <a:cs typeface="+mj-cs"/>
              </a:defRPr>
            </a:lvl1pPr>
          </a:lstStyle>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vi-VN" sz="1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9" name="Shape 2">
            <a:extLst>
              <a:ext uri="{FF2B5EF4-FFF2-40B4-BE49-F238E27FC236}">
                <a16:creationId xmlns:a16="http://schemas.microsoft.com/office/drawing/2014/main" id="{452C826B-ADE7-2424-50C9-41C2A3825942}"/>
              </a:ext>
            </a:extLst>
          </p:cNvPr>
          <p:cNvSpPr/>
          <p:nvPr/>
        </p:nvSpPr>
        <p:spPr>
          <a:xfrm>
            <a:off x="951345" y="1864152"/>
            <a:ext cx="438912" cy="438912"/>
          </a:xfrm>
          <a:prstGeom prst="rect">
            <a:avLst/>
          </a:prstGeom>
          <a:solidFill>
            <a:srgbClr val="C00000"/>
          </a:solidFill>
          <a:ln w="12700">
            <a:noFill/>
            <a:prstDash val="solid"/>
          </a:ln>
        </p:spPr>
      </p:sp>
      <p:sp>
        <p:nvSpPr>
          <p:cNvPr id="30" name="Text 3">
            <a:extLst>
              <a:ext uri="{FF2B5EF4-FFF2-40B4-BE49-F238E27FC236}">
                <a16:creationId xmlns:a16="http://schemas.microsoft.com/office/drawing/2014/main" id="{3104D688-1884-4707-6C2E-1CF6B4A82677}"/>
              </a:ext>
            </a:extLst>
          </p:cNvPr>
          <p:cNvSpPr/>
          <p:nvPr/>
        </p:nvSpPr>
        <p:spPr>
          <a:xfrm>
            <a:off x="951345" y="1864152"/>
            <a:ext cx="438912" cy="438912"/>
          </a:xfrm>
          <a:prstGeom prst="rect">
            <a:avLst/>
          </a:prstGeom>
          <a:noFill/>
          <a:ln>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01</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1" name="Text 4">
            <a:extLst>
              <a:ext uri="{FF2B5EF4-FFF2-40B4-BE49-F238E27FC236}">
                <a16:creationId xmlns:a16="http://schemas.microsoft.com/office/drawing/2014/main" id="{77E942E5-EF6E-C8A5-8D8D-9E3F2E09C9C7}"/>
              </a:ext>
            </a:extLst>
          </p:cNvPr>
          <p:cNvSpPr/>
          <p:nvPr/>
        </p:nvSpPr>
        <p:spPr>
          <a:xfrm>
            <a:off x="1499985" y="1900728"/>
            <a:ext cx="3657600" cy="365760"/>
          </a:xfrm>
          <a:prstGeom prst="rect">
            <a:avLst/>
          </a:prstGeom>
          <a:noFill/>
          <a:ln/>
        </p:spPr>
        <p:txBody>
          <a:bodyPr wrap="square" rtlCol="0" anchor="ct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Đặt vấn đề &amp; Lý do nghiên cứu</a:t>
            </a:r>
          </a:p>
        </p:txBody>
      </p:sp>
      <p:sp>
        <p:nvSpPr>
          <p:cNvPr id="32" name="Shape 5">
            <a:extLst>
              <a:ext uri="{FF2B5EF4-FFF2-40B4-BE49-F238E27FC236}">
                <a16:creationId xmlns:a16="http://schemas.microsoft.com/office/drawing/2014/main" id="{D9570189-D38B-B319-15F9-025EA4E52B9F}"/>
              </a:ext>
            </a:extLst>
          </p:cNvPr>
          <p:cNvSpPr/>
          <p:nvPr/>
        </p:nvSpPr>
        <p:spPr>
          <a:xfrm>
            <a:off x="951345" y="2613960"/>
            <a:ext cx="438912" cy="438912"/>
          </a:xfrm>
          <a:prstGeom prst="rect">
            <a:avLst/>
          </a:prstGeom>
          <a:solidFill>
            <a:srgbClr val="C00000"/>
          </a:solidFill>
          <a:ln w="12700">
            <a:noFill/>
            <a:prstDash val="solid"/>
          </a:ln>
        </p:spPr>
      </p:sp>
      <p:sp>
        <p:nvSpPr>
          <p:cNvPr id="33" name="Text 6">
            <a:extLst>
              <a:ext uri="{FF2B5EF4-FFF2-40B4-BE49-F238E27FC236}">
                <a16:creationId xmlns:a16="http://schemas.microsoft.com/office/drawing/2014/main" id="{31CE4711-6297-A833-6A55-7DF93E4C863B}"/>
              </a:ext>
            </a:extLst>
          </p:cNvPr>
          <p:cNvSpPr/>
          <p:nvPr/>
        </p:nvSpPr>
        <p:spPr>
          <a:xfrm>
            <a:off x="951345" y="2613960"/>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02</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4" name="Text 7">
            <a:extLst>
              <a:ext uri="{FF2B5EF4-FFF2-40B4-BE49-F238E27FC236}">
                <a16:creationId xmlns:a16="http://schemas.microsoft.com/office/drawing/2014/main" id="{D3B5879C-D8CD-8D8E-3B0C-FDD436767F14}"/>
              </a:ext>
            </a:extLst>
          </p:cNvPr>
          <p:cNvSpPr/>
          <p:nvPr/>
        </p:nvSpPr>
        <p:spPr>
          <a:xfrm>
            <a:off x="1499985" y="2650536"/>
            <a:ext cx="3657600" cy="365760"/>
          </a:xfrm>
          <a:prstGeom prst="rect">
            <a:avLst/>
          </a:prstGeom>
          <a:noFill/>
          <a:ln/>
        </p:spPr>
        <p:txBody>
          <a:bodyPr wrap="square" rtlCol="0" anchor="ctr"/>
          <a:lstStyle/>
          <a:p>
            <a:r>
              <a:rPr lang="en-US" sz="1600">
                <a:latin typeface="Calibri" panose="020F0502020204030204" pitchFamily="34" charset="0"/>
                <a:ea typeface="Calibri" panose="020F0502020204030204" pitchFamily="34" charset="0"/>
                <a:cs typeface="Calibri" panose="020F0502020204030204" pitchFamily="34" charset="0"/>
              </a:rPr>
              <a:t>Thực trạng cháy rừng tại Việt Nam</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35" name="Shape 8">
            <a:extLst>
              <a:ext uri="{FF2B5EF4-FFF2-40B4-BE49-F238E27FC236}">
                <a16:creationId xmlns:a16="http://schemas.microsoft.com/office/drawing/2014/main" id="{C67015D9-4E29-3BA5-54B3-2D1E249AC587}"/>
              </a:ext>
            </a:extLst>
          </p:cNvPr>
          <p:cNvSpPr/>
          <p:nvPr/>
        </p:nvSpPr>
        <p:spPr>
          <a:xfrm>
            <a:off x="951345" y="3363768"/>
            <a:ext cx="438912" cy="438912"/>
          </a:xfrm>
          <a:prstGeom prst="rect">
            <a:avLst/>
          </a:prstGeom>
          <a:solidFill>
            <a:srgbClr val="C00000"/>
          </a:solidFill>
          <a:ln w="12700">
            <a:noFill/>
            <a:prstDash val="solid"/>
          </a:ln>
        </p:spPr>
      </p:sp>
      <p:sp>
        <p:nvSpPr>
          <p:cNvPr id="36" name="Text 9">
            <a:extLst>
              <a:ext uri="{FF2B5EF4-FFF2-40B4-BE49-F238E27FC236}">
                <a16:creationId xmlns:a16="http://schemas.microsoft.com/office/drawing/2014/main" id="{9E7A8FFB-82F8-6E79-7AB2-649D1F6D80F5}"/>
              </a:ext>
            </a:extLst>
          </p:cNvPr>
          <p:cNvSpPr/>
          <p:nvPr/>
        </p:nvSpPr>
        <p:spPr>
          <a:xfrm>
            <a:off x="951345" y="3363768"/>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03</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7" name="Text 10">
            <a:extLst>
              <a:ext uri="{FF2B5EF4-FFF2-40B4-BE49-F238E27FC236}">
                <a16:creationId xmlns:a16="http://schemas.microsoft.com/office/drawing/2014/main" id="{9181978C-7E57-B3D7-F047-D4ADC6B4F057}"/>
              </a:ext>
            </a:extLst>
          </p:cNvPr>
          <p:cNvSpPr/>
          <p:nvPr/>
        </p:nvSpPr>
        <p:spPr>
          <a:xfrm>
            <a:off x="1499984" y="3400344"/>
            <a:ext cx="3927421" cy="365760"/>
          </a:xfrm>
          <a:prstGeom prst="rect">
            <a:avLst/>
          </a:prstGeom>
          <a:noFill/>
          <a:ln/>
        </p:spPr>
        <p:txBody>
          <a:bodyPr wrap="square" rtlCol="0" anchor="ctr"/>
          <a:lstStyle/>
          <a:p>
            <a:r>
              <a:rPr lang="en-US" sz="1600">
                <a:latin typeface="Calibri" panose="020F0502020204030204" pitchFamily="34" charset="0"/>
                <a:ea typeface="Calibri" panose="020F0502020204030204" pitchFamily="34" charset="0"/>
                <a:cs typeface="Calibri" panose="020F0502020204030204" pitchFamily="34" charset="0"/>
              </a:rPr>
              <a:t>Dữ liệu &amp; Feature Engineering - 52 features</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38" name="Shape 11">
            <a:extLst>
              <a:ext uri="{FF2B5EF4-FFF2-40B4-BE49-F238E27FC236}">
                <a16:creationId xmlns:a16="http://schemas.microsoft.com/office/drawing/2014/main" id="{F1AF1DBF-9D35-D79D-19FD-F9E1D73741A2}"/>
              </a:ext>
            </a:extLst>
          </p:cNvPr>
          <p:cNvSpPr/>
          <p:nvPr/>
        </p:nvSpPr>
        <p:spPr>
          <a:xfrm>
            <a:off x="951345" y="4113576"/>
            <a:ext cx="438912" cy="438912"/>
          </a:xfrm>
          <a:prstGeom prst="rect">
            <a:avLst/>
          </a:prstGeom>
          <a:solidFill>
            <a:srgbClr val="4CAF50"/>
          </a:solidFill>
          <a:ln w="12700">
            <a:solidFill>
              <a:srgbClr val="4CAF50"/>
            </a:solidFill>
            <a:prstDash val="solid"/>
          </a:ln>
        </p:spPr>
      </p:sp>
      <p:sp>
        <p:nvSpPr>
          <p:cNvPr id="39" name="Text 12">
            <a:extLst>
              <a:ext uri="{FF2B5EF4-FFF2-40B4-BE49-F238E27FC236}">
                <a16:creationId xmlns:a16="http://schemas.microsoft.com/office/drawing/2014/main" id="{81FBD1CA-6623-ADAE-248A-CADEB5345D0B}"/>
              </a:ext>
            </a:extLst>
          </p:cNvPr>
          <p:cNvSpPr/>
          <p:nvPr/>
        </p:nvSpPr>
        <p:spPr>
          <a:xfrm>
            <a:off x="951345" y="4113576"/>
            <a:ext cx="438912" cy="438912"/>
          </a:xfrm>
          <a:prstGeom prst="rect">
            <a:avLst/>
          </a:prstGeom>
          <a:solidFill>
            <a:srgbClr val="C00000"/>
          </a:solidFill>
          <a:ln>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04</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0" name="Text 13">
            <a:extLst>
              <a:ext uri="{FF2B5EF4-FFF2-40B4-BE49-F238E27FC236}">
                <a16:creationId xmlns:a16="http://schemas.microsoft.com/office/drawing/2014/main" id="{E227C7C2-A18A-DF41-6980-DDC92A8EF862}"/>
              </a:ext>
            </a:extLst>
          </p:cNvPr>
          <p:cNvSpPr/>
          <p:nvPr/>
        </p:nvSpPr>
        <p:spPr>
          <a:xfrm>
            <a:off x="1499984" y="4150152"/>
            <a:ext cx="4033549" cy="365760"/>
          </a:xfrm>
          <a:prstGeom prst="rect">
            <a:avLst/>
          </a:prstGeom>
          <a:noFill/>
          <a:ln/>
        </p:spPr>
        <p:txBody>
          <a:bodyPr wrap="square" rtlCol="0" anchor="ctr"/>
          <a:lstStyle/>
          <a:p>
            <a:r>
              <a:rPr lang="en-US" sz="1600">
                <a:latin typeface="Calibri" panose="020F0502020204030204" pitchFamily="34" charset="0"/>
                <a:ea typeface="Calibri" panose="020F0502020204030204" pitchFamily="34" charset="0"/>
                <a:cs typeface="Calibri" panose="020F0502020204030204" pitchFamily="34" charset="0"/>
              </a:rPr>
              <a:t>Các mô hình AI được xây dựng</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1" name="Shape 14">
            <a:extLst>
              <a:ext uri="{FF2B5EF4-FFF2-40B4-BE49-F238E27FC236}">
                <a16:creationId xmlns:a16="http://schemas.microsoft.com/office/drawing/2014/main" id="{F77F92A2-6A3A-E884-8B03-0CD35E45BCE1}"/>
              </a:ext>
            </a:extLst>
          </p:cNvPr>
          <p:cNvSpPr/>
          <p:nvPr/>
        </p:nvSpPr>
        <p:spPr>
          <a:xfrm>
            <a:off x="951345" y="4863384"/>
            <a:ext cx="438912" cy="438912"/>
          </a:xfrm>
          <a:prstGeom prst="rect">
            <a:avLst/>
          </a:prstGeom>
          <a:solidFill>
            <a:srgbClr val="C00000"/>
          </a:solidFill>
          <a:ln w="12700">
            <a:noFill/>
            <a:prstDash val="solid"/>
          </a:ln>
        </p:spPr>
      </p:sp>
      <p:sp>
        <p:nvSpPr>
          <p:cNvPr id="42" name="Text 15">
            <a:extLst>
              <a:ext uri="{FF2B5EF4-FFF2-40B4-BE49-F238E27FC236}">
                <a16:creationId xmlns:a16="http://schemas.microsoft.com/office/drawing/2014/main" id="{027EAFDB-198B-7F22-9235-4E873555E83B}"/>
              </a:ext>
            </a:extLst>
          </p:cNvPr>
          <p:cNvSpPr/>
          <p:nvPr/>
        </p:nvSpPr>
        <p:spPr>
          <a:xfrm>
            <a:off x="951345" y="4863384"/>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05</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Text 16">
            <a:extLst>
              <a:ext uri="{FF2B5EF4-FFF2-40B4-BE49-F238E27FC236}">
                <a16:creationId xmlns:a16="http://schemas.microsoft.com/office/drawing/2014/main" id="{7916A4CD-C2C3-0C70-E96F-D35FB0B75E79}"/>
              </a:ext>
            </a:extLst>
          </p:cNvPr>
          <p:cNvSpPr/>
          <p:nvPr/>
        </p:nvSpPr>
        <p:spPr>
          <a:xfrm>
            <a:off x="1499985" y="4899960"/>
            <a:ext cx="3657600" cy="365760"/>
          </a:xfrm>
          <a:prstGeom prst="rect">
            <a:avLst/>
          </a:prstGeom>
          <a:noFill/>
          <a:ln/>
        </p:spPr>
        <p:txBody>
          <a:bodyPr wrap="square" rtlCol="0" anchor="ctr"/>
          <a:lstStyle/>
          <a:p>
            <a:r>
              <a:rPr lang="en-US" sz="1600"/>
              <a:t>Metrics đánh giá</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44" name="Shape 17">
            <a:extLst>
              <a:ext uri="{FF2B5EF4-FFF2-40B4-BE49-F238E27FC236}">
                <a16:creationId xmlns:a16="http://schemas.microsoft.com/office/drawing/2014/main" id="{4050468C-2CE0-004D-3DCF-80DC934A74A2}"/>
              </a:ext>
            </a:extLst>
          </p:cNvPr>
          <p:cNvSpPr/>
          <p:nvPr/>
        </p:nvSpPr>
        <p:spPr>
          <a:xfrm>
            <a:off x="6210379" y="1864152"/>
            <a:ext cx="438912" cy="438912"/>
          </a:xfrm>
          <a:prstGeom prst="rect">
            <a:avLst/>
          </a:prstGeom>
          <a:solidFill>
            <a:srgbClr val="C00000"/>
          </a:solidFill>
          <a:ln w="12700">
            <a:noFill/>
            <a:prstDash val="solid"/>
          </a:ln>
        </p:spPr>
      </p:sp>
      <p:sp>
        <p:nvSpPr>
          <p:cNvPr id="45" name="Text 18">
            <a:extLst>
              <a:ext uri="{FF2B5EF4-FFF2-40B4-BE49-F238E27FC236}">
                <a16:creationId xmlns:a16="http://schemas.microsoft.com/office/drawing/2014/main" id="{3247FB4E-A2F5-4292-E490-64FA5098F09B}"/>
              </a:ext>
            </a:extLst>
          </p:cNvPr>
          <p:cNvSpPr/>
          <p:nvPr/>
        </p:nvSpPr>
        <p:spPr>
          <a:xfrm>
            <a:off x="6210379" y="1864152"/>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06</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6" name="Text 19">
            <a:extLst>
              <a:ext uri="{FF2B5EF4-FFF2-40B4-BE49-F238E27FC236}">
                <a16:creationId xmlns:a16="http://schemas.microsoft.com/office/drawing/2014/main" id="{2BD93F67-2F1B-B599-4B74-1415FD355866}"/>
              </a:ext>
            </a:extLst>
          </p:cNvPr>
          <p:cNvSpPr/>
          <p:nvPr/>
        </p:nvSpPr>
        <p:spPr>
          <a:xfrm>
            <a:off x="6759019" y="1900728"/>
            <a:ext cx="3474720" cy="365760"/>
          </a:xfrm>
          <a:prstGeom prst="rect">
            <a:avLst/>
          </a:prstGeom>
          <a:noFill/>
          <a:ln/>
        </p:spPr>
        <p:txBody>
          <a:bodyPr wrap="square" rtlCol="0" anchor="ct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Kết quả &amp; So sánh mô hình</a:t>
            </a:r>
          </a:p>
        </p:txBody>
      </p:sp>
      <p:sp>
        <p:nvSpPr>
          <p:cNvPr id="47" name="Shape 20">
            <a:extLst>
              <a:ext uri="{FF2B5EF4-FFF2-40B4-BE49-F238E27FC236}">
                <a16:creationId xmlns:a16="http://schemas.microsoft.com/office/drawing/2014/main" id="{53CCD7DA-4933-9650-755A-1FFF6B6263C0}"/>
              </a:ext>
            </a:extLst>
          </p:cNvPr>
          <p:cNvSpPr/>
          <p:nvPr/>
        </p:nvSpPr>
        <p:spPr>
          <a:xfrm>
            <a:off x="6210379" y="2613960"/>
            <a:ext cx="438912" cy="438912"/>
          </a:xfrm>
          <a:prstGeom prst="rect">
            <a:avLst/>
          </a:prstGeom>
          <a:solidFill>
            <a:srgbClr val="C00000"/>
          </a:solidFill>
          <a:ln w="12700">
            <a:noFill/>
            <a:prstDash val="solid"/>
          </a:ln>
        </p:spPr>
      </p:sp>
      <p:sp>
        <p:nvSpPr>
          <p:cNvPr id="48" name="Text 21">
            <a:extLst>
              <a:ext uri="{FF2B5EF4-FFF2-40B4-BE49-F238E27FC236}">
                <a16:creationId xmlns:a16="http://schemas.microsoft.com/office/drawing/2014/main" id="{BF042CC9-9136-50D4-7612-FD76A5AE461E}"/>
              </a:ext>
            </a:extLst>
          </p:cNvPr>
          <p:cNvSpPr/>
          <p:nvPr/>
        </p:nvSpPr>
        <p:spPr>
          <a:xfrm>
            <a:off x="6210379" y="2613960"/>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07</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9" name="Text 22">
            <a:extLst>
              <a:ext uri="{FF2B5EF4-FFF2-40B4-BE49-F238E27FC236}">
                <a16:creationId xmlns:a16="http://schemas.microsoft.com/office/drawing/2014/main" id="{4D18E13A-0EA3-3A2E-845C-7AC018FB0EF6}"/>
              </a:ext>
            </a:extLst>
          </p:cNvPr>
          <p:cNvSpPr/>
          <p:nvPr/>
        </p:nvSpPr>
        <p:spPr>
          <a:xfrm>
            <a:off x="6759019" y="2650536"/>
            <a:ext cx="3474720" cy="365760"/>
          </a:xfrm>
          <a:prstGeom prst="rect">
            <a:avLst/>
          </a:prstGeom>
          <a:noFill/>
          <a:ln/>
        </p:spPr>
        <p:txBody>
          <a:bodyPr wrap="square" rtlCol="0" anchor="ctr"/>
          <a:lstStyle/>
          <a:p>
            <a:pPr marL="0" indent="0">
              <a:buNone/>
            </a:pPr>
            <a:r>
              <a:rPr lang="en-US" sz="1600" dirty="0">
                <a:latin typeface="Calibri" panose="020F0502020204030204" pitchFamily="34" charset="0"/>
                <a:ea typeface="Calibri" panose="020F0502020204030204" pitchFamily="34" charset="0"/>
                <a:cs typeface="Calibri" panose="020F0502020204030204" pitchFamily="34" charset="0"/>
              </a:rPr>
              <a:t>So sánh với Weighted Overlay (GIS)</a:t>
            </a:r>
          </a:p>
        </p:txBody>
      </p:sp>
      <p:sp>
        <p:nvSpPr>
          <p:cNvPr id="50" name="Shape 23">
            <a:extLst>
              <a:ext uri="{FF2B5EF4-FFF2-40B4-BE49-F238E27FC236}">
                <a16:creationId xmlns:a16="http://schemas.microsoft.com/office/drawing/2014/main" id="{4F61D5C1-211B-9CF5-CC80-21F84C373D24}"/>
              </a:ext>
            </a:extLst>
          </p:cNvPr>
          <p:cNvSpPr/>
          <p:nvPr/>
        </p:nvSpPr>
        <p:spPr>
          <a:xfrm>
            <a:off x="6210379" y="3363768"/>
            <a:ext cx="438912" cy="438912"/>
          </a:xfrm>
          <a:prstGeom prst="rect">
            <a:avLst/>
          </a:prstGeom>
          <a:solidFill>
            <a:srgbClr val="C00000"/>
          </a:solidFill>
          <a:ln w="12700">
            <a:noFill/>
            <a:prstDash val="solid"/>
          </a:ln>
        </p:spPr>
      </p:sp>
      <p:sp>
        <p:nvSpPr>
          <p:cNvPr id="51" name="Text 24">
            <a:extLst>
              <a:ext uri="{FF2B5EF4-FFF2-40B4-BE49-F238E27FC236}">
                <a16:creationId xmlns:a16="http://schemas.microsoft.com/office/drawing/2014/main" id="{6C29C328-93E2-D649-F0C6-B8C7487CFE76}"/>
              </a:ext>
            </a:extLst>
          </p:cNvPr>
          <p:cNvSpPr/>
          <p:nvPr/>
        </p:nvSpPr>
        <p:spPr>
          <a:xfrm>
            <a:off x="6210379" y="3363768"/>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08</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2" name="Text 25">
            <a:extLst>
              <a:ext uri="{FF2B5EF4-FFF2-40B4-BE49-F238E27FC236}">
                <a16:creationId xmlns:a16="http://schemas.microsoft.com/office/drawing/2014/main" id="{2404FBF5-6059-9AD8-FF24-0DFC0EA48141}"/>
              </a:ext>
            </a:extLst>
          </p:cNvPr>
          <p:cNvSpPr/>
          <p:nvPr/>
        </p:nvSpPr>
        <p:spPr>
          <a:xfrm>
            <a:off x="6759019" y="3400344"/>
            <a:ext cx="3474720" cy="365760"/>
          </a:xfrm>
          <a:prstGeom prst="rect">
            <a:avLst/>
          </a:prstGeom>
          <a:noFill/>
          <a:ln/>
        </p:spPr>
        <p:txBody>
          <a:bodyPr wrap="square" rtlCol="0" anchor="ctr"/>
          <a:lstStyle/>
          <a:p>
            <a:r>
              <a:rPr lang="en-US" sz="1600">
                <a:latin typeface="Calibri" panose="020F0502020204030204" pitchFamily="34" charset="0"/>
                <a:ea typeface="Calibri" panose="020F0502020204030204" pitchFamily="34" charset="0"/>
                <a:cs typeface="Calibri" panose="020F0502020204030204" pitchFamily="34" charset="0"/>
              </a:rPr>
              <a:t>Hệ thống Dashboard</a:t>
            </a:r>
            <a:endParaRPr lang="en-US" sz="1600" dirty="0">
              <a:latin typeface="Calibri" panose="020F0502020204030204" pitchFamily="34" charset="0"/>
              <a:ea typeface="Calibri" panose="020F0502020204030204" pitchFamily="34" charset="0"/>
              <a:cs typeface="Calibri" panose="020F0502020204030204" pitchFamily="34" charset="0"/>
            </a:endParaRPr>
          </a:p>
        </p:txBody>
      </p:sp>
      <p:sp>
        <p:nvSpPr>
          <p:cNvPr id="53" name="Shape 26">
            <a:extLst>
              <a:ext uri="{FF2B5EF4-FFF2-40B4-BE49-F238E27FC236}">
                <a16:creationId xmlns:a16="http://schemas.microsoft.com/office/drawing/2014/main" id="{90865B7D-D471-FB57-A377-442403CC13E2}"/>
              </a:ext>
            </a:extLst>
          </p:cNvPr>
          <p:cNvSpPr/>
          <p:nvPr/>
        </p:nvSpPr>
        <p:spPr>
          <a:xfrm>
            <a:off x="6210379" y="4113576"/>
            <a:ext cx="438912" cy="438912"/>
          </a:xfrm>
          <a:prstGeom prst="rect">
            <a:avLst/>
          </a:prstGeom>
          <a:solidFill>
            <a:srgbClr val="C00000"/>
          </a:solidFill>
          <a:ln w="12700">
            <a:noFill/>
            <a:prstDash val="solid"/>
          </a:ln>
        </p:spPr>
      </p:sp>
      <p:sp>
        <p:nvSpPr>
          <p:cNvPr id="54" name="Text 27">
            <a:extLst>
              <a:ext uri="{FF2B5EF4-FFF2-40B4-BE49-F238E27FC236}">
                <a16:creationId xmlns:a16="http://schemas.microsoft.com/office/drawing/2014/main" id="{93BD7BFA-6974-32CE-77E2-DA889B510B0E}"/>
              </a:ext>
            </a:extLst>
          </p:cNvPr>
          <p:cNvSpPr/>
          <p:nvPr/>
        </p:nvSpPr>
        <p:spPr>
          <a:xfrm>
            <a:off x="6210379" y="4113576"/>
            <a:ext cx="438912"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09</a:t>
            </a:r>
            <a:endPar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5" name="Text 28">
            <a:extLst>
              <a:ext uri="{FF2B5EF4-FFF2-40B4-BE49-F238E27FC236}">
                <a16:creationId xmlns:a16="http://schemas.microsoft.com/office/drawing/2014/main" id="{284B41D2-A524-48D5-5EED-D350224C716F}"/>
              </a:ext>
            </a:extLst>
          </p:cNvPr>
          <p:cNvSpPr/>
          <p:nvPr/>
        </p:nvSpPr>
        <p:spPr>
          <a:xfrm>
            <a:off x="6759019" y="4150152"/>
            <a:ext cx="3474720" cy="365760"/>
          </a:xfrm>
          <a:prstGeom prst="rect">
            <a:avLst/>
          </a:prstGeom>
          <a:noFill/>
          <a:ln/>
        </p:spPr>
        <p:txBody>
          <a:bodyPr wrap="square" rtlCol="0" anchor="ctr"/>
          <a:lstStyle/>
          <a:p>
            <a:r>
              <a:rPr lang="en-US" sz="1600">
                <a:latin typeface="Calibri" panose="020F0502020204030204" pitchFamily="34" charset="0"/>
                <a:ea typeface="Calibri" panose="020F0502020204030204" pitchFamily="34" charset="0"/>
                <a:cs typeface="Calibri" panose="020F0502020204030204" pitchFamily="34" charset="0"/>
              </a:rPr>
              <a:t>Kết luận &amp; Hướng phát triển</a:t>
            </a:r>
          </a:p>
        </p:txBody>
      </p:sp>
    </p:spTree>
    <p:extLst>
      <p:ext uri="{BB962C8B-B14F-4D97-AF65-F5344CB8AC3E}">
        <p14:creationId xmlns:p14="http://schemas.microsoft.com/office/powerpoint/2010/main" val="1058351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A4D87-A3EC-F592-21C3-06F93503F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EA43F-B3A2-82E3-655E-D5C6D1B7C519}"/>
              </a:ext>
            </a:extLst>
          </p:cNvPr>
          <p:cNvSpPr>
            <a:spLocks noGrp="1"/>
          </p:cNvSpPr>
          <p:nvPr>
            <p:ph type="title"/>
          </p:nvPr>
        </p:nvSpPr>
        <p:spPr>
          <a:xfrm>
            <a:off x="383175" y="835118"/>
            <a:ext cx="11123024" cy="554902"/>
          </a:xfrm>
        </p:spPr>
        <p:txBody>
          <a:bodyPr>
            <a:normAutofit/>
          </a:bodyPr>
          <a:lstStyle/>
          <a:p>
            <a:r>
              <a:rPr lang="vi-VN">
                <a:latin typeface="Calibri" panose="020F0502020204030204" pitchFamily="34" charset="0"/>
                <a:ea typeface="Calibri" panose="020F0502020204030204" pitchFamily="34" charset="0"/>
                <a:cs typeface="Calibri" panose="020F0502020204030204" pitchFamily="34" charset="0"/>
              </a:rPr>
              <a:t>ĐẶT VẤN ĐỀ</a:t>
            </a:r>
            <a:r>
              <a:rPr lang="en-US">
                <a:latin typeface="Calibri" panose="020F0502020204030204" pitchFamily="34" charset="0"/>
                <a:ea typeface="Calibri" panose="020F0502020204030204" pitchFamily="34" charset="0"/>
                <a:cs typeface="Calibri" panose="020F0502020204030204" pitchFamily="34" charset="0"/>
              </a:rPr>
              <a:t> &amp; LÝ DO NGHIÊN CỨU</a:t>
            </a: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4" name="Shape 4">
            <a:extLst>
              <a:ext uri="{FF2B5EF4-FFF2-40B4-BE49-F238E27FC236}">
                <a16:creationId xmlns:a16="http://schemas.microsoft.com/office/drawing/2014/main" id="{C62D898B-E3C1-1819-F25A-8B5313DC7AFD}"/>
              </a:ext>
            </a:extLst>
          </p:cNvPr>
          <p:cNvSpPr/>
          <p:nvPr/>
        </p:nvSpPr>
        <p:spPr>
          <a:xfrm>
            <a:off x="960773" y="1832786"/>
            <a:ext cx="3060000" cy="3474720"/>
          </a:xfrm>
          <a:prstGeom prst="rect">
            <a:avLst/>
          </a:prstGeom>
          <a:solidFill>
            <a:schemeClr val="bg1"/>
          </a:solidFill>
          <a:ln w="9525">
            <a:solidFill>
              <a:srgbClr val="C00000"/>
            </a:solidFill>
            <a:prstDash val="solid"/>
          </a:ln>
          <a:effectLst>
            <a:outerShdw blurRad="101600" dist="38100" dir="8100000" algn="bl" rotWithShape="0">
              <a:srgbClr val="000000">
                <a:alpha val="25000"/>
              </a:srgbClr>
            </a:outerShdw>
          </a:effectLst>
        </p:spPr>
      </p:sp>
      <p:sp>
        <p:nvSpPr>
          <p:cNvPr id="5" name="Text 5">
            <a:extLst>
              <a:ext uri="{FF2B5EF4-FFF2-40B4-BE49-F238E27FC236}">
                <a16:creationId xmlns:a16="http://schemas.microsoft.com/office/drawing/2014/main" id="{892C62E9-C345-5100-CB68-02FEB4F7ADC4}"/>
              </a:ext>
            </a:extLst>
          </p:cNvPr>
          <p:cNvSpPr/>
          <p:nvPr/>
        </p:nvSpPr>
        <p:spPr>
          <a:xfrm>
            <a:off x="960772" y="1924226"/>
            <a:ext cx="3059999" cy="594360"/>
          </a:xfrm>
          <a:prstGeom prst="rect">
            <a:avLst/>
          </a:prstGeom>
          <a:noFill/>
          <a:ln/>
        </p:spPr>
        <p:txBody>
          <a:bodyPr wrap="square" rtlCol="0" anchor="ctr"/>
          <a:lstStyle/>
          <a:p>
            <a:pPr marL="0" indent="0" algn="ctr">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6">
            <a:extLst>
              <a:ext uri="{FF2B5EF4-FFF2-40B4-BE49-F238E27FC236}">
                <a16:creationId xmlns:a16="http://schemas.microsoft.com/office/drawing/2014/main" id="{8AFCAD79-7BB9-E236-9FC3-F92659CD7DC1}"/>
              </a:ext>
            </a:extLst>
          </p:cNvPr>
          <p:cNvSpPr/>
          <p:nvPr/>
        </p:nvSpPr>
        <p:spPr>
          <a:xfrm>
            <a:off x="1070500" y="2564306"/>
            <a:ext cx="2869903" cy="457200"/>
          </a:xfrm>
          <a:prstGeom prst="rect">
            <a:avLst/>
          </a:prstGeom>
          <a:noFill/>
          <a:ln/>
        </p:spPr>
        <p:txBody>
          <a:bodyPr wrap="square" rtlCol="0" anchor="ctr"/>
          <a:lstStyle/>
          <a:p>
            <a:pPr marL="0" indent="0" algn="ctr">
              <a:buNone/>
            </a:pPr>
            <a:r>
              <a:rPr lang="en-US" sz="1600" b="1" dirty="0">
                <a:solidFill>
                  <a:srgbClr val="C00000"/>
                </a:solidFill>
                <a:latin typeface="Calibri" panose="020F0502020204030204" pitchFamily="34" charset="0"/>
                <a:ea typeface="Calibri" panose="020F0502020204030204" pitchFamily="34" charset="0"/>
                <a:cs typeface="Calibri" panose="020F0502020204030204" pitchFamily="34" charset="0"/>
              </a:rPr>
              <a:t>Gia tăng cháy rừng</a:t>
            </a:r>
            <a:endParaRPr lang="en-US" sz="16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 7">
            <a:extLst>
              <a:ext uri="{FF2B5EF4-FFF2-40B4-BE49-F238E27FC236}">
                <a16:creationId xmlns:a16="http://schemas.microsoft.com/office/drawing/2014/main" id="{3DCD420D-DAA4-6247-A4F5-A76F53BA3A2B}"/>
              </a:ext>
            </a:extLst>
          </p:cNvPr>
          <p:cNvSpPr/>
          <p:nvPr/>
        </p:nvSpPr>
        <p:spPr>
          <a:xfrm>
            <a:off x="1070501" y="3085514"/>
            <a:ext cx="2869902" cy="2011680"/>
          </a:xfrm>
          <a:prstGeom prst="rect">
            <a:avLst/>
          </a:prstGeom>
          <a:noFill/>
          <a:ln/>
        </p:spPr>
        <p:txBody>
          <a:bodyPr wrap="square" rtlCol="0" anchor="ctr"/>
          <a:lstStyle/>
          <a:p>
            <a:pPr marL="0" indent="0" algn="just">
              <a:lnSpc>
                <a:spcPct val="130000"/>
              </a:lnSpc>
              <a:buNone/>
            </a:pPr>
            <a:r>
              <a:rPr lang="en-US" sz="1400" dirty="0">
                <a:latin typeface="Calibri" panose="020F0502020204030204" pitchFamily="34" charset="0"/>
                <a:ea typeface="Calibri" panose="020F0502020204030204" pitchFamily="34" charset="0"/>
                <a:cs typeface="Calibri" panose="020F0502020204030204" pitchFamily="34" charset="0"/>
              </a:rPr>
              <a:t>Tần suất &amp; mức độ nghiêm trọng tăng tại Tây Nguyên &amp; duyên hải miền Trung</a:t>
            </a:r>
            <a:r>
              <a:rPr lang="en-US" sz="1400">
                <a:latin typeface="Calibri" panose="020F0502020204030204" pitchFamily="34" charset="0"/>
                <a:ea typeface="Calibri" panose="020F0502020204030204" pitchFamily="34" charset="0"/>
                <a:cs typeface="Calibri" panose="020F0502020204030204" pitchFamily="34" charset="0"/>
              </a:rPr>
              <a:t>. </a:t>
            </a:r>
          </a:p>
          <a:p>
            <a:pPr marL="0" indent="0" algn="just">
              <a:lnSpc>
                <a:spcPct val="130000"/>
              </a:lnSpc>
              <a:buNone/>
            </a:pPr>
            <a:r>
              <a:rPr lang="en-US" sz="1400">
                <a:latin typeface="Calibri" panose="020F0502020204030204" pitchFamily="34" charset="0"/>
                <a:ea typeface="Calibri" panose="020F0502020204030204" pitchFamily="34" charset="0"/>
                <a:cs typeface="Calibri" panose="020F0502020204030204" pitchFamily="34" charset="0"/>
              </a:rPr>
              <a:t>Biến </a:t>
            </a:r>
            <a:r>
              <a:rPr lang="en-US" sz="1400" dirty="0">
                <a:latin typeface="Calibri" panose="020F0502020204030204" pitchFamily="34" charset="0"/>
                <a:ea typeface="Calibri" panose="020F0502020204030204" pitchFamily="34" charset="0"/>
                <a:cs typeface="Calibri" panose="020F0502020204030204" pitchFamily="34" charset="0"/>
              </a:rPr>
              <a:t>đổi khí hậu → mùa khô kéo dài, nhiệt độ tăng, mưa giảm.</a:t>
            </a:r>
          </a:p>
        </p:txBody>
      </p:sp>
      <p:sp>
        <p:nvSpPr>
          <p:cNvPr id="8" name="Shape 8">
            <a:extLst>
              <a:ext uri="{FF2B5EF4-FFF2-40B4-BE49-F238E27FC236}">
                <a16:creationId xmlns:a16="http://schemas.microsoft.com/office/drawing/2014/main" id="{0D2290C2-8392-1BB9-A067-6C9C9F6B00AE}"/>
              </a:ext>
            </a:extLst>
          </p:cNvPr>
          <p:cNvSpPr/>
          <p:nvPr/>
        </p:nvSpPr>
        <p:spPr>
          <a:xfrm>
            <a:off x="4301632" y="1832786"/>
            <a:ext cx="3060000" cy="3474720"/>
          </a:xfrm>
          <a:prstGeom prst="rect">
            <a:avLst/>
          </a:prstGeom>
          <a:solidFill>
            <a:schemeClr val="bg1"/>
          </a:solidFill>
          <a:ln w="9525">
            <a:solidFill>
              <a:srgbClr val="C00000"/>
            </a:solidFill>
            <a:prstDash val="solid"/>
          </a:ln>
          <a:effectLst>
            <a:outerShdw blurRad="101600" dist="38100" dir="8100000" algn="bl" rotWithShape="0">
              <a:srgbClr val="000000">
                <a:alpha val="25000"/>
              </a:srgbClr>
            </a:outerShdw>
          </a:effectLst>
        </p:spPr>
      </p:sp>
      <p:sp>
        <p:nvSpPr>
          <p:cNvPr id="9" name="Text 9">
            <a:extLst>
              <a:ext uri="{FF2B5EF4-FFF2-40B4-BE49-F238E27FC236}">
                <a16:creationId xmlns:a16="http://schemas.microsoft.com/office/drawing/2014/main" id="{A83AD0A7-4C84-B1E6-4090-8158ABB829DE}"/>
              </a:ext>
            </a:extLst>
          </p:cNvPr>
          <p:cNvSpPr/>
          <p:nvPr/>
        </p:nvSpPr>
        <p:spPr>
          <a:xfrm>
            <a:off x="4301631" y="1924226"/>
            <a:ext cx="3059999" cy="594360"/>
          </a:xfrm>
          <a:prstGeom prst="rect">
            <a:avLst/>
          </a:prstGeom>
          <a:noFill/>
          <a:ln/>
        </p:spPr>
        <p:txBody>
          <a:bodyPr wrap="square" rtlCol="0" anchor="ctr"/>
          <a:lstStyle/>
          <a:p>
            <a:pPr marL="0" indent="0" algn="ctr">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10">
            <a:extLst>
              <a:ext uri="{FF2B5EF4-FFF2-40B4-BE49-F238E27FC236}">
                <a16:creationId xmlns:a16="http://schemas.microsoft.com/office/drawing/2014/main" id="{E9BC70DD-3498-E0AD-413C-FC8933E2AD75}"/>
              </a:ext>
            </a:extLst>
          </p:cNvPr>
          <p:cNvSpPr/>
          <p:nvPr/>
        </p:nvSpPr>
        <p:spPr>
          <a:xfrm>
            <a:off x="4411360" y="2564306"/>
            <a:ext cx="2804602" cy="457200"/>
          </a:xfrm>
          <a:prstGeom prst="rect">
            <a:avLst/>
          </a:prstGeom>
          <a:noFill/>
          <a:ln/>
        </p:spPr>
        <p:txBody>
          <a:bodyPr wrap="square" rtlCol="0" anchor="ctr"/>
          <a:lstStyle/>
          <a:p>
            <a:pPr marL="0" indent="0" algn="ctr">
              <a:buNone/>
            </a:pPr>
            <a:r>
              <a:rPr lang="en-US" sz="1600" b="1" dirty="0">
                <a:solidFill>
                  <a:srgbClr val="C00000"/>
                </a:solidFill>
                <a:latin typeface="Calibri" panose="020F0502020204030204" pitchFamily="34" charset="0"/>
                <a:ea typeface="Calibri" panose="020F0502020204030204" pitchFamily="34" charset="0"/>
                <a:cs typeface="Calibri" panose="020F0502020204030204" pitchFamily="34" charset="0"/>
              </a:rPr>
              <a:t>Hạn chế hệ thống hiện tại</a:t>
            </a:r>
            <a:endParaRPr lang="en-US" sz="16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 11">
            <a:extLst>
              <a:ext uri="{FF2B5EF4-FFF2-40B4-BE49-F238E27FC236}">
                <a16:creationId xmlns:a16="http://schemas.microsoft.com/office/drawing/2014/main" id="{34833144-9E5F-2556-9F9E-3AE4D528121C}"/>
              </a:ext>
            </a:extLst>
          </p:cNvPr>
          <p:cNvSpPr/>
          <p:nvPr/>
        </p:nvSpPr>
        <p:spPr>
          <a:xfrm>
            <a:off x="4411359" y="3085514"/>
            <a:ext cx="2804603" cy="2011680"/>
          </a:xfrm>
          <a:prstGeom prst="rect">
            <a:avLst/>
          </a:prstGeom>
          <a:noFill/>
          <a:ln/>
        </p:spPr>
        <p:txBody>
          <a:bodyPr wrap="square" rtlCol="0" anchor="ctr"/>
          <a:lstStyle/>
          <a:p>
            <a:pPr marL="0" indent="0" algn="just">
              <a:lnSpc>
                <a:spcPct val="130000"/>
              </a:lnSpc>
              <a:buNone/>
            </a:pPr>
            <a:r>
              <a:rPr lang="en-US" sz="1400" dirty="0">
                <a:latin typeface="Calibri" panose="020F0502020204030204" pitchFamily="34" charset="0"/>
                <a:ea typeface="Calibri" panose="020F0502020204030204" pitchFamily="34" charset="0"/>
                <a:cs typeface="Calibri" panose="020F0502020204030204" pitchFamily="34" charset="0"/>
              </a:rPr>
              <a:t>Phương pháp GIS truyền thống (Weighted Overlay) dùng trọng số cố định, không học phi tuyến, không cập nhật thời tiết thực, không phân biệt nguyên nhân cháy.</a:t>
            </a:r>
          </a:p>
        </p:txBody>
      </p:sp>
      <p:sp>
        <p:nvSpPr>
          <p:cNvPr id="12" name="Shape 12">
            <a:extLst>
              <a:ext uri="{FF2B5EF4-FFF2-40B4-BE49-F238E27FC236}">
                <a16:creationId xmlns:a16="http://schemas.microsoft.com/office/drawing/2014/main" id="{93C69E5A-FE21-D38B-68B0-19145906A26D}"/>
              </a:ext>
            </a:extLst>
          </p:cNvPr>
          <p:cNvSpPr/>
          <p:nvPr/>
        </p:nvSpPr>
        <p:spPr>
          <a:xfrm>
            <a:off x="7642491" y="1832786"/>
            <a:ext cx="3060000" cy="3474720"/>
          </a:xfrm>
          <a:prstGeom prst="rect">
            <a:avLst/>
          </a:prstGeom>
          <a:solidFill>
            <a:schemeClr val="bg1"/>
          </a:solidFill>
          <a:ln w="9525">
            <a:solidFill>
              <a:srgbClr val="C00000"/>
            </a:solidFill>
            <a:prstDash val="solid"/>
          </a:ln>
          <a:effectLst>
            <a:outerShdw blurRad="101600" dist="38100" dir="8100000" algn="bl" rotWithShape="0">
              <a:srgbClr val="000000">
                <a:alpha val="25000"/>
              </a:srgbClr>
            </a:outerShdw>
          </a:effectLst>
        </p:spPr>
      </p:sp>
      <p:sp>
        <p:nvSpPr>
          <p:cNvPr id="13" name="Text 13">
            <a:extLst>
              <a:ext uri="{FF2B5EF4-FFF2-40B4-BE49-F238E27FC236}">
                <a16:creationId xmlns:a16="http://schemas.microsoft.com/office/drawing/2014/main" id="{7029C98A-05CC-CF89-1D47-D12E4B5FF3C8}"/>
              </a:ext>
            </a:extLst>
          </p:cNvPr>
          <p:cNvSpPr/>
          <p:nvPr/>
        </p:nvSpPr>
        <p:spPr>
          <a:xfrm>
            <a:off x="7642490" y="1924226"/>
            <a:ext cx="3059999" cy="594360"/>
          </a:xfrm>
          <a:prstGeom prst="rect">
            <a:avLst/>
          </a:prstGeom>
          <a:noFill/>
          <a:ln/>
        </p:spPr>
        <p:txBody>
          <a:bodyPr wrap="square" rtlCol="0" anchor="ctr"/>
          <a:lstStyle/>
          <a:p>
            <a:pPr marL="0" indent="0" algn="ctr">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14">
            <a:extLst>
              <a:ext uri="{FF2B5EF4-FFF2-40B4-BE49-F238E27FC236}">
                <a16:creationId xmlns:a16="http://schemas.microsoft.com/office/drawing/2014/main" id="{3ED4B44B-B966-5D55-B54E-95138869C9CA}"/>
              </a:ext>
            </a:extLst>
          </p:cNvPr>
          <p:cNvSpPr/>
          <p:nvPr/>
        </p:nvSpPr>
        <p:spPr>
          <a:xfrm>
            <a:off x="7752218" y="2564306"/>
            <a:ext cx="2824655" cy="457200"/>
          </a:xfrm>
          <a:prstGeom prst="rect">
            <a:avLst/>
          </a:prstGeom>
          <a:noFill/>
          <a:ln/>
        </p:spPr>
        <p:txBody>
          <a:bodyPr wrap="square" rtlCol="0" anchor="ctr"/>
          <a:lstStyle/>
          <a:p>
            <a:pPr marL="0" indent="0" algn="ctr">
              <a:buNone/>
            </a:pPr>
            <a:r>
              <a:rPr lang="en-US" sz="1600" b="1" dirty="0">
                <a:solidFill>
                  <a:srgbClr val="C00000"/>
                </a:solidFill>
                <a:latin typeface="Calibri" panose="020F0502020204030204" pitchFamily="34" charset="0"/>
                <a:ea typeface="Calibri" panose="020F0502020204030204" pitchFamily="34" charset="0"/>
                <a:cs typeface="Calibri" panose="020F0502020204030204" pitchFamily="34" charset="0"/>
              </a:rPr>
              <a:t>Khoảng trống nghiên cứu</a:t>
            </a:r>
            <a:endParaRPr lang="en-US" sz="16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Text 15">
            <a:extLst>
              <a:ext uri="{FF2B5EF4-FFF2-40B4-BE49-F238E27FC236}">
                <a16:creationId xmlns:a16="http://schemas.microsoft.com/office/drawing/2014/main" id="{7F0370C6-DC58-83CB-865C-DE79226EAA8F}"/>
              </a:ext>
            </a:extLst>
          </p:cNvPr>
          <p:cNvSpPr/>
          <p:nvPr/>
        </p:nvSpPr>
        <p:spPr>
          <a:xfrm>
            <a:off x="7752219" y="3085514"/>
            <a:ext cx="2824654" cy="2011680"/>
          </a:xfrm>
          <a:prstGeom prst="rect">
            <a:avLst/>
          </a:prstGeom>
          <a:noFill/>
          <a:ln/>
        </p:spPr>
        <p:txBody>
          <a:bodyPr wrap="square" rtlCol="0" anchor="ctr"/>
          <a:lstStyle/>
          <a:p>
            <a:pPr marL="0" indent="0" algn="just">
              <a:lnSpc>
                <a:spcPct val="130000"/>
              </a:lnSpc>
              <a:buNone/>
            </a:pPr>
            <a:r>
              <a:rPr lang="en-US" sz="1400" dirty="0">
                <a:latin typeface="Calibri" panose="020F0502020204030204" pitchFamily="34" charset="0"/>
                <a:ea typeface="Calibri" panose="020F0502020204030204" pitchFamily="34" charset="0"/>
                <a:cs typeface="Calibri" panose="020F0502020204030204" pitchFamily="34" charset="0"/>
              </a:rPr>
              <a:t>Phần lớn nghiên cứu AI về cháy rừng tập trung vùng ôn đới. Chưa có công trình đầy đủ cho khí hậu nhiệt đới gió mùa Việt Nam với dữ liệu đa nguồn.</a:t>
            </a:r>
          </a:p>
        </p:txBody>
      </p:sp>
      <p:sp>
        <p:nvSpPr>
          <p:cNvPr id="17" name="Text 17">
            <a:extLst>
              <a:ext uri="{FF2B5EF4-FFF2-40B4-BE49-F238E27FC236}">
                <a16:creationId xmlns:a16="http://schemas.microsoft.com/office/drawing/2014/main" id="{6AFB95A2-C0F5-8284-2C2D-C71082C17EE3}"/>
              </a:ext>
            </a:extLst>
          </p:cNvPr>
          <p:cNvSpPr/>
          <p:nvPr/>
        </p:nvSpPr>
        <p:spPr>
          <a:xfrm>
            <a:off x="960772" y="5611402"/>
            <a:ext cx="9741717" cy="411480"/>
          </a:xfrm>
          <a:prstGeom prst="rect">
            <a:avLst/>
          </a:prstGeom>
          <a:solidFill>
            <a:srgbClr val="C00000"/>
          </a:solidFill>
          <a:ln/>
        </p:spPr>
        <p:txBody>
          <a:bodyPr wrap="square" lIns="0" tIns="0" rIns="0" bIns="0" rtlCol="0" anchor="ctr"/>
          <a:lstStyle/>
          <a:p>
            <a:pPr marL="0" indent="0" algn="ctr">
              <a:buNone/>
            </a:pPr>
            <a:r>
              <a:rPr lang="en-US" sz="1400" b="1">
                <a:solidFill>
                  <a:schemeClr val="bg1"/>
                </a:solidFill>
                <a:latin typeface="Calibri" panose="020F0502020204030204" pitchFamily="34" charset="0"/>
                <a:ea typeface="Calibri" panose="020F0502020204030204" pitchFamily="34" charset="0"/>
                <a:cs typeface="Calibri" panose="020F0502020204030204" pitchFamily="34" charset="0"/>
              </a:rPr>
              <a:t>Mục </a:t>
            </a: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tiêu: Xây dựng hệ thống dự báo &amp; cảnh báo cháy rừng bằng AI, tối ưu cho điều kiện nhiệt đới Đắk Lắk, Việt Nam</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4873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BD8C5-88DB-5CF8-8DDA-1AA370788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15609-4FF1-324B-FA2C-1FDC1150EDDF}"/>
              </a:ext>
            </a:extLst>
          </p:cNvPr>
          <p:cNvSpPr>
            <a:spLocks noGrp="1"/>
          </p:cNvSpPr>
          <p:nvPr>
            <p:ph type="title"/>
          </p:nvPr>
        </p:nvSpPr>
        <p:spPr>
          <a:xfrm>
            <a:off x="383175" y="835118"/>
            <a:ext cx="11123024" cy="554902"/>
          </a:xfrm>
        </p:spPr>
        <p:txBody>
          <a:bodyPr>
            <a:normAutofit/>
          </a:bodyPr>
          <a:lstStyle/>
          <a:p>
            <a:r>
              <a:rPr lang="vi-VN">
                <a:latin typeface="Calibri" panose="020F0502020204030204" pitchFamily="34" charset="0"/>
                <a:ea typeface="Calibri" panose="020F0502020204030204" pitchFamily="34" charset="0"/>
                <a:cs typeface="Calibri" panose="020F0502020204030204" pitchFamily="34" charset="0"/>
              </a:rPr>
              <a:t>THỰC TRẠNG CHÁY RỪNG TẠI VIỆT NAM</a:t>
            </a:r>
            <a:endParaRPr lang="vi-VN" dirty="0">
              <a:latin typeface="Calibri" panose="020F0502020204030204" pitchFamily="34" charset="0"/>
              <a:ea typeface="Calibri" panose="020F0502020204030204" pitchFamily="34" charset="0"/>
              <a:cs typeface="Calibri" panose="020F0502020204030204" pitchFamily="34" charset="0"/>
            </a:endParaRPr>
          </a:p>
        </p:txBody>
      </p:sp>
      <p:sp>
        <p:nvSpPr>
          <p:cNvPr id="4" name="Shape 4">
            <a:extLst>
              <a:ext uri="{FF2B5EF4-FFF2-40B4-BE49-F238E27FC236}">
                <a16:creationId xmlns:a16="http://schemas.microsoft.com/office/drawing/2014/main" id="{56F37572-8052-F75D-4449-145FED9D03C0}"/>
              </a:ext>
            </a:extLst>
          </p:cNvPr>
          <p:cNvSpPr/>
          <p:nvPr/>
        </p:nvSpPr>
        <p:spPr>
          <a:xfrm>
            <a:off x="795753" y="1819656"/>
            <a:ext cx="2304000" cy="1188720"/>
          </a:xfrm>
          <a:prstGeom prst="rect">
            <a:avLst/>
          </a:prstGeom>
          <a:solidFill>
            <a:schemeClr val="bg1"/>
          </a:solidFill>
          <a:ln w="9525">
            <a:solidFill>
              <a:srgbClr val="C00000"/>
            </a:solidFill>
            <a:prstDash val="solid"/>
          </a:ln>
          <a:effectLst>
            <a:outerShdw blurRad="101600" dist="38100" dir="8100000" algn="bl" rotWithShape="0">
              <a:srgbClr val="000000">
                <a:alpha val="25000"/>
              </a:srgbClr>
            </a:outerShdw>
          </a:effectLst>
        </p:spPr>
      </p:sp>
      <p:sp>
        <p:nvSpPr>
          <p:cNvPr id="5" name="Text 5">
            <a:extLst>
              <a:ext uri="{FF2B5EF4-FFF2-40B4-BE49-F238E27FC236}">
                <a16:creationId xmlns:a16="http://schemas.microsoft.com/office/drawing/2014/main" id="{188CB441-D512-4BCE-D0DB-A56A33968E6F}"/>
              </a:ext>
            </a:extLst>
          </p:cNvPr>
          <p:cNvSpPr/>
          <p:nvPr/>
        </p:nvSpPr>
        <p:spPr>
          <a:xfrm>
            <a:off x="887193" y="1883664"/>
            <a:ext cx="2115282" cy="594360"/>
          </a:xfrm>
          <a:prstGeom prst="rect">
            <a:avLst/>
          </a:prstGeom>
          <a:solidFill>
            <a:schemeClr val="bg1"/>
          </a:solidFill>
          <a:ln>
            <a:noFill/>
          </a:ln>
        </p:spPr>
        <p:txBody>
          <a:bodyPr wrap="square" rtlCol="0" anchor="ctr"/>
          <a:lstStyle/>
          <a:p>
            <a:pPr marL="0" indent="0" algn="ctr">
              <a:buNone/>
            </a:pPr>
            <a:r>
              <a:rPr lang="en-US" sz="1600" b="1">
                <a:solidFill>
                  <a:srgbClr val="C00000"/>
                </a:solidFill>
                <a:latin typeface="Calibri" panose="020F0502020204030204" pitchFamily="34" charset="0"/>
                <a:ea typeface="Calibri" panose="020F0502020204030204" pitchFamily="34" charset="0"/>
                <a:cs typeface="Calibri" panose="020F0502020204030204" pitchFamily="34" charset="0"/>
              </a:rPr>
              <a:t>~ 6 triệu </a:t>
            </a:r>
            <a:r>
              <a:rPr lang="en-US" sz="1600" b="1" dirty="0">
                <a:solidFill>
                  <a:srgbClr val="C00000"/>
                </a:solidFill>
                <a:latin typeface="Calibri" panose="020F0502020204030204" pitchFamily="34" charset="0"/>
                <a:ea typeface="Calibri" panose="020F0502020204030204" pitchFamily="34" charset="0"/>
                <a:cs typeface="Calibri" panose="020F0502020204030204" pitchFamily="34" charset="0"/>
              </a:rPr>
              <a:t>ha</a:t>
            </a:r>
            <a:endParaRPr lang="en-US" sz="16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 6">
            <a:extLst>
              <a:ext uri="{FF2B5EF4-FFF2-40B4-BE49-F238E27FC236}">
                <a16:creationId xmlns:a16="http://schemas.microsoft.com/office/drawing/2014/main" id="{3793B795-DAF0-70B8-C3C1-051D0265A3CA}"/>
              </a:ext>
            </a:extLst>
          </p:cNvPr>
          <p:cNvSpPr/>
          <p:nvPr/>
        </p:nvSpPr>
        <p:spPr>
          <a:xfrm>
            <a:off x="887193" y="2459736"/>
            <a:ext cx="2115282" cy="457200"/>
          </a:xfrm>
          <a:prstGeom prst="rect">
            <a:avLst/>
          </a:prstGeom>
          <a:solidFill>
            <a:schemeClr val="bg1"/>
          </a:solidFill>
          <a:ln>
            <a:noFill/>
          </a:ln>
        </p:spPr>
        <p:txBody>
          <a:bodyPr wrap="square" rtlCol="0" anchor="ctr"/>
          <a:lstStyle/>
          <a:p>
            <a:pPr marL="0" indent="0" algn="ctr">
              <a:buNone/>
            </a:pPr>
            <a:r>
              <a:rPr lang="en-US" sz="1400" dirty="0">
                <a:latin typeface="Calibri" panose="020F0502020204030204" pitchFamily="34" charset="0"/>
                <a:ea typeface="Calibri" panose="020F0502020204030204" pitchFamily="34" charset="0"/>
                <a:cs typeface="Calibri" panose="020F0502020204030204" pitchFamily="34" charset="0"/>
              </a:rPr>
              <a:t>Rừng dễ cháy</a:t>
            </a:r>
          </a:p>
          <a:p>
            <a:pPr marL="0" indent="0" algn="ctr">
              <a:buNone/>
            </a:pPr>
            <a:r>
              <a:rPr lang="en-US" sz="1400" dirty="0">
                <a:latin typeface="Calibri" panose="020F0502020204030204" pitchFamily="34" charset="0"/>
                <a:ea typeface="Calibri" panose="020F0502020204030204" pitchFamily="34" charset="0"/>
                <a:cs typeface="Calibri" panose="020F0502020204030204" pitchFamily="34" charset="0"/>
              </a:rPr>
              <a:t>tại Việt Nam</a:t>
            </a:r>
          </a:p>
        </p:txBody>
      </p:sp>
      <p:sp>
        <p:nvSpPr>
          <p:cNvPr id="7" name="Shape 7">
            <a:extLst>
              <a:ext uri="{FF2B5EF4-FFF2-40B4-BE49-F238E27FC236}">
                <a16:creationId xmlns:a16="http://schemas.microsoft.com/office/drawing/2014/main" id="{255CADC3-B8D4-9D44-43FA-246C2AB9DDB3}"/>
              </a:ext>
            </a:extLst>
          </p:cNvPr>
          <p:cNvSpPr/>
          <p:nvPr/>
        </p:nvSpPr>
        <p:spPr>
          <a:xfrm>
            <a:off x="3340515" y="1819656"/>
            <a:ext cx="2304000" cy="1188720"/>
          </a:xfrm>
          <a:prstGeom prst="rect">
            <a:avLst/>
          </a:prstGeom>
          <a:solidFill>
            <a:schemeClr val="bg1"/>
          </a:solidFill>
          <a:ln w="9525">
            <a:solidFill>
              <a:srgbClr val="C00000"/>
            </a:solidFill>
            <a:prstDash val="solid"/>
          </a:ln>
          <a:effectLst>
            <a:outerShdw blurRad="101600" dist="38100" dir="8100000" algn="bl" rotWithShape="0">
              <a:srgbClr val="000000">
                <a:alpha val="25000"/>
              </a:srgbClr>
            </a:outerShdw>
          </a:effectLst>
        </p:spPr>
      </p:sp>
      <p:sp>
        <p:nvSpPr>
          <p:cNvPr id="8" name="Text 8">
            <a:extLst>
              <a:ext uri="{FF2B5EF4-FFF2-40B4-BE49-F238E27FC236}">
                <a16:creationId xmlns:a16="http://schemas.microsoft.com/office/drawing/2014/main" id="{D5123141-0801-F487-16F7-978AE2EAB5B6}"/>
              </a:ext>
            </a:extLst>
          </p:cNvPr>
          <p:cNvSpPr/>
          <p:nvPr/>
        </p:nvSpPr>
        <p:spPr>
          <a:xfrm>
            <a:off x="3431955" y="1883664"/>
            <a:ext cx="2119018" cy="594360"/>
          </a:xfrm>
          <a:prstGeom prst="rect">
            <a:avLst/>
          </a:prstGeom>
          <a:solidFill>
            <a:schemeClr val="bg1"/>
          </a:solidFill>
          <a:ln>
            <a:noFill/>
          </a:ln>
        </p:spPr>
        <p:txBody>
          <a:bodyPr wrap="square" rtlCol="0" anchor="ctr"/>
          <a:lstStyle/>
          <a:p>
            <a:pPr marL="0" indent="0" algn="ctr">
              <a:buNone/>
            </a:pPr>
            <a:r>
              <a:rPr lang="en-US" sz="1600" b="1">
                <a:solidFill>
                  <a:srgbClr val="C00000"/>
                </a:solidFill>
                <a:latin typeface="Calibri" panose="020F0502020204030204" pitchFamily="34" charset="0"/>
                <a:ea typeface="Calibri" panose="020F0502020204030204" pitchFamily="34" charset="0"/>
                <a:cs typeface="Calibri" panose="020F0502020204030204" pitchFamily="34" charset="0"/>
              </a:rPr>
              <a:t>~ 319 nghìn </a:t>
            </a:r>
            <a:r>
              <a:rPr lang="en-US" sz="1600" b="1" dirty="0">
                <a:solidFill>
                  <a:srgbClr val="C00000"/>
                </a:solidFill>
                <a:latin typeface="Calibri" panose="020F0502020204030204" pitchFamily="34" charset="0"/>
                <a:ea typeface="Calibri" panose="020F0502020204030204" pitchFamily="34" charset="0"/>
                <a:cs typeface="Calibri" panose="020F0502020204030204" pitchFamily="34" charset="0"/>
              </a:rPr>
              <a:t>ha</a:t>
            </a:r>
            <a:endParaRPr lang="en-US" sz="16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9" name="Text 9">
            <a:extLst>
              <a:ext uri="{FF2B5EF4-FFF2-40B4-BE49-F238E27FC236}">
                <a16:creationId xmlns:a16="http://schemas.microsoft.com/office/drawing/2014/main" id="{5136D5FD-7E1C-F0D5-5EF8-2FC6A34864B3}"/>
              </a:ext>
            </a:extLst>
          </p:cNvPr>
          <p:cNvSpPr/>
          <p:nvPr/>
        </p:nvSpPr>
        <p:spPr>
          <a:xfrm>
            <a:off x="3431955" y="2459736"/>
            <a:ext cx="2119018" cy="457200"/>
          </a:xfrm>
          <a:prstGeom prst="rect">
            <a:avLst/>
          </a:prstGeom>
          <a:solidFill>
            <a:schemeClr val="bg1"/>
          </a:solidFill>
          <a:ln>
            <a:noFill/>
          </a:ln>
        </p:spPr>
        <p:txBody>
          <a:bodyPr wrap="square" rtlCol="0" anchor="ctr"/>
          <a:lstStyle/>
          <a:p>
            <a:pPr marL="0" indent="0" algn="ctr">
              <a:buNone/>
            </a:pPr>
            <a:r>
              <a:rPr lang="en-US" sz="1400" dirty="0">
                <a:latin typeface="Calibri" panose="020F0502020204030204" pitchFamily="34" charset="0"/>
                <a:ea typeface="Calibri" panose="020F0502020204030204" pitchFamily="34" charset="0"/>
                <a:cs typeface="Calibri" panose="020F0502020204030204" pitchFamily="34" charset="0"/>
              </a:rPr>
              <a:t>Rừng dễ cháy</a:t>
            </a:r>
          </a:p>
          <a:p>
            <a:pPr marL="0" indent="0" algn="ctr">
              <a:buNone/>
            </a:pPr>
            <a:r>
              <a:rPr lang="en-US" sz="1400" dirty="0">
                <a:latin typeface="Calibri" panose="020F0502020204030204" pitchFamily="34" charset="0"/>
                <a:ea typeface="Calibri" panose="020F0502020204030204" pitchFamily="34" charset="0"/>
                <a:cs typeface="Calibri" panose="020F0502020204030204" pitchFamily="34" charset="0"/>
              </a:rPr>
              <a:t>tại Đắk Lắk</a:t>
            </a:r>
          </a:p>
        </p:txBody>
      </p:sp>
      <p:sp>
        <p:nvSpPr>
          <p:cNvPr id="10" name="Shape 10">
            <a:extLst>
              <a:ext uri="{FF2B5EF4-FFF2-40B4-BE49-F238E27FC236}">
                <a16:creationId xmlns:a16="http://schemas.microsoft.com/office/drawing/2014/main" id="{AA6E6936-D68F-BD72-F642-2ED3FFE1C3BC}"/>
              </a:ext>
            </a:extLst>
          </p:cNvPr>
          <p:cNvSpPr/>
          <p:nvPr/>
        </p:nvSpPr>
        <p:spPr>
          <a:xfrm>
            <a:off x="5909403" y="1833372"/>
            <a:ext cx="2304000" cy="1188720"/>
          </a:xfrm>
          <a:prstGeom prst="rect">
            <a:avLst/>
          </a:prstGeom>
          <a:solidFill>
            <a:schemeClr val="bg1"/>
          </a:solidFill>
          <a:ln w="9525">
            <a:solidFill>
              <a:srgbClr val="C00000"/>
            </a:solidFill>
            <a:prstDash val="solid"/>
          </a:ln>
          <a:effectLst>
            <a:outerShdw blurRad="101600" dist="38100" dir="8100000" algn="bl" rotWithShape="0">
              <a:srgbClr val="000000">
                <a:alpha val="25000"/>
              </a:srgbClr>
            </a:outerShdw>
          </a:effectLst>
        </p:spPr>
      </p:sp>
      <p:sp>
        <p:nvSpPr>
          <p:cNvPr id="11" name="Text 11">
            <a:extLst>
              <a:ext uri="{FF2B5EF4-FFF2-40B4-BE49-F238E27FC236}">
                <a16:creationId xmlns:a16="http://schemas.microsoft.com/office/drawing/2014/main" id="{ECE080B4-28CA-8A3F-C680-EF33CAF1F86F}"/>
              </a:ext>
            </a:extLst>
          </p:cNvPr>
          <p:cNvSpPr/>
          <p:nvPr/>
        </p:nvSpPr>
        <p:spPr>
          <a:xfrm>
            <a:off x="5955123" y="1897380"/>
            <a:ext cx="2185128" cy="594360"/>
          </a:xfrm>
          <a:prstGeom prst="rect">
            <a:avLst/>
          </a:prstGeom>
          <a:solidFill>
            <a:schemeClr val="bg1"/>
          </a:solidFill>
          <a:ln>
            <a:noFill/>
          </a:ln>
        </p:spPr>
        <p:txBody>
          <a:bodyPr wrap="square" rtlCol="0" anchor="ctr"/>
          <a:lstStyle/>
          <a:p>
            <a:pPr marL="0" indent="0" algn="ctr">
              <a:buNone/>
            </a:pPr>
            <a:r>
              <a:rPr lang="en-US" sz="1600" b="1">
                <a:solidFill>
                  <a:srgbClr val="C00000"/>
                </a:solidFill>
                <a:latin typeface="Calibri" panose="020F0502020204030204" pitchFamily="34" charset="0"/>
                <a:ea typeface="Calibri" panose="020F0502020204030204" pitchFamily="34" charset="0"/>
                <a:cs typeface="Calibri" panose="020F0502020204030204" pitchFamily="34" charset="0"/>
              </a:rPr>
              <a:t>254 vụ cháy rừng</a:t>
            </a:r>
            <a:endParaRPr lang="en-US" sz="16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 12">
            <a:extLst>
              <a:ext uri="{FF2B5EF4-FFF2-40B4-BE49-F238E27FC236}">
                <a16:creationId xmlns:a16="http://schemas.microsoft.com/office/drawing/2014/main" id="{442832E9-B9B0-404C-95AA-98EF1DDD56A7}"/>
              </a:ext>
            </a:extLst>
          </p:cNvPr>
          <p:cNvSpPr/>
          <p:nvPr/>
        </p:nvSpPr>
        <p:spPr>
          <a:xfrm>
            <a:off x="5982555" y="2473452"/>
            <a:ext cx="2111976" cy="457200"/>
          </a:xfrm>
          <a:prstGeom prst="rect">
            <a:avLst/>
          </a:prstGeom>
          <a:solidFill>
            <a:schemeClr val="bg1"/>
          </a:solidFill>
          <a:ln>
            <a:noFill/>
          </a:ln>
        </p:spPr>
        <p:txBody>
          <a:bodyPr wrap="square" rtlCol="0" anchor="ctr"/>
          <a:lstStyle/>
          <a:p>
            <a:pPr marL="0" indent="0" algn="ctr">
              <a:buNone/>
            </a:pPr>
            <a:r>
              <a:rPr lang="en-US" sz="1400">
                <a:latin typeface="Calibri" panose="020F0502020204030204" pitchFamily="34" charset="0"/>
                <a:ea typeface="Calibri" panose="020F0502020204030204" pitchFamily="34" charset="0"/>
                <a:cs typeface="Calibri" panose="020F0502020204030204" pitchFamily="34" charset="0"/>
              </a:rPr>
              <a:t>Giai đoạn 2000-2012</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3" name="Shape 13">
            <a:extLst>
              <a:ext uri="{FF2B5EF4-FFF2-40B4-BE49-F238E27FC236}">
                <a16:creationId xmlns:a16="http://schemas.microsoft.com/office/drawing/2014/main" id="{A0E6F272-DDAC-C2A4-7DBE-A5CD310599DE}"/>
              </a:ext>
            </a:extLst>
          </p:cNvPr>
          <p:cNvSpPr/>
          <p:nvPr/>
        </p:nvSpPr>
        <p:spPr>
          <a:xfrm>
            <a:off x="8432571" y="1831086"/>
            <a:ext cx="2304000" cy="1188720"/>
          </a:xfrm>
          <a:prstGeom prst="rect">
            <a:avLst/>
          </a:prstGeom>
          <a:solidFill>
            <a:schemeClr val="bg1"/>
          </a:solidFill>
          <a:ln w="9525">
            <a:solidFill>
              <a:srgbClr val="C00000"/>
            </a:solidFill>
            <a:prstDash val="solid"/>
          </a:ln>
          <a:effectLst>
            <a:outerShdw blurRad="101600" dist="38100" dir="8100000" algn="bl" rotWithShape="0">
              <a:srgbClr val="000000">
                <a:alpha val="25000"/>
              </a:srgbClr>
            </a:outerShdw>
          </a:effectLst>
        </p:spPr>
      </p:sp>
      <p:sp>
        <p:nvSpPr>
          <p:cNvPr id="14" name="Text 14">
            <a:extLst>
              <a:ext uri="{FF2B5EF4-FFF2-40B4-BE49-F238E27FC236}">
                <a16:creationId xmlns:a16="http://schemas.microsoft.com/office/drawing/2014/main" id="{B51A5B5E-26F7-66A0-3CA4-A666848BAF1C}"/>
              </a:ext>
            </a:extLst>
          </p:cNvPr>
          <p:cNvSpPr/>
          <p:nvPr/>
        </p:nvSpPr>
        <p:spPr>
          <a:xfrm>
            <a:off x="8478290" y="1895094"/>
            <a:ext cx="2183425" cy="594360"/>
          </a:xfrm>
          <a:prstGeom prst="rect">
            <a:avLst/>
          </a:prstGeom>
          <a:solidFill>
            <a:schemeClr val="bg1"/>
          </a:solidFill>
          <a:ln>
            <a:noFill/>
          </a:ln>
        </p:spPr>
        <p:txBody>
          <a:bodyPr wrap="square" rtlCol="0" anchor="ctr"/>
          <a:lstStyle/>
          <a:p>
            <a:pPr marL="0" indent="0" algn="ctr">
              <a:buNone/>
            </a:pPr>
            <a:r>
              <a:rPr lang="en-US" sz="1600" b="1">
                <a:solidFill>
                  <a:srgbClr val="C00000"/>
                </a:solidFill>
                <a:latin typeface="Calibri" panose="020F0502020204030204" pitchFamily="34" charset="0"/>
                <a:ea typeface="Calibri" panose="020F0502020204030204" pitchFamily="34" charset="0"/>
                <a:cs typeface="Calibri" panose="020F0502020204030204" pitchFamily="34" charset="0"/>
              </a:rPr>
              <a:t>1.350 ha</a:t>
            </a:r>
            <a:endParaRPr lang="en-US" sz="16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Text 15">
            <a:extLst>
              <a:ext uri="{FF2B5EF4-FFF2-40B4-BE49-F238E27FC236}">
                <a16:creationId xmlns:a16="http://schemas.microsoft.com/office/drawing/2014/main" id="{7C5F8CB4-D0E4-D04E-49CF-702283BE2AC1}"/>
              </a:ext>
            </a:extLst>
          </p:cNvPr>
          <p:cNvSpPr/>
          <p:nvPr/>
        </p:nvSpPr>
        <p:spPr>
          <a:xfrm>
            <a:off x="8478291" y="2471166"/>
            <a:ext cx="2183424" cy="457200"/>
          </a:xfrm>
          <a:prstGeom prst="rect">
            <a:avLst/>
          </a:prstGeom>
          <a:solidFill>
            <a:schemeClr val="bg1"/>
          </a:solidFill>
          <a:ln>
            <a:noFill/>
          </a:ln>
        </p:spPr>
        <p:txBody>
          <a:bodyPr wrap="square" rtlCol="0" anchor="ctr"/>
          <a:lstStyle/>
          <a:p>
            <a:pPr marL="0" indent="0" algn="ctr">
              <a:buNone/>
            </a:pPr>
            <a:r>
              <a:rPr lang="en-US" sz="1400" dirty="0">
                <a:latin typeface="Calibri" panose="020F0502020204030204" pitchFamily="34" charset="0"/>
                <a:ea typeface="Calibri" panose="020F0502020204030204" pitchFamily="34" charset="0"/>
                <a:cs typeface="Calibri" panose="020F0502020204030204" pitchFamily="34" charset="0"/>
              </a:rPr>
              <a:t>Thiệt hại</a:t>
            </a:r>
          </a:p>
          <a:p>
            <a:pPr marL="0" indent="0" algn="ctr">
              <a:buNone/>
            </a:pPr>
            <a:r>
              <a:rPr lang="en-US" sz="1400" dirty="0">
                <a:latin typeface="Calibri" panose="020F0502020204030204" pitchFamily="34" charset="0"/>
                <a:ea typeface="Calibri" panose="020F0502020204030204" pitchFamily="34" charset="0"/>
                <a:cs typeface="Calibri" panose="020F0502020204030204" pitchFamily="34" charset="0"/>
              </a:rPr>
              <a:t>giai đoạn trên</a:t>
            </a:r>
          </a:p>
        </p:txBody>
      </p:sp>
      <p:sp>
        <p:nvSpPr>
          <p:cNvPr id="16" name="Shape 16">
            <a:extLst>
              <a:ext uri="{FF2B5EF4-FFF2-40B4-BE49-F238E27FC236}">
                <a16:creationId xmlns:a16="http://schemas.microsoft.com/office/drawing/2014/main" id="{54F2518D-CBF5-3FAC-716B-1D5525343A51}"/>
              </a:ext>
            </a:extLst>
          </p:cNvPr>
          <p:cNvSpPr/>
          <p:nvPr/>
        </p:nvSpPr>
        <p:spPr>
          <a:xfrm>
            <a:off x="795753" y="3364992"/>
            <a:ext cx="4848763" cy="2514600"/>
          </a:xfrm>
          <a:prstGeom prst="rect">
            <a:avLst/>
          </a:prstGeom>
          <a:noFill/>
          <a:ln w="9525">
            <a:solidFill>
              <a:srgbClr val="C00000"/>
            </a:solidFill>
            <a:prstDash val="solid"/>
          </a:ln>
        </p:spPr>
      </p:sp>
      <p:sp>
        <p:nvSpPr>
          <p:cNvPr id="17" name="Text 17">
            <a:extLst>
              <a:ext uri="{FF2B5EF4-FFF2-40B4-BE49-F238E27FC236}">
                <a16:creationId xmlns:a16="http://schemas.microsoft.com/office/drawing/2014/main" id="{9E99FF14-0A1A-7423-69EC-83C426FD93D9}"/>
              </a:ext>
            </a:extLst>
          </p:cNvPr>
          <p:cNvSpPr/>
          <p:nvPr/>
        </p:nvSpPr>
        <p:spPr>
          <a:xfrm>
            <a:off x="887193" y="3410712"/>
            <a:ext cx="4663780" cy="347472"/>
          </a:xfrm>
          <a:prstGeom prst="rect">
            <a:avLst/>
          </a:prstGeom>
          <a:noFill/>
          <a:ln/>
        </p:spPr>
        <p:txBody>
          <a:bodyPr wrap="square" rtlCol="0" anchor="ctr"/>
          <a:lstStyle/>
          <a:p>
            <a:pPr marL="0" indent="0">
              <a:buNone/>
            </a:pPr>
            <a:r>
              <a:rPr lang="en-US" sz="1400" b="1" dirty="0">
                <a:solidFill>
                  <a:srgbClr val="C00000"/>
                </a:solidFill>
                <a:latin typeface="Calibri" panose="020F0502020204030204" pitchFamily="34" charset="0"/>
                <a:ea typeface="Calibri" panose="020F0502020204030204" pitchFamily="34" charset="0"/>
                <a:cs typeface="Calibri" panose="020F0502020204030204" pitchFamily="34" charset="0"/>
              </a:rPr>
              <a:t>Nguyên nhân cháy rừng</a:t>
            </a:r>
            <a:endParaRPr lang="en-US" sz="14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Text 18">
            <a:extLst>
              <a:ext uri="{FF2B5EF4-FFF2-40B4-BE49-F238E27FC236}">
                <a16:creationId xmlns:a16="http://schemas.microsoft.com/office/drawing/2014/main" id="{D091A6FA-0478-0739-4DE7-50E1F8430C6A}"/>
              </a:ext>
            </a:extLst>
          </p:cNvPr>
          <p:cNvSpPr/>
          <p:nvPr/>
        </p:nvSpPr>
        <p:spPr>
          <a:xfrm>
            <a:off x="905481" y="3822191"/>
            <a:ext cx="2940655" cy="806369"/>
          </a:xfrm>
          <a:prstGeom prst="rect">
            <a:avLst/>
          </a:prstGeom>
          <a:noFill/>
          <a:ln>
            <a:noFill/>
          </a:ln>
        </p:spPr>
        <p:txBody>
          <a:bodyPr wrap="square" rtlCol="0" anchor="ctr"/>
          <a:lstStyle/>
          <a:p>
            <a:pPr marL="0" indent="0">
              <a:lnSpc>
                <a:spcPct val="140000"/>
              </a:lnSpc>
              <a:buNone/>
            </a:pP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9" name="Shape 19">
            <a:extLst>
              <a:ext uri="{FF2B5EF4-FFF2-40B4-BE49-F238E27FC236}">
                <a16:creationId xmlns:a16="http://schemas.microsoft.com/office/drawing/2014/main" id="{D1FD1DDA-9F78-2835-DF52-9D5CC96ACEFB}"/>
              </a:ext>
            </a:extLst>
          </p:cNvPr>
          <p:cNvSpPr/>
          <p:nvPr/>
        </p:nvSpPr>
        <p:spPr>
          <a:xfrm>
            <a:off x="5909403" y="3364992"/>
            <a:ext cx="4827168" cy="2514600"/>
          </a:xfrm>
          <a:prstGeom prst="rect">
            <a:avLst/>
          </a:prstGeom>
          <a:noFill/>
          <a:ln w="9525">
            <a:solidFill>
              <a:srgbClr val="C00000"/>
            </a:solidFill>
            <a:prstDash val="solid"/>
          </a:ln>
        </p:spPr>
      </p:sp>
      <p:sp>
        <p:nvSpPr>
          <p:cNvPr id="20" name="Text 20">
            <a:extLst>
              <a:ext uri="{FF2B5EF4-FFF2-40B4-BE49-F238E27FC236}">
                <a16:creationId xmlns:a16="http://schemas.microsoft.com/office/drawing/2014/main" id="{1E769EB8-72BC-6260-49B7-BAA84ED925BC}"/>
              </a:ext>
            </a:extLst>
          </p:cNvPr>
          <p:cNvSpPr/>
          <p:nvPr/>
        </p:nvSpPr>
        <p:spPr>
          <a:xfrm>
            <a:off x="6000843" y="3410712"/>
            <a:ext cx="4160520" cy="347472"/>
          </a:xfrm>
          <a:prstGeom prst="rect">
            <a:avLst/>
          </a:prstGeom>
          <a:noFill/>
          <a:ln/>
        </p:spPr>
        <p:txBody>
          <a:bodyPr wrap="square" rtlCol="0" anchor="ctr"/>
          <a:lstStyle/>
          <a:p>
            <a:pPr marL="0" indent="0">
              <a:buNone/>
            </a:pPr>
            <a:r>
              <a:rPr lang="en-US" sz="1400" b="1" dirty="0">
                <a:solidFill>
                  <a:srgbClr val="C00000"/>
                </a:solidFill>
                <a:latin typeface="Calibri" panose="020F0502020204030204" pitchFamily="34" charset="0"/>
                <a:ea typeface="Calibri" panose="020F0502020204030204" pitchFamily="34" charset="0"/>
                <a:cs typeface="Calibri" panose="020F0502020204030204" pitchFamily="34" charset="0"/>
              </a:rPr>
              <a:t>Hạn chế hệ thống hiện tại</a:t>
            </a:r>
            <a:endParaRPr lang="en-US" sz="1400"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Text 21">
            <a:extLst>
              <a:ext uri="{FF2B5EF4-FFF2-40B4-BE49-F238E27FC236}">
                <a16:creationId xmlns:a16="http://schemas.microsoft.com/office/drawing/2014/main" id="{42428336-71ED-FF5B-2762-3FFEAEFC7C2D}"/>
              </a:ext>
            </a:extLst>
          </p:cNvPr>
          <p:cNvSpPr/>
          <p:nvPr/>
        </p:nvSpPr>
        <p:spPr>
          <a:xfrm>
            <a:off x="6028275" y="3802772"/>
            <a:ext cx="4633440" cy="1901952"/>
          </a:xfrm>
          <a:prstGeom prst="rect">
            <a:avLst/>
          </a:prstGeom>
          <a:noFill/>
          <a:ln/>
        </p:spPr>
        <p:txBody>
          <a:bodyPr wrap="square" rtlCol="0" anchor="ctr"/>
          <a:lstStyle/>
          <a:p>
            <a:pPr marL="285750" indent="-285750">
              <a:lnSpc>
                <a:spcPct val="150000"/>
              </a:lnSpc>
              <a:buFont typeface="Wingdings" panose="05000000000000000000" pitchFamily="2" charset="2"/>
              <a:buChar char="§"/>
            </a:pPr>
            <a:r>
              <a:rPr lang="en-US" sz="1300">
                <a:latin typeface="Calibri" panose="020F0502020204030204" pitchFamily="34" charset="0"/>
                <a:ea typeface="Calibri" panose="020F0502020204030204" pitchFamily="34" charset="0"/>
                <a:cs typeface="Calibri" panose="020F0502020204030204" pitchFamily="34" charset="0"/>
              </a:rPr>
              <a:t>Dựa </a:t>
            </a:r>
            <a:r>
              <a:rPr lang="en-US" sz="1300" dirty="0">
                <a:latin typeface="Calibri" panose="020F0502020204030204" pitchFamily="34" charset="0"/>
                <a:ea typeface="Calibri" panose="020F0502020204030204" pitchFamily="34" charset="0"/>
                <a:cs typeface="Calibri" panose="020F0502020204030204" pitchFamily="34" charset="0"/>
              </a:rPr>
              <a:t>chủ yếu vào MODIS/VIIRS </a:t>
            </a:r>
            <a:r>
              <a:rPr lang="en-US" sz="1300">
                <a:latin typeface="Calibri" panose="020F0502020204030204" pitchFamily="34" charset="0"/>
                <a:ea typeface="Calibri" panose="020F0502020204030204" pitchFamily="34" charset="0"/>
                <a:cs typeface="Calibri" panose="020F0502020204030204" pitchFamily="34" charset="0"/>
              </a:rPr>
              <a:t>hotspot </a:t>
            </a:r>
          </a:p>
          <a:p>
            <a:pPr marL="285750" indent="-285750">
              <a:lnSpc>
                <a:spcPct val="150000"/>
              </a:lnSpc>
              <a:buFont typeface="Wingdings" panose="05000000000000000000" pitchFamily="2" charset="2"/>
              <a:buChar char="§"/>
            </a:pPr>
            <a:r>
              <a:rPr lang="en-US" sz="1300">
                <a:latin typeface="Calibri" panose="020F0502020204030204" pitchFamily="34" charset="0"/>
                <a:ea typeface="Calibri" panose="020F0502020204030204" pitchFamily="34" charset="0"/>
                <a:cs typeface="Calibri" panose="020F0502020204030204" pitchFamily="34" charset="0"/>
              </a:rPr>
              <a:t>Bản đồ nguy cơ tĩnh, không cập nhật theo thời tiết thực</a:t>
            </a:r>
          </a:p>
          <a:p>
            <a:pPr marL="285750" indent="-285750">
              <a:lnSpc>
                <a:spcPct val="150000"/>
              </a:lnSpc>
              <a:buFont typeface="Wingdings" panose="05000000000000000000" pitchFamily="2" charset="2"/>
              <a:buChar char="§"/>
            </a:pPr>
            <a:r>
              <a:rPr lang="en-US" sz="1300">
                <a:latin typeface="Calibri" panose="020F0502020204030204" pitchFamily="34" charset="0"/>
                <a:ea typeface="Calibri" panose="020F0502020204030204" pitchFamily="34" charset="0"/>
                <a:cs typeface="Calibri" panose="020F0502020204030204" pitchFamily="34" charset="0"/>
              </a:rPr>
              <a:t>Không phân biệt được cháy do con người hay tự nhiên</a:t>
            </a:r>
          </a:p>
          <a:p>
            <a:pPr marL="285750" indent="-285750">
              <a:lnSpc>
                <a:spcPct val="150000"/>
              </a:lnSpc>
              <a:buFont typeface="Wingdings" panose="05000000000000000000" pitchFamily="2" charset="2"/>
              <a:buChar char="§"/>
            </a:pPr>
            <a:r>
              <a:rPr lang="en-US" sz="1300">
                <a:latin typeface="Calibri" panose="020F0502020204030204" pitchFamily="34" charset="0"/>
                <a:ea typeface="Calibri" panose="020F0502020204030204" pitchFamily="34" charset="0"/>
                <a:cs typeface="Calibri" panose="020F0502020204030204" pitchFamily="34" charset="0"/>
              </a:rPr>
              <a:t>Công nghệ AI/UAV/camera mới chỉ ở quy mô thử nghiệm nhỏ</a:t>
            </a:r>
          </a:p>
          <a:p>
            <a:pPr marL="285750" indent="-285750">
              <a:lnSpc>
                <a:spcPct val="150000"/>
              </a:lnSpc>
              <a:buFont typeface="Wingdings" panose="05000000000000000000" pitchFamily="2" charset="2"/>
              <a:buChar char="§"/>
            </a:pPr>
            <a:r>
              <a:rPr lang="en-US" sz="1300">
                <a:latin typeface="Calibri" panose="020F0502020204030204" pitchFamily="34" charset="0"/>
                <a:ea typeface="Calibri" panose="020F0502020204030204" pitchFamily="34" charset="0"/>
                <a:cs typeface="Calibri" panose="020F0502020204030204" pitchFamily="34" charset="0"/>
              </a:rPr>
              <a:t>Chưa tích hợp hoàn chỉnh dự báo nguy cơ + phát hiện thời gian thực</a:t>
            </a:r>
          </a:p>
        </p:txBody>
      </p:sp>
      <p:pic>
        <p:nvPicPr>
          <p:cNvPr id="1026" name="Picture 2" descr="Thermometer - Free Tools and utensils icons">
            <a:extLst>
              <a:ext uri="{FF2B5EF4-FFF2-40B4-BE49-F238E27FC236}">
                <a16:creationId xmlns:a16="http://schemas.microsoft.com/office/drawing/2014/main" id="{D54666C7-81B0-B08A-B1DE-A96100615E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1857" y="3991161"/>
            <a:ext cx="468428" cy="468428"/>
          </a:xfrm>
          <a:prstGeom prst="rect">
            <a:avLst/>
          </a:prstGeom>
          <a:noFill/>
          <a:extLst>
            <a:ext uri="{909E8E84-426E-40DD-AFC4-6F175D3DCCD1}">
              <a14:hiddenFill xmlns:a14="http://schemas.microsoft.com/office/drawing/2010/main">
                <a:solidFill>
                  <a:srgbClr val="FFFFFF"/>
                </a:solidFill>
              </a14:hiddenFill>
            </a:ext>
          </a:extLst>
        </p:spPr>
      </p:pic>
      <p:sp>
        <p:nvSpPr>
          <p:cNvPr id="26" name="Text 18">
            <a:extLst>
              <a:ext uri="{FF2B5EF4-FFF2-40B4-BE49-F238E27FC236}">
                <a16:creationId xmlns:a16="http://schemas.microsoft.com/office/drawing/2014/main" id="{CDB74CC3-225C-D052-44BE-96AE7E1D0F54}"/>
              </a:ext>
            </a:extLst>
          </p:cNvPr>
          <p:cNvSpPr/>
          <p:nvPr/>
        </p:nvSpPr>
        <p:spPr>
          <a:xfrm>
            <a:off x="905481" y="4782121"/>
            <a:ext cx="2940655" cy="806369"/>
          </a:xfrm>
          <a:prstGeom prst="rect">
            <a:avLst/>
          </a:prstGeom>
          <a:noFill/>
          <a:ln>
            <a:noFill/>
          </a:ln>
        </p:spPr>
        <p:txBody>
          <a:bodyPr wrap="square" rtlCol="0" anchor="ctr"/>
          <a:lstStyle/>
          <a:p>
            <a:pPr marL="0" indent="0">
              <a:lnSpc>
                <a:spcPct val="140000"/>
              </a:lnSpc>
              <a:buNone/>
            </a:pPr>
            <a:endParaRPr lang="en-US" sz="1400" dirty="0">
              <a:latin typeface="Calibri" panose="020F0502020204030204" pitchFamily="34" charset="0"/>
              <a:ea typeface="Calibri" panose="020F0502020204030204" pitchFamily="34" charset="0"/>
              <a:cs typeface="Calibri" panose="020F0502020204030204" pitchFamily="34" charset="0"/>
            </a:endParaRPr>
          </a:p>
        </p:txBody>
      </p:sp>
      <p:pic>
        <p:nvPicPr>
          <p:cNvPr id="1028" name="Picture 4" descr="Human Icons - Free SVG &amp; PNG Human Images - Noun Project">
            <a:extLst>
              <a:ext uri="{FF2B5EF4-FFF2-40B4-BE49-F238E27FC236}">
                <a16:creationId xmlns:a16="http://schemas.microsoft.com/office/drawing/2014/main" id="{3FA2A272-333E-70CE-9758-CEA8643ABA3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1182" y="5002829"/>
            <a:ext cx="553039" cy="553039"/>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27">
            <a:extLst>
              <a:ext uri="{FF2B5EF4-FFF2-40B4-BE49-F238E27FC236}">
                <a16:creationId xmlns:a16="http://schemas.microsoft.com/office/drawing/2014/main" id="{93637436-5154-AC14-118D-F4B2014E1FA8}"/>
              </a:ext>
            </a:extLst>
          </p:cNvPr>
          <p:cNvSpPr txBox="1"/>
          <p:nvPr/>
        </p:nvSpPr>
        <p:spPr>
          <a:xfrm>
            <a:off x="1572590" y="3879126"/>
            <a:ext cx="1859365" cy="892552"/>
          </a:xfrm>
          <a:prstGeom prst="rect">
            <a:avLst/>
          </a:prstGeom>
          <a:noFill/>
        </p:spPr>
        <p:txBody>
          <a:bodyPr wrap="square" rtlCol="0">
            <a:spAutoFit/>
          </a:bodyPr>
          <a:lstStyle/>
          <a:p>
            <a:r>
              <a:rPr lang="en-US" sz="1300" b="1">
                <a:solidFill>
                  <a:srgbClr val="C00000"/>
                </a:solidFill>
                <a:latin typeface="Calibri" panose="020F0502020204030204" pitchFamily="34" charset="0"/>
                <a:ea typeface="Calibri" panose="020F0502020204030204" pitchFamily="34" charset="0"/>
                <a:cs typeface="Calibri" panose="020F0502020204030204" pitchFamily="34" charset="0"/>
              </a:rPr>
              <a:t>Tự nhiên</a:t>
            </a:r>
          </a:p>
          <a:p>
            <a:r>
              <a:rPr lang="en-US" sz="1300">
                <a:latin typeface="Calibri" panose="020F0502020204030204" pitchFamily="34" charset="0"/>
                <a:ea typeface="Calibri" panose="020F0502020204030204" pitchFamily="34" charset="0"/>
                <a:cs typeface="Calibri" panose="020F0502020204030204" pitchFamily="34" charset="0"/>
              </a:rPr>
              <a:t>Hạn hán, nhiệt độ cao, VPD cao, gió mạnh, độ ẩm thấp</a:t>
            </a:r>
          </a:p>
        </p:txBody>
      </p:sp>
      <p:sp>
        <p:nvSpPr>
          <p:cNvPr id="29" name="TextBox 28">
            <a:extLst>
              <a:ext uri="{FF2B5EF4-FFF2-40B4-BE49-F238E27FC236}">
                <a16:creationId xmlns:a16="http://schemas.microsoft.com/office/drawing/2014/main" id="{AABBD62E-1169-95E8-6E32-1C88D574FFB7}"/>
              </a:ext>
            </a:extLst>
          </p:cNvPr>
          <p:cNvSpPr txBox="1"/>
          <p:nvPr/>
        </p:nvSpPr>
        <p:spPr>
          <a:xfrm>
            <a:off x="1572590" y="4858536"/>
            <a:ext cx="1859366" cy="892552"/>
          </a:xfrm>
          <a:prstGeom prst="rect">
            <a:avLst/>
          </a:prstGeom>
          <a:noFill/>
        </p:spPr>
        <p:txBody>
          <a:bodyPr wrap="square" rtlCol="0">
            <a:spAutoFit/>
          </a:bodyPr>
          <a:lstStyle/>
          <a:p>
            <a:r>
              <a:rPr lang="en-US" sz="1300" b="1">
                <a:solidFill>
                  <a:srgbClr val="C00000"/>
                </a:solidFill>
                <a:latin typeface="Calibri" panose="020F0502020204030204" pitchFamily="34" charset="0"/>
                <a:ea typeface="Calibri" panose="020F0502020204030204" pitchFamily="34" charset="0"/>
                <a:cs typeface="Calibri" panose="020F0502020204030204" pitchFamily="34" charset="0"/>
              </a:rPr>
              <a:t>Nhân tạo</a:t>
            </a:r>
          </a:p>
          <a:p>
            <a:r>
              <a:rPr lang="vi-VN" sz="1300">
                <a:latin typeface="Calibri" panose="020F0502020204030204" pitchFamily="34" charset="0"/>
                <a:ea typeface="Calibri" panose="020F0502020204030204" pitchFamily="34" charset="0"/>
                <a:cs typeface="Calibri" panose="020F0502020204030204" pitchFamily="34" charset="0"/>
              </a:rPr>
              <a:t>Đốt nương rẫy, phá rừng khai hoang, đốt lặp theo mùa</a:t>
            </a:r>
            <a:endParaRPr lang="en-US" sz="1300">
              <a:latin typeface="Calibri" panose="020F0502020204030204" pitchFamily="34" charset="0"/>
              <a:ea typeface="Calibri" panose="020F0502020204030204" pitchFamily="34" charset="0"/>
              <a:cs typeface="Calibri" panose="020F0502020204030204" pitchFamily="34" charset="0"/>
            </a:endParaRPr>
          </a:p>
        </p:txBody>
      </p:sp>
      <p:pic>
        <p:nvPicPr>
          <p:cNvPr id="1030" name="Picture 6" descr="calendar Vector Icons free download in SVG, PNG Format">
            <a:extLst>
              <a:ext uri="{FF2B5EF4-FFF2-40B4-BE49-F238E27FC236}">
                <a16:creationId xmlns:a16="http://schemas.microsoft.com/office/drawing/2014/main" id="{3337A51E-98FF-698A-CB70-41819AE92FD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76724" y="3974938"/>
            <a:ext cx="692497" cy="692497"/>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B8F312A8-F5B8-C73F-6AAD-FB93E605A2C9}"/>
              </a:ext>
            </a:extLst>
          </p:cNvPr>
          <p:cNvSpPr txBox="1"/>
          <p:nvPr/>
        </p:nvSpPr>
        <p:spPr>
          <a:xfrm>
            <a:off x="3668561" y="4708617"/>
            <a:ext cx="1917179" cy="492443"/>
          </a:xfrm>
          <a:prstGeom prst="rect">
            <a:avLst/>
          </a:prstGeom>
          <a:noFill/>
        </p:spPr>
        <p:txBody>
          <a:bodyPr wrap="square" rtlCol="0">
            <a:spAutoFit/>
          </a:bodyPr>
          <a:lstStyle/>
          <a:p>
            <a:pPr algn="ctr"/>
            <a:r>
              <a:rPr lang="en-US" sz="1300" b="1">
                <a:solidFill>
                  <a:srgbClr val="C00000"/>
                </a:solidFill>
                <a:latin typeface="Calibri" panose="020F0502020204030204" pitchFamily="34" charset="0"/>
                <a:ea typeface="Calibri" panose="020F0502020204030204" pitchFamily="34" charset="0"/>
                <a:cs typeface="Calibri" panose="020F0502020204030204" pitchFamily="34" charset="0"/>
              </a:rPr>
              <a:t>Mùa cháy</a:t>
            </a:r>
          </a:p>
          <a:p>
            <a:pPr algn="ctr"/>
            <a:r>
              <a:rPr lang="en-US" sz="1300">
                <a:latin typeface="Calibri" panose="020F0502020204030204" pitchFamily="34" charset="0"/>
                <a:ea typeface="Calibri" panose="020F0502020204030204" pitchFamily="34" charset="0"/>
                <a:cs typeface="Calibri" panose="020F0502020204030204" pitchFamily="34" charset="0"/>
              </a:rPr>
              <a:t>Tháng 11 – tháng 4</a:t>
            </a:r>
          </a:p>
        </p:txBody>
      </p:sp>
      <p:cxnSp>
        <p:nvCxnSpPr>
          <p:cNvPr id="1024" name="Straight Connector 1023">
            <a:extLst>
              <a:ext uri="{FF2B5EF4-FFF2-40B4-BE49-F238E27FC236}">
                <a16:creationId xmlns:a16="http://schemas.microsoft.com/office/drawing/2014/main" id="{5E734C32-5664-8AE7-8F75-7A171E1AC92C}"/>
              </a:ext>
            </a:extLst>
          </p:cNvPr>
          <p:cNvCxnSpPr/>
          <p:nvPr/>
        </p:nvCxnSpPr>
        <p:spPr>
          <a:xfrm>
            <a:off x="3577957" y="3758184"/>
            <a:ext cx="0" cy="194654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277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E9D00-A549-71BE-BE9E-194EE1FF8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857C8-F667-F13C-3F3D-E72245CF43F8}"/>
              </a:ext>
            </a:extLst>
          </p:cNvPr>
          <p:cNvSpPr>
            <a:spLocks noGrp="1"/>
          </p:cNvSpPr>
          <p:nvPr>
            <p:ph type="title"/>
          </p:nvPr>
        </p:nvSpPr>
        <p:spPr>
          <a:xfrm>
            <a:off x="383175" y="835118"/>
            <a:ext cx="11123024" cy="554902"/>
          </a:xfrm>
        </p:spPr>
        <p:txBody>
          <a:bodyPr>
            <a:normAutofit/>
          </a:bodyPr>
          <a:lstStyle/>
          <a:p>
            <a:r>
              <a:rPr lang="en-GB">
                <a:latin typeface="+mn-lt"/>
              </a:rPr>
              <a:t>DỮ LIỆU &amp; FEATURE ENGINEERING – 52 FEATURES</a:t>
            </a:r>
            <a:endParaRPr lang="en-GB" dirty="0">
              <a:latin typeface="+mn-lt"/>
            </a:endParaRPr>
          </a:p>
        </p:txBody>
      </p:sp>
      <p:sp>
        <p:nvSpPr>
          <p:cNvPr id="64" name="Shape 4">
            <a:extLst>
              <a:ext uri="{FF2B5EF4-FFF2-40B4-BE49-F238E27FC236}">
                <a16:creationId xmlns:a16="http://schemas.microsoft.com/office/drawing/2014/main" id="{968E9D4F-2AD4-DEA1-D877-366236F99224}"/>
              </a:ext>
            </a:extLst>
          </p:cNvPr>
          <p:cNvSpPr/>
          <p:nvPr/>
        </p:nvSpPr>
        <p:spPr>
          <a:xfrm>
            <a:off x="383174" y="1488109"/>
            <a:ext cx="5712825" cy="769264"/>
          </a:xfrm>
          <a:prstGeom prst="rect">
            <a:avLst/>
          </a:prstGeom>
          <a:noFill/>
          <a:ln w="12700">
            <a:solidFill>
              <a:srgbClr val="C00000"/>
            </a:solidFill>
            <a:prstDash val="solid"/>
          </a:ln>
          <a:effectLst>
            <a:outerShdw blurRad="101600" dist="38100" dir="8100000" algn="bl" rotWithShape="0">
              <a:srgbClr val="000000">
                <a:alpha val="25000"/>
              </a:srgbClr>
            </a:outerShdw>
          </a:effectLst>
        </p:spPr>
      </p:sp>
      <p:pic>
        <p:nvPicPr>
          <p:cNvPr id="2050" name="Picture 2" descr="Satellite - Free technology icons">
            <a:extLst>
              <a:ext uri="{FF2B5EF4-FFF2-40B4-BE49-F238E27FC236}">
                <a16:creationId xmlns:a16="http://schemas.microsoft.com/office/drawing/2014/main" id="{890B3F7F-D73D-0453-BF69-BBAC582CC547}"/>
              </a:ext>
            </a:extLst>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4661" y="1609905"/>
            <a:ext cx="525672" cy="525672"/>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a:extLst>
              <a:ext uri="{FF2B5EF4-FFF2-40B4-BE49-F238E27FC236}">
                <a16:creationId xmlns:a16="http://schemas.microsoft.com/office/drawing/2014/main" id="{DCC07007-70B8-7D6F-0E78-D1BCBB7E0B5A}"/>
              </a:ext>
            </a:extLst>
          </p:cNvPr>
          <p:cNvSpPr txBox="1"/>
          <p:nvPr/>
        </p:nvSpPr>
        <p:spPr>
          <a:xfrm>
            <a:off x="1651819" y="1481476"/>
            <a:ext cx="4444180" cy="756233"/>
          </a:xfrm>
          <a:prstGeom prst="rect">
            <a:avLst/>
          </a:prstGeom>
          <a:noFill/>
        </p:spPr>
        <p:txBody>
          <a:bodyPr wrap="square" rtlCol="0">
            <a:spAutoFit/>
          </a:bodyPr>
          <a:lstStyle/>
          <a:p>
            <a:pPr>
              <a:lnSpc>
                <a:spcPct val="150000"/>
              </a:lnSpc>
            </a:pPr>
            <a:r>
              <a:rPr lang="en-US" sz="1600" b="1">
                <a:solidFill>
                  <a:srgbClr val="C00000"/>
                </a:solidFill>
              </a:rPr>
              <a:t>Điểm cháy (9)</a:t>
            </a:r>
            <a:r>
              <a:rPr lang="en-US" b="1">
                <a:solidFill>
                  <a:srgbClr val="C00000"/>
                </a:solidFill>
              </a:rPr>
              <a:t> - </a:t>
            </a:r>
            <a:r>
              <a:rPr lang="en-US" sz="1200" b="1" i="1">
                <a:solidFill>
                  <a:srgbClr val="C00000"/>
                </a:solidFill>
              </a:rPr>
              <a:t>FIRMS/MODIS/VIIRS</a:t>
            </a:r>
          </a:p>
          <a:p>
            <a:pPr>
              <a:lnSpc>
                <a:spcPct val="150000"/>
              </a:lnSpc>
            </a:pPr>
            <a:r>
              <a:rPr lang="en-US" sz="1200">
                <a:latin typeface="Calibri" pitchFamily="34" charset="0"/>
                <a:ea typeface="Calibri" pitchFamily="34" charset="-122"/>
                <a:cs typeface="Calibri" pitchFamily="34" charset="-120"/>
              </a:rPr>
              <a:t>Điểm cháy hôm nay, cháy trong 1/3 ngày, cháy lân cận 1,3,7 ngày,...</a:t>
            </a:r>
            <a:endParaRPr lang="en-US" sz="1200"/>
          </a:p>
        </p:txBody>
      </p:sp>
      <p:sp>
        <p:nvSpPr>
          <p:cNvPr id="73" name="Shape 4">
            <a:extLst>
              <a:ext uri="{FF2B5EF4-FFF2-40B4-BE49-F238E27FC236}">
                <a16:creationId xmlns:a16="http://schemas.microsoft.com/office/drawing/2014/main" id="{A6FC6037-224E-1142-A210-EA05DB861931}"/>
              </a:ext>
            </a:extLst>
          </p:cNvPr>
          <p:cNvSpPr/>
          <p:nvPr/>
        </p:nvSpPr>
        <p:spPr>
          <a:xfrm>
            <a:off x="383174" y="2385802"/>
            <a:ext cx="5712825" cy="769264"/>
          </a:xfrm>
          <a:prstGeom prst="rect">
            <a:avLst/>
          </a:prstGeom>
          <a:noFill/>
          <a:ln w="12700">
            <a:solidFill>
              <a:srgbClr val="C00000"/>
            </a:solidFill>
            <a:prstDash val="solid"/>
          </a:ln>
          <a:effectLst>
            <a:outerShdw blurRad="101600" dist="38100" dir="8100000" algn="bl" rotWithShape="0">
              <a:srgbClr val="000000">
                <a:alpha val="25000"/>
              </a:srgbClr>
            </a:outerShdw>
          </a:effectLst>
        </p:spPr>
      </p:sp>
      <p:sp>
        <p:nvSpPr>
          <p:cNvPr id="75" name="TextBox 74">
            <a:extLst>
              <a:ext uri="{FF2B5EF4-FFF2-40B4-BE49-F238E27FC236}">
                <a16:creationId xmlns:a16="http://schemas.microsoft.com/office/drawing/2014/main" id="{C7691C89-01C6-2EC9-0EC1-071B0B452631}"/>
              </a:ext>
            </a:extLst>
          </p:cNvPr>
          <p:cNvSpPr txBox="1"/>
          <p:nvPr/>
        </p:nvSpPr>
        <p:spPr>
          <a:xfrm>
            <a:off x="1651819" y="2379169"/>
            <a:ext cx="4444180" cy="756233"/>
          </a:xfrm>
          <a:prstGeom prst="rect">
            <a:avLst/>
          </a:prstGeom>
          <a:noFill/>
        </p:spPr>
        <p:txBody>
          <a:bodyPr wrap="square" rtlCol="0">
            <a:spAutoFit/>
          </a:bodyPr>
          <a:lstStyle/>
          <a:p>
            <a:pPr>
              <a:lnSpc>
                <a:spcPct val="150000"/>
              </a:lnSpc>
            </a:pPr>
            <a:r>
              <a:rPr lang="en-US" sz="1600" b="1">
                <a:solidFill>
                  <a:srgbClr val="C00000"/>
                </a:solidFill>
              </a:rPr>
              <a:t>Địa hình (4)</a:t>
            </a:r>
            <a:r>
              <a:rPr lang="en-US" b="1">
                <a:solidFill>
                  <a:srgbClr val="C00000"/>
                </a:solidFill>
              </a:rPr>
              <a:t> – </a:t>
            </a:r>
            <a:r>
              <a:rPr lang="en-US" sz="1200" b="1" i="1">
                <a:solidFill>
                  <a:srgbClr val="C00000"/>
                </a:solidFill>
              </a:rPr>
              <a:t>SRTM 30m/Gis.vn</a:t>
            </a:r>
          </a:p>
          <a:p>
            <a:pPr>
              <a:lnSpc>
                <a:spcPct val="150000"/>
              </a:lnSpc>
            </a:pPr>
            <a:r>
              <a:rPr lang="en-US" sz="1200"/>
              <a:t>Độ cao trung bình, độ dốc trung bình, độ lệch, …</a:t>
            </a:r>
            <a:endParaRPr lang="en-US"/>
          </a:p>
        </p:txBody>
      </p:sp>
      <p:sp>
        <p:nvSpPr>
          <p:cNvPr id="76" name="Shape 4">
            <a:extLst>
              <a:ext uri="{FF2B5EF4-FFF2-40B4-BE49-F238E27FC236}">
                <a16:creationId xmlns:a16="http://schemas.microsoft.com/office/drawing/2014/main" id="{92125C70-6578-CCF2-65EC-1F71799A9579}"/>
              </a:ext>
            </a:extLst>
          </p:cNvPr>
          <p:cNvSpPr/>
          <p:nvPr/>
        </p:nvSpPr>
        <p:spPr>
          <a:xfrm>
            <a:off x="383174" y="3283495"/>
            <a:ext cx="5712825" cy="769264"/>
          </a:xfrm>
          <a:prstGeom prst="rect">
            <a:avLst/>
          </a:prstGeom>
          <a:noFill/>
          <a:ln w="12700">
            <a:solidFill>
              <a:srgbClr val="C00000"/>
            </a:solidFill>
            <a:prstDash val="solid"/>
          </a:ln>
          <a:effectLst>
            <a:outerShdw blurRad="101600" dist="38100" dir="8100000" algn="bl" rotWithShape="0">
              <a:srgbClr val="000000">
                <a:alpha val="25000"/>
              </a:srgbClr>
            </a:outerShdw>
          </a:effectLst>
        </p:spPr>
      </p:sp>
      <p:sp>
        <p:nvSpPr>
          <p:cNvPr id="78" name="TextBox 77">
            <a:extLst>
              <a:ext uri="{FF2B5EF4-FFF2-40B4-BE49-F238E27FC236}">
                <a16:creationId xmlns:a16="http://schemas.microsoft.com/office/drawing/2014/main" id="{C6943920-433F-2747-0F7E-1D07AB38F002}"/>
              </a:ext>
            </a:extLst>
          </p:cNvPr>
          <p:cNvSpPr txBox="1"/>
          <p:nvPr/>
        </p:nvSpPr>
        <p:spPr>
          <a:xfrm>
            <a:off x="1651818" y="3276862"/>
            <a:ext cx="4464817" cy="756233"/>
          </a:xfrm>
          <a:prstGeom prst="rect">
            <a:avLst/>
          </a:prstGeom>
          <a:noFill/>
        </p:spPr>
        <p:txBody>
          <a:bodyPr wrap="square" rtlCol="0">
            <a:spAutoFit/>
          </a:bodyPr>
          <a:lstStyle/>
          <a:p>
            <a:pPr>
              <a:lnSpc>
                <a:spcPct val="150000"/>
              </a:lnSpc>
            </a:pPr>
            <a:r>
              <a:rPr lang="en-US" sz="1600" b="1">
                <a:solidFill>
                  <a:srgbClr val="C00000"/>
                </a:solidFill>
              </a:rPr>
              <a:t>Khí tượng (5)</a:t>
            </a:r>
            <a:r>
              <a:rPr lang="en-US" b="1">
                <a:solidFill>
                  <a:srgbClr val="C00000"/>
                </a:solidFill>
              </a:rPr>
              <a:t> – </a:t>
            </a:r>
            <a:r>
              <a:rPr lang="en-US" sz="1200" b="1" i="1">
                <a:solidFill>
                  <a:srgbClr val="C00000"/>
                </a:solidFill>
              </a:rPr>
              <a:t>ERA5-Land</a:t>
            </a:r>
          </a:p>
          <a:p>
            <a:pPr>
              <a:lnSpc>
                <a:spcPct val="150000"/>
              </a:lnSpc>
            </a:pPr>
            <a:r>
              <a:rPr lang="en-US" sz="1200">
                <a:latin typeface="Calibri" pitchFamily="34" charset="0"/>
                <a:ea typeface="Calibri" pitchFamily="34" charset="-122"/>
                <a:cs typeface="Calibri" pitchFamily="34" charset="-120"/>
              </a:rPr>
              <a:t>Nhiệt độ TB, độ ẩm TB, Lượng mưa TB, chỉ số thiếu hụt hơi nước, …</a:t>
            </a:r>
            <a:endParaRPr lang="en-US" sz="1200"/>
          </a:p>
        </p:txBody>
      </p:sp>
      <p:sp>
        <p:nvSpPr>
          <p:cNvPr id="79" name="Shape 4">
            <a:extLst>
              <a:ext uri="{FF2B5EF4-FFF2-40B4-BE49-F238E27FC236}">
                <a16:creationId xmlns:a16="http://schemas.microsoft.com/office/drawing/2014/main" id="{71E17CA1-B297-D937-9D2E-816B3C8CDD45}"/>
              </a:ext>
            </a:extLst>
          </p:cNvPr>
          <p:cNvSpPr/>
          <p:nvPr/>
        </p:nvSpPr>
        <p:spPr>
          <a:xfrm>
            <a:off x="383174" y="4187821"/>
            <a:ext cx="5712825" cy="769264"/>
          </a:xfrm>
          <a:prstGeom prst="rect">
            <a:avLst/>
          </a:prstGeom>
          <a:noFill/>
          <a:ln w="12700">
            <a:solidFill>
              <a:srgbClr val="C00000"/>
            </a:solidFill>
            <a:prstDash val="solid"/>
          </a:ln>
          <a:effectLst>
            <a:outerShdw blurRad="101600" dist="38100" dir="8100000" algn="bl" rotWithShape="0">
              <a:srgbClr val="000000">
                <a:alpha val="25000"/>
              </a:srgbClr>
            </a:outerShdw>
          </a:effectLst>
        </p:spPr>
      </p:sp>
      <p:sp>
        <p:nvSpPr>
          <p:cNvPr id="81" name="TextBox 80">
            <a:extLst>
              <a:ext uri="{FF2B5EF4-FFF2-40B4-BE49-F238E27FC236}">
                <a16:creationId xmlns:a16="http://schemas.microsoft.com/office/drawing/2014/main" id="{F6D50D56-01DF-C54A-C59C-3A4D58C00AC6}"/>
              </a:ext>
            </a:extLst>
          </p:cNvPr>
          <p:cNvSpPr txBox="1"/>
          <p:nvPr/>
        </p:nvSpPr>
        <p:spPr>
          <a:xfrm>
            <a:off x="1651819" y="4181188"/>
            <a:ext cx="4444180" cy="756233"/>
          </a:xfrm>
          <a:prstGeom prst="rect">
            <a:avLst/>
          </a:prstGeom>
          <a:noFill/>
        </p:spPr>
        <p:txBody>
          <a:bodyPr wrap="square" rtlCol="0">
            <a:spAutoFit/>
          </a:bodyPr>
          <a:lstStyle/>
          <a:p>
            <a:pPr>
              <a:lnSpc>
                <a:spcPct val="150000"/>
              </a:lnSpc>
            </a:pPr>
            <a:r>
              <a:rPr lang="en-US" sz="1600" b="1">
                <a:solidFill>
                  <a:srgbClr val="C00000"/>
                </a:solidFill>
              </a:rPr>
              <a:t>Thực vật (5)</a:t>
            </a:r>
            <a:r>
              <a:rPr lang="en-US" b="1">
                <a:solidFill>
                  <a:srgbClr val="C00000"/>
                </a:solidFill>
              </a:rPr>
              <a:t> – </a:t>
            </a:r>
            <a:r>
              <a:rPr lang="en-US" sz="1200" b="1" i="1">
                <a:solidFill>
                  <a:srgbClr val="C00000"/>
                </a:solidFill>
              </a:rPr>
              <a:t>Sentinel-2 GEE</a:t>
            </a:r>
          </a:p>
          <a:p>
            <a:pPr>
              <a:lnSpc>
                <a:spcPct val="150000"/>
              </a:lnSpc>
            </a:pPr>
            <a:r>
              <a:rPr lang="en-US" sz="1200"/>
              <a:t>Chỉ số độ phủ thực vật, chỉ số nước, …</a:t>
            </a:r>
          </a:p>
        </p:txBody>
      </p:sp>
      <p:sp>
        <p:nvSpPr>
          <p:cNvPr id="82" name="Shape 4">
            <a:extLst>
              <a:ext uri="{FF2B5EF4-FFF2-40B4-BE49-F238E27FC236}">
                <a16:creationId xmlns:a16="http://schemas.microsoft.com/office/drawing/2014/main" id="{5A1DD918-A078-90FD-80FF-7D01EBE1C6FE}"/>
              </a:ext>
            </a:extLst>
          </p:cNvPr>
          <p:cNvSpPr/>
          <p:nvPr/>
        </p:nvSpPr>
        <p:spPr>
          <a:xfrm>
            <a:off x="383174" y="5098780"/>
            <a:ext cx="5712825" cy="769264"/>
          </a:xfrm>
          <a:prstGeom prst="rect">
            <a:avLst/>
          </a:prstGeom>
          <a:noFill/>
          <a:ln w="12700">
            <a:solidFill>
              <a:srgbClr val="C00000"/>
            </a:solidFill>
            <a:prstDash val="solid"/>
          </a:ln>
          <a:effectLst>
            <a:outerShdw blurRad="101600" dist="38100" dir="8100000" algn="bl" rotWithShape="0">
              <a:srgbClr val="000000">
                <a:alpha val="25000"/>
              </a:srgbClr>
            </a:outerShdw>
          </a:effectLst>
        </p:spPr>
      </p:sp>
      <p:sp>
        <p:nvSpPr>
          <p:cNvPr id="84" name="TextBox 83">
            <a:extLst>
              <a:ext uri="{FF2B5EF4-FFF2-40B4-BE49-F238E27FC236}">
                <a16:creationId xmlns:a16="http://schemas.microsoft.com/office/drawing/2014/main" id="{A7A1658E-6F0A-7336-8275-43AB9665A415}"/>
              </a:ext>
            </a:extLst>
          </p:cNvPr>
          <p:cNvSpPr txBox="1"/>
          <p:nvPr/>
        </p:nvSpPr>
        <p:spPr>
          <a:xfrm>
            <a:off x="1651819" y="5092147"/>
            <a:ext cx="4444180" cy="756233"/>
          </a:xfrm>
          <a:prstGeom prst="rect">
            <a:avLst/>
          </a:prstGeom>
          <a:noFill/>
        </p:spPr>
        <p:txBody>
          <a:bodyPr wrap="square" rtlCol="0">
            <a:spAutoFit/>
          </a:bodyPr>
          <a:lstStyle/>
          <a:p>
            <a:pPr>
              <a:lnSpc>
                <a:spcPct val="150000"/>
              </a:lnSpc>
            </a:pPr>
            <a:r>
              <a:rPr lang="en-US" sz="1600" b="1">
                <a:solidFill>
                  <a:srgbClr val="C00000"/>
                </a:solidFill>
              </a:rPr>
              <a:t>Con người (10)</a:t>
            </a:r>
            <a:r>
              <a:rPr lang="en-US" b="1">
                <a:solidFill>
                  <a:srgbClr val="C00000"/>
                </a:solidFill>
              </a:rPr>
              <a:t> – </a:t>
            </a:r>
            <a:r>
              <a:rPr lang="en-US" sz="1200" b="1" i="1">
                <a:solidFill>
                  <a:srgbClr val="C00000"/>
                </a:solidFill>
              </a:rPr>
              <a:t>OSM/WorldCover/Hansen</a:t>
            </a:r>
          </a:p>
          <a:p>
            <a:pPr>
              <a:lnSpc>
                <a:spcPct val="150000"/>
              </a:lnSpc>
            </a:pPr>
            <a:r>
              <a:rPr lang="en-GB" sz="1200"/>
              <a:t>Khoảng cách đến dân cư/đến rừng, tỷ lệ đất nông nghiệp, …</a:t>
            </a:r>
          </a:p>
        </p:txBody>
      </p:sp>
      <p:pic>
        <p:nvPicPr>
          <p:cNvPr id="2054" name="Picture 6" descr="Terrain - Free nature icons">
            <a:extLst>
              <a:ext uri="{FF2B5EF4-FFF2-40B4-BE49-F238E27FC236}">
                <a16:creationId xmlns:a16="http://schemas.microsoft.com/office/drawing/2014/main" id="{A6AFB501-8005-0AEB-971C-5E9BC7BFA777}"/>
              </a:ext>
            </a:extLst>
          </p:cNvPr>
          <p:cNvPicPr>
            <a:picLocks noChangeAspect="1" noChangeArrowheads="1"/>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4841" y="2467778"/>
            <a:ext cx="605312" cy="605312"/>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orest - Free icons">
            <a:extLst>
              <a:ext uri="{FF2B5EF4-FFF2-40B4-BE49-F238E27FC236}">
                <a16:creationId xmlns:a16="http://schemas.microsoft.com/office/drawing/2014/main" id="{7596DEC8-D187-FB36-0F29-828835EDD952}"/>
              </a:ext>
            </a:extLst>
          </p:cNvPr>
          <p:cNvPicPr>
            <a:picLocks noChangeAspect="1" noChangeArrowheads="1"/>
          </p:cNvPicPr>
          <p:nvPr/>
        </p:nvPicPr>
        <p:blipFill>
          <a:blip r:embed="rId5"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4841" y="4270322"/>
            <a:ext cx="577964" cy="57796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Human Icon PNG Images, Vectors Free Download - Pngtree">
            <a:extLst>
              <a:ext uri="{FF2B5EF4-FFF2-40B4-BE49-F238E27FC236}">
                <a16:creationId xmlns:a16="http://schemas.microsoft.com/office/drawing/2014/main" id="{D59D31E5-4877-783A-9C48-4F7FC71F4D59}"/>
              </a:ext>
            </a:extLst>
          </p:cNvPr>
          <p:cNvPicPr>
            <a:picLocks noChangeAspect="1" noChangeArrowheads="1"/>
          </p:cNvPicPr>
          <p:nvPr/>
        </p:nvPicPr>
        <p:blipFill>
          <a:blip r:embed="rId6"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22639" y="5092147"/>
            <a:ext cx="756233" cy="756233"/>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Rain - Free weather icons">
            <a:extLst>
              <a:ext uri="{FF2B5EF4-FFF2-40B4-BE49-F238E27FC236}">
                <a16:creationId xmlns:a16="http://schemas.microsoft.com/office/drawing/2014/main" id="{F7E82FF9-B227-3E14-94A0-D5D6DBFEDF6B}"/>
              </a:ext>
            </a:extLst>
          </p:cNvPr>
          <p:cNvPicPr>
            <a:picLocks noChangeAspect="1" noChangeArrowheads="1"/>
          </p:cNvPicPr>
          <p:nvPr/>
        </p:nvPicPr>
        <p:blipFill>
          <a:blip r:embed="rId7"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4661" y="3429000"/>
            <a:ext cx="517607" cy="517607"/>
          </a:xfrm>
          <a:prstGeom prst="rect">
            <a:avLst/>
          </a:prstGeom>
          <a:noFill/>
          <a:extLst>
            <a:ext uri="{909E8E84-426E-40DD-AFC4-6F175D3DCCD1}">
              <a14:hiddenFill xmlns:a14="http://schemas.microsoft.com/office/drawing/2010/main">
                <a:solidFill>
                  <a:srgbClr val="FFFFFF"/>
                </a:solidFill>
              </a14:hiddenFill>
            </a:ext>
          </a:extLst>
        </p:spPr>
      </p:pic>
      <p:sp>
        <p:nvSpPr>
          <p:cNvPr id="85" name="Shape 4">
            <a:extLst>
              <a:ext uri="{FF2B5EF4-FFF2-40B4-BE49-F238E27FC236}">
                <a16:creationId xmlns:a16="http://schemas.microsoft.com/office/drawing/2014/main" id="{08969D10-601B-CA80-DEB1-9E466C85BDBB}"/>
              </a:ext>
            </a:extLst>
          </p:cNvPr>
          <p:cNvSpPr/>
          <p:nvPr/>
        </p:nvSpPr>
        <p:spPr>
          <a:xfrm>
            <a:off x="6309680" y="1481476"/>
            <a:ext cx="4712281" cy="4386568"/>
          </a:xfrm>
          <a:prstGeom prst="rect">
            <a:avLst/>
          </a:prstGeom>
          <a:noFill/>
          <a:ln w="12700">
            <a:solidFill>
              <a:srgbClr val="C00000"/>
            </a:solidFill>
            <a:prstDash val="solid"/>
          </a:ln>
          <a:effectLst>
            <a:outerShdw blurRad="101600" dist="38100" dir="8100000" algn="bl" rotWithShape="0">
              <a:srgbClr val="000000">
                <a:alpha val="25000"/>
              </a:srgbClr>
            </a:outerShdw>
          </a:effectLst>
        </p:spPr>
      </p:sp>
      <p:pic>
        <p:nvPicPr>
          <p:cNvPr id="2064" name="Picture 16" descr="Engineering - Free technology icons">
            <a:extLst>
              <a:ext uri="{FF2B5EF4-FFF2-40B4-BE49-F238E27FC236}">
                <a16:creationId xmlns:a16="http://schemas.microsoft.com/office/drawing/2014/main" id="{9B5FA692-9B15-16D7-C88C-BF493072AF02}"/>
              </a:ext>
            </a:extLst>
          </p:cNvPr>
          <p:cNvPicPr>
            <a:picLocks noChangeAspect="1" noChangeArrowheads="1"/>
          </p:cNvPicPr>
          <p:nvPr/>
        </p:nvPicPr>
        <p:blipFill>
          <a:blip r:embed="rId8"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263023" y="1662185"/>
            <a:ext cx="805593" cy="805593"/>
          </a:xfrm>
          <a:prstGeom prst="rect">
            <a:avLst/>
          </a:prstGeom>
          <a:noFill/>
          <a:extLst>
            <a:ext uri="{909E8E84-426E-40DD-AFC4-6F175D3DCCD1}">
              <a14:hiddenFill xmlns:a14="http://schemas.microsoft.com/office/drawing/2010/main">
                <a:solidFill>
                  <a:srgbClr val="FFFFFF"/>
                </a:solidFill>
              </a14:hiddenFill>
            </a:ext>
          </a:extLst>
        </p:spPr>
      </p:pic>
      <p:sp>
        <p:nvSpPr>
          <p:cNvPr id="88" name="TextBox 87">
            <a:extLst>
              <a:ext uri="{FF2B5EF4-FFF2-40B4-BE49-F238E27FC236}">
                <a16:creationId xmlns:a16="http://schemas.microsoft.com/office/drawing/2014/main" id="{FFF44EC3-7BCE-261D-5512-E78A07367639}"/>
              </a:ext>
            </a:extLst>
          </p:cNvPr>
          <p:cNvSpPr txBox="1"/>
          <p:nvPr/>
        </p:nvSpPr>
        <p:spPr>
          <a:xfrm>
            <a:off x="6502722" y="2559234"/>
            <a:ext cx="4326194" cy="3203056"/>
          </a:xfrm>
          <a:prstGeom prst="rect">
            <a:avLst/>
          </a:prstGeom>
          <a:noFill/>
        </p:spPr>
        <p:txBody>
          <a:bodyPr wrap="square" rtlCol="0">
            <a:spAutoFit/>
          </a:bodyPr>
          <a:lstStyle/>
          <a:p>
            <a:pPr>
              <a:lnSpc>
                <a:spcPct val="150000"/>
              </a:lnSpc>
            </a:pPr>
            <a:r>
              <a:rPr lang="en-US" sz="1600" b="1">
                <a:solidFill>
                  <a:srgbClr val="C00000"/>
                </a:solidFill>
              </a:rPr>
              <a:t>Feature Engineering (19)</a:t>
            </a:r>
          </a:p>
          <a:p>
            <a:pPr marL="171450" indent="-171450">
              <a:lnSpc>
                <a:spcPct val="150000"/>
              </a:lnSpc>
              <a:buFont typeface="Arial" panose="020B0604020202020204" pitchFamily="34" charset="0"/>
              <a:buChar char="•"/>
            </a:pPr>
            <a:r>
              <a:rPr lang="en-US" sz="1200" b="1"/>
              <a:t>Tích lũy khí tượng theo thời gian</a:t>
            </a:r>
            <a:r>
              <a:rPr lang="en-US" sz="1200"/>
              <a:t>: lượng mưa tích lũy 14/30 ngày, chỉ số thiếu hụp áp suất hơi nước 14/30 ngày, …</a:t>
            </a:r>
          </a:p>
          <a:p>
            <a:pPr marL="171450" indent="-171450">
              <a:lnSpc>
                <a:spcPct val="150000"/>
              </a:lnSpc>
              <a:buFont typeface="Arial" panose="020B0604020202020204" pitchFamily="34" charset="0"/>
              <a:buChar char="•"/>
            </a:pPr>
            <a:r>
              <a:rPr lang="en-US" sz="1200" b="1"/>
              <a:t>Biến động trạng thái thảm thực vật</a:t>
            </a:r>
            <a:r>
              <a:rPr lang="en-US" sz="1200"/>
              <a:t>: biến thiên thảm thực vật 14 ngày</a:t>
            </a:r>
          </a:p>
          <a:p>
            <a:pPr marL="171450" indent="-171450">
              <a:lnSpc>
                <a:spcPct val="150000"/>
              </a:lnSpc>
              <a:buFont typeface="Arial" panose="020B0604020202020204" pitchFamily="34" charset="0"/>
              <a:buChar char="•"/>
            </a:pPr>
            <a:r>
              <a:rPr lang="en-US" sz="1200" b="1"/>
              <a:t>Lan truyền trong không gian của đám cháy</a:t>
            </a:r>
            <a:r>
              <a:rPr lang="en-US" sz="1200"/>
              <a:t>: các ô có cháy trong 8 ô lân cận, …</a:t>
            </a:r>
          </a:p>
          <a:p>
            <a:pPr marL="171450" indent="-171450">
              <a:lnSpc>
                <a:spcPct val="150000"/>
              </a:lnSpc>
              <a:buFont typeface="Arial" panose="020B0604020202020204" pitchFamily="34" charset="0"/>
              <a:buChar char="•"/>
            </a:pPr>
            <a:r>
              <a:rPr lang="en-US" sz="1200" b="1"/>
              <a:t>Các biến tương tác lẫn nhau</a:t>
            </a:r>
            <a:r>
              <a:rPr lang="en-US" sz="1200"/>
              <a:t>: tương tác giữa chỉ số thiếu hụp áp suất hơi nước và lan truyền cháy, …</a:t>
            </a:r>
          </a:p>
          <a:p>
            <a:pPr marL="171450" indent="-171450">
              <a:lnSpc>
                <a:spcPct val="150000"/>
              </a:lnSpc>
              <a:buFont typeface="Arial" panose="020B0604020202020204" pitchFamily="34" charset="0"/>
              <a:buChar char="•"/>
            </a:pPr>
            <a:r>
              <a:rPr lang="en-US" sz="1200" b="1"/>
              <a:t>Các kịch bản cháy nhân tạo</a:t>
            </a:r>
            <a:r>
              <a:rPr lang="en-US" sz="1200"/>
              <a:t>: đốt sau thu hoạch, phá rừng khai hoang, đốt lặp lại theo mùa</a:t>
            </a:r>
          </a:p>
        </p:txBody>
      </p:sp>
    </p:spTree>
    <p:extLst>
      <p:ext uri="{BB962C8B-B14F-4D97-AF65-F5344CB8AC3E}">
        <p14:creationId xmlns:p14="http://schemas.microsoft.com/office/powerpoint/2010/main" val="1680830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8DD09-A708-4171-885E-7BEFECB7BC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005B2-35FB-0481-9616-EBAC606EB3D4}"/>
              </a:ext>
            </a:extLst>
          </p:cNvPr>
          <p:cNvSpPr>
            <a:spLocks noGrp="1"/>
          </p:cNvSpPr>
          <p:nvPr>
            <p:ph type="title"/>
          </p:nvPr>
        </p:nvSpPr>
        <p:spPr>
          <a:xfrm>
            <a:off x="383175" y="835118"/>
            <a:ext cx="11123024" cy="554902"/>
          </a:xfrm>
        </p:spPr>
        <p:txBody>
          <a:bodyPr>
            <a:normAutofit/>
          </a:bodyPr>
          <a:lstStyle/>
          <a:p>
            <a:r>
              <a:rPr lang="vi-VN">
                <a:latin typeface="Calibri" panose="020F0502020204030204" pitchFamily="34" charset="0"/>
                <a:ea typeface="Calibri" panose="020F0502020204030204" pitchFamily="34" charset="0"/>
                <a:cs typeface="Calibri" panose="020F0502020204030204" pitchFamily="34" charset="0"/>
              </a:rPr>
              <a:t>CÁC MÔ HÌNH AI ĐƯỢC XÂY DỰNG</a:t>
            </a:r>
          </a:p>
        </p:txBody>
      </p:sp>
      <p:sp>
        <p:nvSpPr>
          <p:cNvPr id="4" name="Shape 4">
            <a:extLst>
              <a:ext uri="{FF2B5EF4-FFF2-40B4-BE49-F238E27FC236}">
                <a16:creationId xmlns:a16="http://schemas.microsoft.com/office/drawing/2014/main" id="{D9A5A1B6-E0C6-48D4-47F8-096A7B2CC5AA}"/>
              </a:ext>
            </a:extLst>
          </p:cNvPr>
          <p:cNvSpPr/>
          <p:nvPr/>
        </p:nvSpPr>
        <p:spPr>
          <a:xfrm>
            <a:off x="383175" y="1674381"/>
            <a:ext cx="2016000" cy="3794760"/>
          </a:xfrm>
          <a:prstGeom prst="rect">
            <a:avLst/>
          </a:prstGeom>
          <a:solidFill>
            <a:schemeClr val="bg1"/>
          </a:solidFill>
          <a:ln w="15240">
            <a:solidFill>
              <a:schemeClr val="bg1">
                <a:lumMod val="85000"/>
              </a:schemeClr>
            </a:solidFill>
            <a:prstDash val="solid"/>
          </a:ln>
          <a:effectLst>
            <a:outerShdw blurRad="101600" dist="38100" dir="8100000" algn="bl" rotWithShape="0">
              <a:srgbClr val="000000">
                <a:alpha val="25000"/>
              </a:srgbClr>
            </a:outerShdw>
          </a:effectLst>
        </p:spPr>
        <p:txBody>
          <a:bodyPr/>
          <a:lstStyle/>
          <a:p>
            <a:endParaRPr lang="en-US"/>
          </a:p>
        </p:txBody>
      </p:sp>
      <p:sp>
        <p:nvSpPr>
          <p:cNvPr id="5" name="Shape 5">
            <a:extLst>
              <a:ext uri="{FF2B5EF4-FFF2-40B4-BE49-F238E27FC236}">
                <a16:creationId xmlns:a16="http://schemas.microsoft.com/office/drawing/2014/main" id="{F59BD3B4-960E-20BC-CFF0-8FAABD49320E}"/>
              </a:ext>
            </a:extLst>
          </p:cNvPr>
          <p:cNvSpPr/>
          <p:nvPr/>
        </p:nvSpPr>
        <p:spPr>
          <a:xfrm>
            <a:off x="383175" y="1674382"/>
            <a:ext cx="2016000" cy="166208"/>
          </a:xfrm>
          <a:prstGeom prst="rect">
            <a:avLst/>
          </a:prstGeom>
          <a:solidFill>
            <a:schemeClr val="bg1">
              <a:lumMod val="75000"/>
            </a:schemeClr>
          </a:solidFill>
          <a:ln w="12700">
            <a:solidFill>
              <a:schemeClr val="bg1">
                <a:lumMod val="75000"/>
              </a:schemeClr>
            </a:solidFill>
            <a:prstDash val="solid"/>
          </a:ln>
        </p:spPr>
      </p:sp>
      <p:sp>
        <p:nvSpPr>
          <p:cNvPr id="6" name="Text 6">
            <a:extLst>
              <a:ext uri="{FF2B5EF4-FFF2-40B4-BE49-F238E27FC236}">
                <a16:creationId xmlns:a16="http://schemas.microsoft.com/office/drawing/2014/main" id="{47454DDB-2849-96D1-E2E3-CED24DC8EC59}"/>
              </a:ext>
            </a:extLst>
          </p:cNvPr>
          <p:cNvSpPr/>
          <p:nvPr/>
        </p:nvSpPr>
        <p:spPr>
          <a:xfrm>
            <a:off x="474615" y="1921269"/>
            <a:ext cx="1797246" cy="365760"/>
          </a:xfrm>
          <a:prstGeom prst="rect">
            <a:avLst/>
          </a:prstGeom>
          <a:noFill/>
          <a:ln/>
        </p:spPr>
        <p:txBody>
          <a:bodyPr wrap="square" rtlCol="0" anchor="ctr"/>
          <a:lstStyle/>
          <a:p>
            <a:pPr marL="0" indent="0" algn="ctr">
              <a:buNone/>
            </a:pPr>
            <a:r>
              <a:rPr lang="en-US" sz="1250" b="1" dirty="0">
                <a:solidFill>
                  <a:schemeClr val="bg1">
                    <a:lumMod val="65000"/>
                  </a:schemeClr>
                </a:solidFill>
                <a:latin typeface="Trebuchet MS" pitchFamily="34" charset="0"/>
                <a:ea typeface="Trebuchet MS" pitchFamily="34" charset="-122"/>
                <a:cs typeface="Trebuchet MS" pitchFamily="34" charset="-120"/>
              </a:rPr>
              <a:t>Logistic Regression</a:t>
            </a:r>
            <a:endParaRPr lang="en-US" sz="1250" dirty="0">
              <a:solidFill>
                <a:schemeClr val="bg1">
                  <a:lumMod val="65000"/>
                </a:schemeClr>
              </a:solidFill>
            </a:endParaRPr>
          </a:p>
        </p:txBody>
      </p:sp>
      <p:sp>
        <p:nvSpPr>
          <p:cNvPr id="8" name="Text 8">
            <a:extLst>
              <a:ext uri="{FF2B5EF4-FFF2-40B4-BE49-F238E27FC236}">
                <a16:creationId xmlns:a16="http://schemas.microsoft.com/office/drawing/2014/main" id="{2BED23A0-329A-E78C-5B7F-24C37D9DEACF}"/>
              </a:ext>
            </a:extLst>
          </p:cNvPr>
          <p:cNvSpPr/>
          <p:nvPr/>
        </p:nvSpPr>
        <p:spPr>
          <a:xfrm>
            <a:off x="474615" y="2314461"/>
            <a:ext cx="1797246" cy="219456"/>
          </a:xfrm>
          <a:prstGeom prst="rect">
            <a:avLst/>
          </a:prstGeom>
          <a:solidFill>
            <a:schemeClr val="bg1">
              <a:lumMod val="75000"/>
            </a:schemeClr>
          </a:solidFill>
          <a:ln>
            <a:solidFill>
              <a:schemeClr val="bg1">
                <a:lumMod val="75000"/>
              </a:schemeClr>
            </a:solidFill>
          </a:ln>
        </p:spPr>
        <p:txBody>
          <a:bodyPr wrap="square" lIns="0" tIns="0" rIns="0" bIns="0" rtlCol="0" anchor="ctr"/>
          <a:lstStyle/>
          <a:p>
            <a:pPr marL="0" indent="0" algn="ctr">
              <a:buNone/>
            </a:pPr>
            <a:r>
              <a:rPr lang="en-US" sz="950" b="1" dirty="0">
                <a:solidFill>
                  <a:schemeClr val="bg1"/>
                </a:solidFill>
                <a:latin typeface="Calibri" pitchFamily="34" charset="0"/>
                <a:ea typeface="Calibri" pitchFamily="34" charset="-122"/>
                <a:cs typeface="Calibri" pitchFamily="34" charset="-120"/>
              </a:rPr>
              <a:t>Baseline ML</a:t>
            </a:r>
            <a:endParaRPr lang="en-US" sz="950" dirty="0">
              <a:solidFill>
                <a:schemeClr val="bg1"/>
              </a:solidFill>
            </a:endParaRPr>
          </a:p>
        </p:txBody>
      </p:sp>
      <p:sp>
        <p:nvSpPr>
          <p:cNvPr id="9" name="Text 9">
            <a:extLst>
              <a:ext uri="{FF2B5EF4-FFF2-40B4-BE49-F238E27FC236}">
                <a16:creationId xmlns:a16="http://schemas.microsoft.com/office/drawing/2014/main" id="{2A1AF03A-7F55-8E58-47CB-4153C920A528}"/>
              </a:ext>
            </a:extLst>
          </p:cNvPr>
          <p:cNvSpPr/>
          <p:nvPr/>
        </p:nvSpPr>
        <p:spPr>
          <a:xfrm>
            <a:off x="474615" y="2616213"/>
            <a:ext cx="1797246" cy="1508760"/>
          </a:xfrm>
          <a:prstGeom prst="rect">
            <a:avLst/>
          </a:prstGeom>
          <a:noFill/>
          <a:ln/>
        </p:spPr>
        <p:txBody>
          <a:bodyPr wrap="square" rtlCol="0" anchor="ctr"/>
          <a:lstStyle/>
          <a:p>
            <a:pPr marL="0" indent="0">
              <a:lnSpc>
                <a:spcPct val="130000"/>
              </a:lnSpc>
              <a:buNone/>
            </a:pPr>
            <a:r>
              <a:rPr lang="en-US" sz="1050" dirty="0">
                <a:latin typeface="Calibri" pitchFamily="34" charset="0"/>
                <a:ea typeface="Calibri" pitchFamily="34" charset="-122"/>
                <a:cs typeface="Calibri" pitchFamily="34" charset="-120"/>
              </a:rPr>
              <a:t>Mô hình tuyến tính đơn giản, dùng hàm sigmoid</a:t>
            </a:r>
            <a:r>
              <a:rPr lang="en-US" sz="1050">
                <a:latin typeface="Calibri" pitchFamily="34" charset="0"/>
                <a:ea typeface="Calibri" pitchFamily="34" charset="-122"/>
                <a:cs typeface="Calibri" pitchFamily="34" charset="-120"/>
              </a:rPr>
              <a:t>. </a:t>
            </a:r>
          </a:p>
          <a:p>
            <a:pPr marL="0" indent="0">
              <a:lnSpc>
                <a:spcPct val="130000"/>
              </a:lnSpc>
              <a:buNone/>
            </a:pPr>
            <a:r>
              <a:rPr lang="en-US" sz="1050">
                <a:latin typeface="Calibri" pitchFamily="34" charset="0"/>
                <a:ea typeface="Calibri" pitchFamily="34" charset="-122"/>
                <a:cs typeface="Calibri" pitchFamily="34" charset="-120"/>
              </a:rPr>
              <a:t>Dễ </a:t>
            </a:r>
            <a:r>
              <a:rPr lang="en-US" sz="1050" dirty="0">
                <a:latin typeface="Calibri" pitchFamily="34" charset="0"/>
                <a:ea typeface="Calibri" pitchFamily="34" charset="-122"/>
                <a:cs typeface="Calibri" pitchFamily="34" charset="-120"/>
              </a:rPr>
              <a:t>giải thích, chi phí thấp. Không học được quan hệ phi tuyến.</a:t>
            </a:r>
            <a:endParaRPr lang="en-US" sz="1050" dirty="0"/>
          </a:p>
        </p:txBody>
      </p:sp>
      <p:sp>
        <p:nvSpPr>
          <p:cNvPr id="10" name="Shape 10">
            <a:extLst>
              <a:ext uri="{FF2B5EF4-FFF2-40B4-BE49-F238E27FC236}">
                <a16:creationId xmlns:a16="http://schemas.microsoft.com/office/drawing/2014/main" id="{2F1772E0-1CE1-CAA9-C142-F53DB507CAA8}"/>
              </a:ext>
            </a:extLst>
          </p:cNvPr>
          <p:cNvSpPr/>
          <p:nvPr/>
        </p:nvSpPr>
        <p:spPr>
          <a:xfrm>
            <a:off x="474613" y="4170693"/>
            <a:ext cx="1800000" cy="0"/>
          </a:xfrm>
          <a:prstGeom prst="line">
            <a:avLst/>
          </a:prstGeom>
          <a:noFill/>
          <a:ln w="6350">
            <a:solidFill>
              <a:schemeClr val="bg1">
                <a:lumMod val="85000"/>
              </a:schemeClr>
            </a:solidFill>
            <a:prstDash val="dash"/>
          </a:ln>
        </p:spPr>
        <p:txBody>
          <a:bodyPr/>
          <a:lstStyle/>
          <a:p>
            <a:endParaRPr lang="en-US" sz="2800"/>
          </a:p>
        </p:txBody>
      </p:sp>
      <p:sp>
        <p:nvSpPr>
          <p:cNvPr id="11" name="Text 11">
            <a:extLst>
              <a:ext uri="{FF2B5EF4-FFF2-40B4-BE49-F238E27FC236}">
                <a16:creationId xmlns:a16="http://schemas.microsoft.com/office/drawing/2014/main" id="{A3EC56C3-4A18-A99B-68F6-DF4EB1FF8040}"/>
              </a:ext>
            </a:extLst>
          </p:cNvPr>
          <p:cNvSpPr/>
          <p:nvPr/>
        </p:nvSpPr>
        <p:spPr>
          <a:xfrm>
            <a:off x="474615" y="4461511"/>
            <a:ext cx="1797246" cy="658368"/>
          </a:xfrm>
          <a:prstGeom prst="rect">
            <a:avLst/>
          </a:prstGeom>
          <a:noFill/>
          <a:ln/>
        </p:spPr>
        <p:txBody>
          <a:bodyPr wrap="square" rtlCol="0" anchor="ctr"/>
          <a:lstStyle/>
          <a:p>
            <a:pPr marL="0" indent="0">
              <a:lnSpc>
                <a:spcPct val="130000"/>
              </a:lnSpc>
              <a:buNone/>
            </a:pPr>
            <a:r>
              <a:rPr lang="en-US" sz="1000" dirty="0">
                <a:latin typeface="Calibri" pitchFamily="34" charset="0"/>
                <a:ea typeface="Calibri" pitchFamily="34" charset="-122"/>
                <a:cs typeface="Calibri" pitchFamily="34" charset="-120"/>
              </a:rPr>
              <a:t>Scikit-learn | class_weight=balanced</a:t>
            </a:r>
            <a:endParaRPr lang="en-US" sz="1000" dirty="0"/>
          </a:p>
          <a:p>
            <a:pPr marL="0" indent="0">
              <a:lnSpc>
                <a:spcPct val="130000"/>
              </a:lnSpc>
              <a:buNone/>
            </a:pPr>
            <a:r>
              <a:rPr lang="en-US" sz="1000" dirty="0">
                <a:latin typeface="Calibri" pitchFamily="34" charset="0"/>
                <a:ea typeface="Calibri" pitchFamily="34" charset="-122"/>
                <a:cs typeface="Calibri" pitchFamily="34" charset="-120"/>
              </a:rPr>
              <a:t>Saga solver, L2 regularization</a:t>
            </a:r>
            <a:endParaRPr lang="en-US" sz="1000" dirty="0"/>
          </a:p>
        </p:txBody>
      </p:sp>
      <p:sp>
        <p:nvSpPr>
          <p:cNvPr id="12" name="Shape 12">
            <a:extLst>
              <a:ext uri="{FF2B5EF4-FFF2-40B4-BE49-F238E27FC236}">
                <a16:creationId xmlns:a16="http://schemas.microsoft.com/office/drawing/2014/main" id="{6C1AE22A-A680-F165-9718-22E6513703A2}"/>
              </a:ext>
            </a:extLst>
          </p:cNvPr>
          <p:cNvSpPr/>
          <p:nvPr/>
        </p:nvSpPr>
        <p:spPr>
          <a:xfrm>
            <a:off x="2589957" y="1674381"/>
            <a:ext cx="2016000" cy="3794760"/>
          </a:xfrm>
          <a:prstGeom prst="rect">
            <a:avLst/>
          </a:prstGeom>
          <a:solidFill>
            <a:schemeClr val="bg1"/>
          </a:solidFill>
          <a:ln w="15240">
            <a:solidFill>
              <a:schemeClr val="accent6">
                <a:lumMod val="60000"/>
                <a:lumOff val="40000"/>
              </a:schemeClr>
            </a:solidFill>
            <a:prstDash val="solid"/>
          </a:ln>
          <a:effectLst>
            <a:outerShdw blurRad="101600" dist="38100" dir="8100000" algn="bl" rotWithShape="0">
              <a:srgbClr val="000000">
                <a:alpha val="25000"/>
              </a:srgbClr>
            </a:outerShdw>
          </a:effectLst>
        </p:spPr>
        <p:txBody>
          <a:bodyPr/>
          <a:lstStyle/>
          <a:p>
            <a:endParaRPr lang="en-US"/>
          </a:p>
        </p:txBody>
      </p:sp>
      <p:sp>
        <p:nvSpPr>
          <p:cNvPr id="13" name="Shape 13">
            <a:extLst>
              <a:ext uri="{FF2B5EF4-FFF2-40B4-BE49-F238E27FC236}">
                <a16:creationId xmlns:a16="http://schemas.microsoft.com/office/drawing/2014/main" id="{99E904A4-16DE-8B5A-E2BB-C62DD1B07EC5}"/>
              </a:ext>
            </a:extLst>
          </p:cNvPr>
          <p:cNvSpPr/>
          <p:nvPr/>
        </p:nvSpPr>
        <p:spPr>
          <a:xfrm>
            <a:off x="2589957" y="1674381"/>
            <a:ext cx="2016000" cy="189510"/>
          </a:xfrm>
          <a:prstGeom prst="rect">
            <a:avLst/>
          </a:prstGeom>
          <a:solidFill>
            <a:schemeClr val="accent6">
              <a:lumMod val="60000"/>
              <a:lumOff val="40000"/>
            </a:schemeClr>
          </a:solidFill>
          <a:ln w="12700">
            <a:solidFill>
              <a:schemeClr val="accent6">
                <a:lumMod val="60000"/>
                <a:lumOff val="40000"/>
              </a:schemeClr>
            </a:solidFill>
            <a:prstDash val="solid"/>
          </a:ln>
        </p:spPr>
      </p:sp>
      <p:sp>
        <p:nvSpPr>
          <p:cNvPr id="14" name="Text 14">
            <a:extLst>
              <a:ext uri="{FF2B5EF4-FFF2-40B4-BE49-F238E27FC236}">
                <a16:creationId xmlns:a16="http://schemas.microsoft.com/office/drawing/2014/main" id="{FD7C041B-CC53-6CB1-C3C8-12146CEAAA8A}"/>
              </a:ext>
            </a:extLst>
          </p:cNvPr>
          <p:cNvSpPr/>
          <p:nvPr/>
        </p:nvSpPr>
        <p:spPr>
          <a:xfrm>
            <a:off x="2681397" y="1921269"/>
            <a:ext cx="1824614" cy="365760"/>
          </a:xfrm>
          <a:prstGeom prst="rect">
            <a:avLst/>
          </a:prstGeom>
          <a:noFill/>
          <a:ln/>
        </p:spPr>
        <p:txBody>
          <a:bodyPr wrap="square" rtlCol="0" anchor="ctr"/>
          <a:lstStyle/>
          <a:p>
            <a:pPr marL="0" indent="0" algn="ctr">
              <a:buNone/>
            </a:pPr>
            <a:r>
              <a:rPr lang="en-US" sz="1250" b="1" dirty="0">
                <a:solidFill>
                  <a:schemeClr val="accent6">
                    <a:lumMod val="75000"/>
                  </a:schemeClr>
                </a:solidFill>
                <a:latin typeface="Trebuchet MS" pitchFamily="34" charset="0"/>
                <a:ea typeface="Trebuchet MS" pitchFamily="34" charset="-122"/>
                <a:cs typeface="Trebuchet MS" pitchFamily="34" charset="-120"/>
              </a:rPr>
              <a:t>Random Forest</a:t>
            </a:r>
            <a:endParaRPr lang="en-US" sz="1250" dirty="0">
              <a:solidFill>
                <a:schemeClr val="accent6">
                  <a:lumMod val="75000"/>
                </a:schemeClr>
              </a:solidFill>
            </a:endParaRPr>
          </a:p>
        </p:txBody>
      </p:sp>
      <p:sp>
        <p:nvSpPr>
          <p:cNvPr id="16" name="Text 16">
            <a:extLst>
              <a:ext uri="{FF2B5EF4-FFF2-40B4-BE49-F238E27FC236}">
                <a16:creationId xmlns:a16="http://schemas.microsoft.com/office/drawing/2014/main" id="{56E563CD-DE3D-5E96-E54E-ED385B7BB053}"/>
              </a:ext>
            </a:extLst>
          </p:cNvPr>
          <p:cNvSpPr/>
          <p:nvPr/>
        </p:nvSpPr>
        <p:spPr>
          <a:xfrm>
            <a:off x="2681396" y="2314461"/>
            <a:ext cx="1824615" cy="219455"/>
          </a:xfrm>
          <a:prstGeom prst="rect">
            <a:avLst/>
          </a:prstGeom>
          <a:solidFill>
            <a:schemeClr val="accent6">
              <a:lumMod val="60000"/>
              <a:lumOff val="40000"/>
            </a:schemeClr>
          </a:solidFill>
          <a:ln>
            <a:solidFill>
              <a:schemeClr val="accent6">
                <a:lumMod val="60000"/>
                <a:lumOff val="40000"/>
              </a:schemeClr>
            </a:solidFill>
          </a:ln>
        </p:spPr>
        <p:txBody>
          <a:bodyPr wrap="square" lIns="0" tIns="0" rIns="0" bIns="0" rtlCol="0" anchor="ctr"/>
          <a:lstStyle/>
          <a:p>
            <a:pPr marL="0" indent="0" algn="ctr">
              <a:buNone/>
            </a:pPr>
            <a:r>
              <a:rPr lang="en-US" sz="950" b="1" dirty="0">
                <a:solidFill>
                  <a:schemeClr val="bg1"/>
                </a:solidFill>
                <a:latin typeface="Calibri" pitchFamily="34" charset="0"/>
                <a:ea typeface="Calibri" pitchFamily="34" charset="-122"/>
                <a:cs typeface="Calibri" pitchFamily="34" charset="-120"/>
              </a:rPr>
              <a:t>Ensemble Trees</a:t>
            </a:r>
            <a:endParaRPr lang="en-US" sz="950" dirty="0">
              <a:solidFill>
                <a:schemeClr val="bg1"/>
              </a:solidFill>
            </a:endParaRPr>
          </a:p>
        </p:txBody>
      </p:sp>
      <p:sp>
        <p:nvSpPr>
          <p:cNvPr id="17" name="Text 17">
            <a:extLst>
              <a:ext uri="{FF2B5EF4-FFF2-40B4-BE49-F238E27FC236}">
                <a16:creationId xmlns:a16="http://schemas.microsoft.com/office/drawing/2014/main" id="{E8AF609C-21C3-1BD1-186E-5FA3286AC12F}"/>
              </a:ext>
            </a:extLst>
          </p:cNvPr>
          <p:cNvSpPr/>
          <p:nvPr/>
        </p:nvSpPr>
        <p:spPr>
          <a:xfrm>
            <a:off x="2681397" y="2616213"/>
            <a:ext cx="1797246" cy="1508760"/>
          </a:xfrm>
          <a:prstGeom prst="rect">
            <a:avLst/>
          </a:prstGeom>
          <a:noFill/>
          <a:ln/>
        </p:spPr>
        <p:txBody>
          <a:bodyPr wrap="square" rtlCol="0" anchor="ctr"/>
          <a:lstStyle/>
          <a:p>
            <a:pPr marL="0" indent="0">
              <a:lnSpc>
                <a:spcPct val="130000"/>
              </a:lnSpc>
              <a:buNone/>
            </a:pPr>
            <a:r>
              <a:rPr lang="en-US" sz="1050" dirty="0">
                <a:latin typeface="Calibri" pitchFamily="34" charset="0"/>
                <a:ea typeface="Calibri" pitchFamily="34" charset="-122"/>
                <a:cs typeface="Calibri" pitchFamily="34" charset="-120"/>
              </a:rPr>
              <a:t>500 cây quyết định, max</a:t>
            </a:r>
            <a:r>
              <a:rPr lang="en-US" sz="1050">
                <a:latin typeface="Calibri" pitchFamily="34" charset="0"/>
                <a:ea typeface="Calibri" pitchFamily="34" charset="-122"/>
                <a:cs typeface="Calibri" pitchFamily="34" charset="-120"/>
              </a:rPr>
              <a:t>_depth = 20. </a:t>
            </a:r>
          </a:p>
          <a:p>
            <a:pPr marL="0" indent="0">
              <a:lnSpc>
                <a:spcPct val="130000"/>
              </a:lnSpc>
              <a:buNone/>
            </a:pPr>
            <a:r>
              <a:rPr lang="en-US" sz="1050">
                <a:latin typeface="Calibri" pitchFamily="34" charset="0"/>
                <a:ea typeface="Calibri" pitchFamily="34" charset="-122"/>
                <a:cs typeface="Calibri" pitchFamily="34" charset="-120"/>
              </a:rPr>
              <a:t>Xử </a:t>
            </a:r>
            <a:r>
              <a:rPr lang="en-US" sz="1050" dirty="0">
                <a:latin typeface="Calibri" pitchFamily="34" charset="0"/>
                <a:ea typeface="Calibri" pitchFamily="34" charset="-122"/>
                <a:cs typeface="Calibri" pitchFamily="34" charset="-120"/>
              </a:rPr>
              <a:t>lý tốt phi tuyến, không cần chuẩn hóa, đánh giá feature importance.</a:t>
            </a:r>
            <a:endParaRPr lang="en-US" sz="1050" dirty="0"/>
          </a:p>
        </p:txBody>
      </p:sp>
      <p:sp>
        <p:nvSpPr>
          <p:cNvPr id="18" name="Shape 18">
            <a:extLst>
              <a:ext uri="{FF2B5EF4-FFF2-40B4-BE49-F238E27FC236}">
                <a16:creationId xmlns:a16="http://schemas.microsoft.com/office/drawing/2014/main" id="{145DA5A8-1D82-EE88-FAA1-505E9D94F1B7}"/>
              </a:ext>
            </a:extLst>
          </p:cNvPr>
          <p:cNvSpPr/>
          <p:nvPr/>
        </p:nvSpPr>
        <p:spPr>
          <a:xfrm>
            <a:off x="2681396" y="4170693"/>
            <a:ext cx="1800000" cy="0"/>
          </a:xfrm>
          <a:prstGeom prst="line">
            <a:avLst/>
          </a:prstGeom>
          <a:noFill/>
          <a:ln w="6350">
            <a:solidFill>
              <a:schemeClr val="accent6">
                <a:lumMod val="60000"/>
                <a:lumOff val="40000"/>
              </a:schemeClr>
            </a:solidFill>
            <a:prstDash val="dash"/>
          </a:ln>
        </p:spPr>
        <p:txBody>
          <a:bodyPr/>
          <a:lstStyle/>
          <a:p>
            <a:endParaRPr lang="en-US" sz="2800"/>
          </a:p>
        </p:txBody>
      </p:sp>
      <p:sp>
        <p:nvSpPr>
          <p:cNvPr id="19" name="Text 19">
            <a:extLst>
              <a:ext uri="{FF2B5EF4-FFF2-40B4-BE49-F238E27FC236}">
                <a16:creationId xmlns:a16="http://schemas.microsoft.com/office/drawing/2014/main" id="{05BA2D42-FD74-182B-58C8-04BC59A8650A}"/>
              </a:ext>
            </a:extLst>
          </p:cNvPr>
          <p:cNvSpPr/>
          <p:nvPr/>
        </p:nvSpPr>
        <p:spPr>
          <a:xfrm>
            <a:off x="2681397" y="4461511"/>
            <a:ext cx="1797246" cy="658368"/>
          </a:xfrm>
          <a:prstGeom prst="rect">
            <a:avLst/>
          </a:prstGeom>
          <a:noFill/>
          <a:ln/>
        </p:spPr>
        <p:txBody>
          <a:bodyPr wrap="square" rtlCol="0" anchor="ctr"/>
          <a:lstStyle/>
          <a:p>
            <a:pPr marL="0" indent="0">
              <a:lnSpc>
                <a:spcPct val="130000"/>
              </a:lnSpc>
              <a:buNone/>
            </a:pPr>
            <a:r>
              <a:rPr lang="en-US" sz="1000" dirty="0">
                <a:latin typeface="Calibri" pitchFamily="34" charset="0"/>
                <a:ea typeface="Calibri" pitchFamily="34" charset="-122"/>
                <a:cs typeface="Calibri" pitchFamily="34" charset="-120"/>
              </a:rPr>
              <a:t>n_estimators=500 | max_depth=20</a:t>
            </a:r>
            <a:endParaRPr lang="en-US" sz="1000" dirty="0"/>
          </a:p>
          <a:p>
            <a:pPr marL="0" indent="0">
              <a:lnSpc>
                <a:spcPct val="130000"/>
              </a:lnSpc>
              <a:buNone/>
            </a:pPr>
            <a:r>
              <a:rPr lang="en-US" sz="1000" dirty="0">
                <a:latin typeface="Calibri" pitchFamily="34" charset="0"/>
                <a:ea typeface="Calibri" pitchFamily="34" charset="-122"/>
                <a:cs typeface="Calibri" pitchFamily="34" charset="-120"/>
              </a:rPr>
              <a:t>class_weight=balanced_subsample</a:t>
            </a:r>
            <a:endParaRPr lang="en-US" sz="1000" dirty="0"/>
          </a:p>
        </p:txBody>
      </p:sp>
      <p:sp>
        <p:nvSpPr>
          <p:cNvPr id="20" name="Shape 20">
            <a:extLst>
              <a:ext uri="{FF2B5EF4-FFF2-40B4-BE49-F238E27FC236}">
                <a16:creationId xmlns:a16="http://schemas.microsoft.com/office/drawing/2014/main" id="{FEBAF183-74FB-BF14-4CD1-F65B0B120395}"/>
              </a:ext>
            </a:extLst>
          </p:cNvPr>
          <p:cNvSpPr/>
          <p:nvPr/>
        </p:nvSpPr>
        <p:spPr>
          <a:xfrm>
            <a:off x="4796739" y="1683534"/>
            <a:ext cx="2016000" cy="3794760"/>
          </a:xfrm>
          <a:prstGeom prst="rect">
            <a:avLst/>
          </a:prstGeom>
          <a:solidFill>
            <a:schemeClr val="bg1"/>
          </a:solidFill>
          <a:ln w="15240">
            <a:solidFill>
              <a:srgbClr val="C00000"/>
            </a:solidFill>
            <a:prstDash val="solid"/>
          </a:ln>
          <a:effectLst>
            <a:outerShdw blurRad="101600" dist="38100" dir="8100000" algn="bl" rotWithShape="0">
              <a:srgbClr val="000000">
                <a:alpha val="25000"/>
              </a:srgbClr>
            </a:outerShdw>
          </a:effectLst>
        </p:spPr>
        <p:txBody>
          <a:bodyPr/>
          <a:lstStyle/>
          <a:p>
            <a:endParaRPr lang="en-US"/>
          </a:p>
        </p:txBody>
      </p:sp>
      <p:sp>
        <p:nvSpPr>
          <p:cNvPr id="21" name="Shape 21">
            <a:extLst>
              <a:ext uri="{FF2B5EF4-FFF2-40B4-BE49-F238E27FC236}">
                <a16:creationId xmlns:a16="http://schemas.microsoft.com/office/drawing/2014/main" id="{E610BA0D-D070-C33C-C148-0A682F760401}"/>
              </a:ext>
            </a:extLst>
          </p:cNvPr>
          <p:cNvSpPr/>
          <p:nvPr/>
        </p:nvSpPr>
        <p:spPr>
          <a:xfrm>
            <a:off x="4796739" y="1683533"/>
            <a:ext cx="2016000" cy="237736"/>
          </a:xfrm>
          <a:prstGeom prst="rect">
            <a:avLst/>
          </a:prstGeom>
          <a:solidFill>
            <a:srgbClr val="C00000"/>
          </a:solidFill>
          <a:ln w="12700">
            <a:solidFill>
              <a:srgbClr val="C00000"/>
            </a:solidFill>
            <a:prstDash val="solid"/>
          </a:ln>
        </p:spPr>
      </p:sp>
      <p:sp>
        <p:nvSpPr>
          <p:cNvPr id="22" name="Text 22">
            <a:extLst>
              <a:ext uri="{FF2B5EF4-FFF2-40B4-BE49-F238E27FC236}">
                <a16:creationId xmlns:a16="http://schemas.microsoft.com/office/drawing/2014/main" id="{31B839BD-AC5E-B8B8-8B8D-94F2862FA21E}"/>
              </a:ext>
            </a:extLst>
          </p:cNvPr>
          <p:cNvSpPr/>
          <p:nvPr/>
        </p:nvSpPr>
        <p:spPr>
          <a:xfrm>
            <a:off x="4888179" y="1930422"/>
            <a:ext cx="1851984" cy="365760"/>
          </a:xfrm>
          <a:prstGeom prst="rect">
            <a:avLst/>
          </a:prstGeom>
          <a:noFill/>
          <a:ln/>
        </p:spPr>
        <p:txBody>
          <a:bodyPr wrap="square" rtlCol="0" anchor="ctr"/>
          <a:lstStyle/>
          <a:p>
            <a:pPr marL="0" indent="0" algn="ctr">
              <a:buNone/>
            </a:pPr>
            <a:r>
              <a:rPr lang="en-US" sz="1250" b="1" dirty="0">
                <a:solidFill>
                  <a:srgbClr val="C00000"/>
                </a:solidFill>
                <a:latin typeface="Trebuchet MS" pitchFamily="34" charset="0"/>
                <a:ea typeface="Trebuchet MS" pitchFamily="34" charset="-122"/>
                <a:cs typeface="Trebuchet MS" pitchFamily="34" charset="-120"/>
              </a:rPr>
              <a:t>XGBoost V5</a:t>
            </a:r>
            <a:endParaRPr lang="en-US" sz="1250" dirty="0">
              <a:solidFill>
                <a:srgbClr val="C00000"/>
              </a:solidFill>
            </a:endParaRPr>
          </a:p>
        </p:txBody>
      </p:sp>
      <p:sp>
        <p:nvSpPr>
          <p:cNvPr id="24" name="Text 24">
            <a:extLst>
              <a:ext uri="{FF2B5EF4-FFF2-40B4-BE49-F238E27FC236}">
                <a16:creationId xmlns:a16="http://schemas.microsoft.com/office/drawing/2014/main" id="{933B39A4-307B-A1A9-4043-4C19CE536ED9}"/>
              </a:ext>
            </a:extLst>
          </p:cNvPr>
          <p:cNvSpPr/>
          <p:nvPr/>
        </p:nvSpPr>
        <p:spPr>
          <a:xfrm>
            <a:off x="4888179" y="2323614"/>
            <a:ext cx="1851984" cy="219455"/>
          </a:xfrm>
          <a:prstGeom prst="rect">
            <a:avLst/>
          </a:prstGeom>
          <a:solidFill>
            <a:srgbClr val="C00000"/>
          </a:solidFill>
          <a:ln>
            <a:solidFill>
              <a:srgbClr val="C00000"/>
            </a:solidFill>
          </a:ln>
        </p:spPr>
        <p:txBody>
          <a:bodyPr wrap="square" lIns="0" tIns="0" rIns="0" bIns="0" rtlCol="0" anchor="ctr"/>
          <a:lstStyle/>
          <a:p>
            <a:pPr marL="0" indent="0" algn="ctr">
              <a:buNone/>
            </a:pPr>
            <a:r>
              <a:rPr lang="en-US" sz="950" b="1" dirty="0">
                <a:solidFill>
                  <a:schemeClr val="bg1"/>
                </a:solidFill>
                <a:latin typeface="Calibri" pitchFamily="34" charset="0"/>
                <a:ea typeface="Calibri" pitchFamily="34" charset="-122"/>
                <a:cs typeface="Calibri" pitchFamily="34" charset="-120"/>
              </a:rPr>
              <a:t>Mô hình chính ⭐</a:t>
            </a:r>
            <a:endParaRPr lang="en-US" sz="950" dirty="0">
              <a:solidFill>
                <a:schemeClr val="bg1"/>
              </a:solidFill>
            </a:endParaRPr>
          </a:p>
        </p:txBody>
      </p:sp>
      <p:sp>
        <p:nvSpPr>
          <p:cNvPr id="25" name="Text 25">
            <a:extLst>
              <a:ext uri="{FF2B5EF4-FFF2-40B4-BE49-F238E27FC236}">
                <a16:creationId xmlns:a16="http://schemas.microsoft.com/office/drawing/2014/main" id="{E5F6D576-7393-971C-52C6-8B2F6AEBEDDB}"/>
              </a:ext>
            </a:extLst>
          </p:cNvPr>
          <p:cNvSpPr/>
          <p:nvPr/>
        </p:nvSpPr>
        <p:spPr>
          <a:xfrm>
            <a:off x="4888179" y="2625366"/>
            <a:ext cx="1797246" cy="1508760"/>
          </a:xfrm>
          <a:prstGeom prst="rect">
            <a:avLst/>
          </a:prstGeom>
          <a:noFill/>
          <a:ln/>
        </p:spPr>
        <p:txBody>
          <a:bodyPr wrap="square" rtlCol="0" anchor="ctr"/>
          <a:lstStyle/>
          <a:p>
            <a:pPr marL="0" indent="0">
              <a:lnSpc>
                <a:spcPct val="130000"/>
              </a:lnSpc>
              <a:buNone/>
            </a:pPr>
            <a:r>
              <a:rPr lang="en-US" sz="1050" dirty="0">
                <a:latin typeface="Calibri" pitchFamily="34" charset="0"/>
                <a:ea typeface="Calibri" pitchFamily="34" charset="-122"/>
                <a:cs typeface="Calibri" pitchFamily="34" charset="-120"/>
              </a:rPr>
              <a:t>Gradient boosting tuần tự, tối </a:t>
            </a:r>
            <a:r>
              <a:rPr lang="en-US" sz="1050">
                <a:latin typeface="Calibri" pitchFamily="34" charset="0"/>
                <a:ea typeface="Calibri" pitchFamily="34" charset="-122"/>
                <a:cs typeface="Calibri" pitchFamily="34" charset="-120"/>
              </a:rPr>
              <a:t>ưu AUC-PR. </a:t>
            </a:r>
          </a:p>
          <a:p>
            <a:pPr marL="0" indent="0">
              <a:lnSpc>
                <a:spcPct val="130000"/>
              </a:lnSpc>
              <a:buNone/>
            </a:pPr>
            <a:r>
              <a:rPr lang="en-US" sz="1050">
                <a:latin typeface="Calibri" pitchFamily="34" charset="0"/>
                <a:ea typeface="Calibri" pitchFamily="34" charset="-122"/>
                <a:cs typeface="Calibri" pitchFamily="34" charset="-120"/>
              </a:rPr>
              <a:t>52 </a:t>
            </a:r>
            <a:r>
              <a:rPr lang="en-US" sz="1050" dirty="0">
                <a:latin typeface="Calibri" pitchFamily="34" charset="0"/>
                <a:ea typeface="Calibri" pitchFamily="34" charset="-122"/>
                <a:cs typeface="Calibri" pitchFamily="34" charset="-120"/>
              </a:rPr>
              <a:t>features, pathway-aware, graduated weighting 2 tầng, tối ưu bằng Optuna (200 trials).</a:t>
            </a:r>
            <a:endParaRPr lang="en-US" sz="1050" dirty="0"/>
          </a:p>
        </p:txBody>
      </p:sp>
      <p:sp>
        <p:nvSpPr>
          <p:cNvPr id="26" name="Shape 26">
            <a:extLst>
              <a:ext uri="{FF2B5EF4-FFF2-40B4-BE49-F238E27FC236}">
                <a16:creationId xmlns:a16="http://schemas.microsoft.com/office/drawing/2014/main" id="{634E0535-560B-291C-F40C-B591DE5F29FF}"/>
              </a:ext>
            </a:extLst>
          </p:cNvPr>
          <p:cNvSpPr/>
          <p:nvPr/>
        </p:nvSpPr>
        <p:spPr>
          <a:xfrm>
            <a:off x="4888178" y="4179846"/>
            <a:ext cx="1800000" cy="0"/>
          </a:xfrm>
          <a:prstGeom prst="line">
            <a:avLst/>
          </a:prstGeom>
          <a:noFill/>
          <a:ln w="6350">
            <a:solidFill>
              <a:srgbClr val="C00000"/>
            </a:solidFill>
            <a:prstDash val="dash"/>
          </a:ln>
        </p:spPr>
        <p:txBody>
          <a:bodyPr/>
          <a:lstStyle/>
          <a:p>
            <a:endParaRPr lang="en-US" sz="2800"/>
          </a:p>
        </p:txBody>
      </p:sp>
      <p:sp>
        <p:nvSpPr>
          <p:cNvPr id="27" name="Text 27">
            <a:extLst>
              <a:ext uri="{FF2B5EF4-FFF2-40B4-BE49-F238E27FC236}">
                <a16:creationId xmlns:a16="http://schemas.microsoft.com/office/drawing/2014/main" id="{669C2AC9-2835-2E71-F8FE-AD7F72C6A5F3}"/>
              </a:ext>
            </a:extLst>
          </p:cNvPr>
          <p:cNvSpPr/>
          <p:nvPr/>
        </p:nvSpPr>
        <p:spPr>
          <a:xfrm>
            <a:off x="4888179" y="4470664"/>
            <a:ext cx="1797246" cy="658368"/>
          </a:xfrm>
          <a:prstGeom prst="rect">
            <a:avLst/>
          </a:prstGeom>
          <a:noFill/>
          <a:ln/>
        </p:spPr>
        <p:txBody>
          <a:bodyPr wrap="square" rtlCol="0" anchor="ctr"/>
          <a:lstStyle/>
          <a:p>
            <a:pPr marL="0" indent="0">
              <a:lnSpc>
                <a:spcPct val="130000"/>
              </a:lnSpc>
              <a:buNone/>
            </a:pPr>
            <a:r>
              <a:rPr lang="en-US" sz="1000" dirty="0">
                <a:latin typeface="Calibri" pitchFamily="34" charset="0"/>
                <a:ea typeface="Calibri" pitchFamily="34" charset="-122"/>
                <a:cs typeface="Calibri" pitchFamily="34" charset="-120"/>
              </a:rPr>
              <a:t>scale_pos_weight≈489 | max_depth=7</a:t>
            </a:r>
            <a:endParaRPr lang="en-US" sz="1000" dirty="0"/>
          </a:p>
          <a:p>
            <a:pPr marL="0" indent="0">
              <a:lnSpc>
                <a:spcPct val="130000"/>
              </a:lnSpc>
              <a:buNone/>
            </a:pPr>
            <a:r>
              <a:rPr lang="en-US" sz="1000" dirty="0">
                <a:latin typeface="Calibri" pitchFamily="34" charset="0"/>
                <a:ea typeface="Calibri" pitchFamily="34" charset="-122"/>
                <a:cs typeface="Calibri" pitchFamily="34" charset="-120"/>
              </a:rPr>
              <a:t>AND-logic pathway weighting</a:t>
            </a:r>
            <a:endParaRPr lang="en-US" sz="1000" dirty="0"/>
          </a:p>
        </p:txBody>
      </p:sp>
      <p:sp>
        <p:nvSpPr>
          <p:cNvPr id="28" name="Shape 28">
            <a:extLst>
              <a:ext uri="{FF2B5EF4-FFF2-40B4-BE49-F238E27FC236}">
                <a16:creationId xmlns:a16="http://schemas.microsoft.com/office/drawing/2014/main" id="{B217A9B7-EB69-E2DE-CFB6-1F143673A4E0}"/>
              </a:ext>
            </a:extLst>
          </p:cNvPr>
          <p:cNvSpPr/>
          <p:nvPr/>
        </p:nvSpPr>
        <p:spPr>
          <a:xfrm>
            <a:off x="7003522" y="1683533"/>
            <a:ext cx="2016000" cy="3794760"/>
          </a:xfrm>
          <a:prstGeom prst="rect">
            <a:avLst/>
          </a:prstGeom>
          <a:solidFill>
            <a:schemeClr val="bg1"/>
          </a:solidFill>
          <a:ln w="15240">
            <a:solidFill>
              <a:schemeClr val="accent1">
                <a:lumMod val="60000"/>
                <a:lumOff val="40000"/>
              </a:schemeClr>
            </a:solidFill>
            <a:prstDash val="solid"/>
          </a:ln>
          <a:effectLst>
            <a:outerShdw blurRad="101600" dist="38100" dir="8100000" algn="bl" rotWithShape="0">
              <a:srgbClr val="000000">
                <a:alpha val="25000"/>
              </a:srgbClr>
            </a:outerShdw>
          </a:effectLst>
        </p:spPr>
        <p:txBody>
          <a:bodyPr/>
          <a:lstStyle/>
          <a:p>
            <a:endParaRPr lang="en-US"/>
          </a:p>
        </p:txBody>
      </p:sp>
      <p:sp>
        <p:nvSpPr>
          <p:cNvPr id="29" name="Shape 29">
            <a:extLst>
              <a:ext uri="{FF2B5EF4-FFF2-40B4-BE49-F238E27FC236}">
                <a16:creationId xmlns:a16="http://schemas.microsoft.com/office/drawing/2014/main" id="{42A41BB7-6CA1-A4FD-7F2B-AA8A2932F4D6}"/>
              </a:ext>
            </a:extLst>
          </p:cNvPr>
          <p:cNvSpPr/>
          <p:nvPr/>
        </p:nvSpPr>
        <p:spPr>
          <a:xfrm>
            <a:off x="7003521" y="1683533"/>
            <a:ext cx="2016001" cy="237736"/>
          </a:xfrm>
          <a:prstGeom prst="rect">
            <a:avLst/>
          </a:prstGeom>
          <a:solidFill>
            <a:schemeClr val="accent5">
              <a:lumMod val="60000"/>
              <a:lumOff val="40000"/>
            </a:schemeClr>
          </a:solidFill>
          <a:ln w="12700">
            <a:solidFill>
              <a:schemeClr val="accent1">
                <a:lumMod val="60000"/>
                <a:lumOff val="40000"/>
              </a:schemeClr>
            </a:solidFill>
            <a:prstDash val="solid"/>
          </a:ln>
        </p:spPr>
      </p:sp>
      <p:sp>
        <p:nvSpPr>
          <p:cNvPr id="30" name="Text 30">
            <a:extLst>
              <a:ext uri="{FF2B5EF4-FFF2-40B4-BE49-F238E27FC236}">
                <a16:creationId xmlns:a16="http://schemas.microsoft.com/office/drawing/2014/main" id="{418FE383-20DF-18F1-5EFE-A32C97501246}"/>
              </a:ext>
            </a:extLst>
          </p:cNvPr>
          <p:cNvSpPr/>
          <p:nvPr/>
        </p:nvSpPr>
        <p:spPr>
          <a:xfrm>
            <a:off x="7094961" y="1930421"/>
            <a:ext cx="1813367" cy="365760"/>
          </a:xfrm>
          <a:prstGeom prst="rect">
            <a:avLst/>
          </a:prstGeom>
          <a:noFill/>
          <a:ln/>
        </p:spPr>
        <p:txBody>
          <a:bodyPr wrap="square" rtlCol="0" anchor="ctr"/>
          <a:lstStyle/>
          <a:p>
            <a:pPr marL="0" indent="0" algn="ctr">
              <a:buNone/>
            </a:pPr>
            <a:r>
              <a:rPr lang="en-US" sz="1250" b="1" dirty="0">
                <a:solidFill>
                  <a:schemeClr val="accent1">
                    <a:lumMod val="75000"/>
                  </a:schemeClr>
                </a:solidFill>
                <a:latin typeface="Trebuchet MS" pitchFamily="34" charset="0"/>
                <a:ea typeface="Trebuchet MS" pitchFamily="34" charset="-122"/>
                <a:cs typeface="Trebuchet MS" pitchFamily="34" charset="-120"/>
              </a:rPr>
              <a:t>ConvLSTM</a:t>
            </a:r>
            <a:endParaRPr lang="en-US" sz="1250" dirty="0">
              <a:solidFill>
                <a:schemeClr val="accent1">
                  <a:lumMod val="75000"/>
                </a:schemeClr>
              </a:solidFill>
            </a:endParaRPr>
          </a:p>
        </p:txBody>
      </p:sp>
      <p:sp>
        <p:nvSpPr>
          <p:cNvPr id="32" name="Text 32">
            <a:extLst>
              <a:ext uri="{FF2B5EF4-FFF2-40B4-BE49-F238E27FC236}">
                <a16:creationId xmlns:a16="http://schemas.microsoft.com/office/drawing/2014/main" id="{6E97B5B4-E360-1DE5-129C-9D7E088D5953}"/>
              </a:ext>
            </a:extLst>
          </p:cNvPr>
          <p:cNvSpPr/>
          <p:nvPr/>
        </p:nvSpPr>
        <p:spPr>
          <a:xfrm>
            <a:off x="7094962" y="2323613"/>
            <a:ext cx="1813366" cy="219455"/>
          </a:xfrm>
          <a:prstGeom prst="rect">
            <a:avLst/>
          </a:prstGeom>
          <a:solidFill>
            <a:schemeClr val="accent5">
              <a:lumMod val="60000"/>
              <a:lumOff val="40000"/>
            </a:schemeClr>
          </a:solidFill>
          <a:ln>
            <a:solidFill>
              <a:schemeClr val="accent1">
                <a:lumMod val="60000"/>
                <a:lumOff val="40000"/>
              </a:schemeClr>
            </a:solidFill>
          </a:ln>
        </p:spPr>
        <p:txBody>
          <a:bodyPr wrap="square" lIns="0" tIns="0" rIns="0" bIns="0" rtlCol="0" anchor="ctr"/>
          <a:lstStyle/>
          <a:p>
            <a:pPr marL="0" indent="0" algn="ctr">
              <a:buNone/>
            </a:pPr>
            <a:r>
              <a:rPr lang="en-US" sz="950" b="1">
                <a:solidFill>
                  <a:schemeClr val="bg1"/>
                </a:solidFill>
                <a:latin typeface="Calibri" pitchFamily="34" charset="0"/>
                <a:ea typeface="Calibri" pitchFamily="34" charset="-122"/>
                <a:cs typeface="Calibri" pitchFamily="34" charset="-120"/>
              </a:rPr>
              <a:t>Deep Learnig</a:t>
            </a:r>
            <a:endParaRPr lang="en-US" sz="950" dirty="0">
              <a:solidFill>
                <a:schemeClr val="bg1"/>
              </a:solidFill>
            </a:endParaRPr>
          </a:p>
        </p:txBody>
      </p:sp>
      <p:sp>
        <p:nvSpPr>
          <p:cNvPr id="33" name="Text 33">
            <a:extLst>
              <a:ext uri="{FF2B5EF4-FFF2-40B4-BE49-F238E27FC236}">
                <a16:creationId xmlns:a16="http://schemas.microsoft.com/office/drawing/2014/main" id="{A4CF6F48-62C4-064B-D106-94C80299981C}"/>
              </a:ext>
            </a:extLst>
          </p:cNvPr>
          <p:cNvSpPr/>
          <p:nvPr/>
        </p:nvSpPr>
        <p:spPr>
          <a:xfrm>
            <a:off x="7094962" y="2625365"/>
            <a:ext cx="1797246" cy="1508760"/>
          </a:xfrm>
          <a:prstGeom prst="rect">
            <a:avLst/>
          </a:prstGeom>
          <a:noFill/>
          <a:ln/>
        </p:spPr>
        <p:txBody>
          <a:bodyPr wrap="square" rtlCol="0" anchor="ctr"/>
          <a:lstStyle/>
          <a:p>
            <a:pPr marL="0" indent="0">
              <a:lnSpc>
                <a:spcPct val="130000"/>
              </a:lnSpc>
              <a:buNone/>
            </a:pPr>
            <a:r>
              <a:rPr lang="en-US" sz="1050" dirty="0">
                <a:latin typeface="Calibri" pitchFamily="34" charset="0"/>
                <a:ea typeface="Calibri" pitchFamily="34" charset="-122"/>
                <a:cs typeface="Calibri" pitchFamily="34" charset="-120"/>
              </a:rPr>
              <a:t>Kết hợp tích chập không gian + LSTM</a:t>
            </a:r>
            <a:r>
              <a:rPr lang="en-US" sz="1050">
                <a:latin typeface="Calibri" pitchFamily="34" charset="0"/>
                <a:ea typeface="Calibri" pitchFamily="34" charset="-122"/>
                <a:cs typeface="Calibri" pitchFamily="34" charset="-120"/>
              </a:rPr>
              <a:t>. </a:t>
            </a:r>
          </a:p>
          <a:p>
            <a:pPr marL="0" indent="0">
              <a:lnSpc>
                <a:spcPct val="130000"/>
              </a:lnSpc>
              <a:buNone/>
            </a:pPr>
            <a:r>
              <a:rPr lang="en-US" sz="1050">
                <a:latin typeface="Calibri" pitchFamily="34" charset="0"/>
                <a:ea typeface="Calibri" pitchFamily="34" charset="-122"/>
                <a:cs typeface="Calibri" pitchFamily="34" charset="-120"/>
              </a:rPr>
              <a:t>Chuỗi </a:t>
            </a:r>
            <a:r>
              <a:rPr lang="en-US" sz="1050" dirty="0">
                <a:latin typeface="Calibri" pitchFamily="34" charset="0"/>
                <a:ea typeface="Calibri" pitchFamily="34" charset="-122"/>
                <a:cs typeface="Calibri" pitchFamily="34" charset="-120"/>
              </a:rPr>
              <a:t>7 ngày, lưới 137×138. Skip connection + spatial attention. Tversky + Focal Loss.</a:t>
            </a:r>
            <a:endParaRPr lang="en-US" sz="1050" dirty="0"/>
          </a:p>
        </p:txBody>
      </p:sp>
      <p:sp>
        <p:nvSpPr>
          <p:cNvPr id="34" name="Shape 34">
            <a:extLst>
              <a:ext uri="{FF2B5EF4-FFF2-40B4-BE49-F238E27FC236}">
                <a16:creationId xmlns:a16="http://schemas.microsoft.com/office/drawing/2014/main" id="{C8D3E925-ABD5-AC97-8F3A-AFB3E9984FCC}"/>
              </a:ext>
            </a:extLst>
          </p:cNvPr>
          <p:cNvSpPr/>
          <p:nvPr/>
        </p:nvSpPr>
        <p:spPr>
          <a:xfrm>
            <a:off x="7094961" y="4179845"/>
            <a:ext cx="1800000" cy="0"/>
          </a:xfrm>
          <a:prstGeom prst="line">
            <a:avLst/>
          </a:prstGeom>
          <a:noFill/>
          <a:ln w="6350">
            <a:solidFill>
              <a:schemeClr val="accent1">
                <a:lumMod val="60000"/>
                <a:lumOff val="40000"/>
              </a:schemeClr>
            </a:solidFill>
            <a:prstDash val="dash"/>
          </a:ln>
        </p:spPr>
        <p:txBody>
          <a:bodyPr/>
          <a:lstStyle/>
          <a:p>
            <a:endParaRPr lang="en-US" sz="2800"/>
          </a:p>
        </p:txBody>
      </p:sp>
      <p:sp>
        <p:nvSpPr>
          <p:cNvPr id="35" name="Text 35">
            <a:extLst>
              <a:ext uri="{FF2B5EF4-FFF2-40B4-BE49-F238E27FC236}">
                <a16:creationId xmlns:a16="http://schemas.microsoft.com/office/drawing/2014/main" id="{F19E6FE3-D1E1-935E-FB0C-C0D26ACCD560}"/>
              </a:ext>
            </a:extLst>
          </p:cNvPr>
          <p:cNvSpPr/>
          <p:nvPr/>
        </p:nvSpPr>
        <p:spPr>
          <a:xfrm>
            <a:off x="7094962" y="4470663"/>
            <a:ext cx="1797246" cy="658368"/>
          </a:xfrm>
          <a:prstGeom prst="rect">
            <a:avLst/>
          </a:prstGeom>
          <a:noFill/>
          <a:ln/>
        </p:spPr>
        <p:txBody>
          <a:bodyPr wrap="square" rtlCol="0" anchor="ctr"/>
          <a:lstStyle/>
          <a:p>
            <a:pPr marL="0" indent="0">
              <a:lnSpc>
                <a:spcPct val="130000"/>
              </a:lnSpc>
              <a:buNone/>
            </a:pPr>
            <a:r>
              <a:rPr lang="en-US" sz="1000" dirty="0">
                <a:latin typeface="Calibri" pitchFamily="34" charset="0"/>
                <a:ea typeface="Calibri" pitchFamily="34" charset="-122"/>
                <a:cs typeface="Calibri" pitchFamily="34" charset="-120"/>
              </a:rPr>
              <a:t>PyTorch AMP | Grad Accumulation</a:t>
            </a:r>
            <a:endParaRPr lang="en-US" sz="1000" dirty="0"/>
          </a:p>
          <a:p>
            <a:pPr marL="0" indent="0">
              <a:lnSpc>
                <a:spcPct val="130000"/>
              </a:lnSpc>
              <a:buNone/>
            </a:pPr>
            <a:r>
              <a:rPr lang="en-US" sz="1000" dirty="0">
                <a:latin typeface="Calibri" pitchFamily="34" charset="0"/>
                <a:ea typeface="Calibri" pitchFamily="34" charset="-122"/>
                <a:cs typeface="Calibri" pitchFamily="34" charset="-120"/>
              </a:rPr>
              <a:t>Kaggle GPU | 200 epoch</a:t>
            </a:r>
            <a:endParaRPr lang="en-US" sz="1000" dirty="0"/>
          </a:p>
        </p:txBody>
      </p:sp>
      <p:sp>
        <p:nvSpPr>
          <p:cNvPr id="36" name="Text 36">
            <a:extLst>
              <a:ext uri="{FF2B5EF4-FFF2-40B4-BE49-F238E27FC236}">
                <a16:creationId xmlns:a16="http://schemas.microsoft.com/office/drawing/2014/main" id="{1B471ABA-3460-4FA4-1B73-C0777C00C4B4}"/>
              </a:ext>
            </a:extLst>
          </p:cNvPr>
          <p:cNvSpPr/>
          <p:nvPr/>
        </p:nvSpPr>
        <p:spPr>
          <a:xfrm>
            <a:off x="1461339" y="5917198"/>
            <a:ext cx="8686800" cy="274320"/>
          </a:xfrm>
          <a:prstGeom prst="rect">
            <a:avLst/>
          </a:prstGeom>
          <a:noFill/>
          <a:ln/>
        </p:spPr>
        <p:txBody>
          <a:bodyPr wrap="square" rtlCol="0" anchor="ctr"/>
          <a:lstStyle/>
          <a:p>
            <a:pPr marL="0" indent="0" algn="ctr">
              <a:buNone/>
            </a:pPr>
            <a:r>
              <a:rPr lang="en-US" sz="1400" b="1" dirty="0">
                <a:solidFill>
                  <a:srgbClr val="C00000"/>
                </a:solidFill>
                <a:latin typeface="Calibri" pitchFamily="34" charset="0"/>
                <a:ea typeface="Calibri" pitchFamily="34" charset="-122"/>
                <a:cs typeface="Calibri" pitchFamily="34" charset="-120"/>
              </a:rPr>
              <a:t>Chia tập theo thời gian: Train ≤ 2021  |  Validation 2022  |  Test 2023–2024  (tránh rò rỉ dữ liệu tương lai)</a:t>
            </a:r>
            <a:endParaRPr lang="en-US" sz="1400" b="1" dirty="0">
              <a:solidFill>
                <a:srgbClr val="C00000"/>
              </a:solidFill>
            </a:endParaRPr>
          </a:p>
        </p:txBody>
      </p:sp>
      <p:sp>
        <p:nvSpPr>
          <p:cNvPr id="44" name="Shape 28">
            <a:extLst>
              <a:ext uri="{FF2B5EF4-FFF2-40B4-BE49-F238E27FC236}">
                <a16:creationId xmlns:a16="http://schemas.microsoft.com/office/drawing/2014/main" id="{FC0C804E-A920-8012-4206-FCDA44E7D59B}"/>
              </a:ext>
            </a:extLst>
          </p:cNvPr>
          <p:cNvSpPr/>
          <p:nvPr/>
        </p:nvSpPr>
        <p:spPr>
          <a:xfrm>
            <a:off x="9210304" y="1695323"/>
            <a:ext cx="2016000" cy="3794760"/>
          </a:xfrm>
          <a:prstGeom prst="rect">
            <a:avLst/>
          </a:prstGeom>
          <a:solidFill>
            <a:schemeClr val="bg1"/>
          </a:solidFill>
          <a:ln w="15240">
            <a:solidFill>
              <a:srgbClr val="CC00FF"/>
            </a:solidFill>
            <a:prstDash val="solid"/>
          </a:ln>
          <a:effectLst>
            <a:outerShdw blurRad="101600" dist="38100" dir="8100000" algn="bl" rotWithShape="0">
              <a:srgbClr val="000000">
                <a:alpha val="25000"/>
              </a:srgbClr>
            </a:outerShdw>
          </a:effectLst>
        </p:spPr>
        <p:txBody>
          <a:bodyPr/>
          <a:lstStyle/>
          <a:p>
            <a:endParaRPr lang="en-US"/>
          </a:p>
        </p:txBody>
      </p:sp>
      <p:sp>
        <p:nvSpPr>
          <p:cNvPr id="45" name="Shape 29">
            <a:extLst>
              <a:ext uri="{FF2B5EF4-FFF2-40B4-BE49-F238E27FC236}">
                <a16:creationId xmlns:a16="http://schemas.microsoft.com/office/drawing/2014/main" id="{35B22818-B67F-28A6-A00E-779E16AB7D21}"/>
              </a:ext>
            </a:extLst>
          </p:cNvPr>
          <p:cNvSpPr/>
          <p:nvPr/>
        </p:nvSpPr>
        <p:spPr>
          <a:xfrm>
            <a:off x="9210303" y="1695323"/>
            <a:ext cx="2016001" cy="237736"/>
          </a:xfrm>
          <a:prstGeom prst="rect">
            <a:avLst/>
          </a:prstGeom>
          <a:solidFill>
            <a:srgbClr val="CC00FF"/>
          </a:solidFill>
          <a:ln w="12700">
            <a:solidFill>
              <a:srgbClr val="CC00FF"/>
            </a:solidFill>
            <a:prstDash val="solid"/>
          </a:ln>
        </p:spPr>
      </p:sp>
      <p:sp>
        <p:nvSpPr>
          <p:cNvPr id="46" name="Text 30">
            <a:extLst>
              <a:ext uri="{FF2B5EF4-FFF2-40B4-BE49-F238E27FC236}">
                <a16:creationId xmlns:a16="http://schemas.microsoft.com/office/drawing/2014/main" id="{E6AB164E-C4FC-5BE4-F94F-25FCCF11F468}"/>
              </a:ext>
            </a:extLst>
          </p:cNvPr>
          <p:cNvSpPr/>
          <p:nvPr/>
        </p:nvSpPr>
        <p:spPr>
          <a:xfrm>
            <a:off x="9301743" y="1942211"/>
            <a:ext cx="1813367" cy="365760"/>
          </a:xfrm>
          <a:prstGeom prst="rect">
            <a:avLst/>
          </a:prstGeom>
          <a:noFill/>
          <a:ln/>
        </p:spPr>
        <p:txBody>
          <a:bodyPr wrap="square" rtlCol="0" anchor="ctr"/>
          <a:lstStyle/>
          <a:p>
            <a:pPr marL="0" indent="0" algn="ctr">
              <a:buNone/>
            </a:pPr>
            <a:r>
              <a:rPr lang="en-US" sz="1250" b="1">
                <a:solidFill>
                  <a:srgbClr val="CC00FF"/>
                </a:solidFill>
                <a:latin typeface="Trebuchet MS" pitchFamily="34" charset="0"/>
              </a:rPr>
              <a:t>Ensemble</a:t>
            </a:r>
            <a:endParaRPr lang="en-US" sz="1250" dirty="0">
              <a:solidFill>
                <a:srgbClr val="CC00FF"/>
              </a:solidFill>
            </a:endParaRPr>
          </a:p>
        </p:txBody>
      </p:sp>
      <p:sp>
        <p:nvSpPr>
          <p:cNvPr id="47" name="Text 32">
            <a:extLst>
              <a:ext uri="{FF2B5EF4-FFF2-40B4-BE49-F238E27FC236}">
                <a16:creationId xmlns:a16="http://schemas.microsoft.com/office/drawing/2014/main" id="{30FF942D-5654-EC7D-DE0A-30F28C75647B}"/>
              </a:ext>
            </a:extLst>
          </p:cNvPr>
          <p:cNvSpPr/>
          <p:nvPr/>
        </p:nvSpPr>
        <p:spPr>
          <a:xfrm>
            <a:off x="9301744" y="2335403"/>
            <a:ext cx="1813366" cy="219455"/>
          </a:xfrm>
          <a:prstGeom prst="rect">
            <a:avLst/>
          </a:prstGeom>
          <a:solidFill>
            <a:srgbClr val="CC00FF"/>
          </a:solidFill>
          <a:ln>
            <a:solidFill>
              <a:schemeClr val="accent1">
                <a:lumMod val="60000"/>
                <a:lumOff val="40000"/>
              </a:schemeClr>
            </a:solidFill>
          </a:ln>
        </p:spPr>
        <p:txBody>
          <a:bodyPr wrap="square" lIns="0" tIns="0" rIns="0" bIns="0" rtlCol="0" anchor="ctr"/>
          <a:lstStyle/>
          <a:p>
            <a:pPr marL="0" indent="0" algn="ctr">
              <a:buNone/>
            </a:pPr>
            <a:r>
              <a:rPr lang="en-US" sz="950" b="1">
                <a:solidFill>
                  <a:schemeClr val="bg1"/>
                </a:solidFill>
                <a:latin typeface="Calibri" pitchFamily="34" charset="0"/>
                <a:ea typeface="Calibri" pitchFamily="34" charset="-122"/>
                <a:cs typeface="Calibri" pitchFamily="34" charset="-120"/>
              </a:rPr>
              <a:t>Deep Learnig</a:t>
            </a:r>
            <a:endParaRPr lang="en-US" sz="950" dirty="0">
              <a:solidFill>
                <a:schemeClr val="bg1"/>
              </a:solidFill>
            </a:endParaRPr>
          </a:p>
        </p:txBody>
      </p:sp>
      <p:sp>
        <p:nvSpPr>
          <p:cNvPr id="48" name="Text 33">
            <a:extLst>
              <a:ext uri="{FF2B5EF4-FFF2-40B4-BE49-F238E27FC236}">
                <a16:creationId xmlns:a16="http://schemas.microsoft.com/office/drawing/2014/main" id="{644A692A-8FAF-7E34-7AD2-79A1B9DBD1F2}"/>
              </a:ext>
            </a:extLst>
          </p:cNvPr>
          <p:cNvSpPr/>
          <p:nvPr/>
        </p:nvSpPr>
        <p:spPr>
          <a:xfrm>
            <a:off x="9301744" y="2637155"/>
            <a:ext cx="1797246" cy="1508760"/>
          </a:xfrm>
          <a:prstGeom prst="rect">
            <a:avLst/>
          </a:prstGeom>
          <a:noFill/>
          <a:ln/>
        </p:spPr>
        <p:txBody>
          <a:bodyPr wrap="square" rtlCol="0" anchor="ctr"/>
          <a:lstStyle/>
          <a:p>
            <a:pPr marL="0" indent="0">
              <a:lnSpc>
                <a:spcPct val="130000"/>
              </a:lnSpc>
              <a:buNone/>
            </a:pPr>
            <a:r>
              <a:rPr lang="en-US" sz="1050">
                <a:latin typeface="Calibri" pitchFamily="34" charset="0"/>
                <a:ea typeface="Calibri" pitchFamily="34" charset="-122"/>
                <a:cs typeface="Calibri" pitchFamily="34" charset="-120"/>
              </a:rPr>
              <a:t>Kết hợp XGBoost và ConvLSTM.</a:t>
            </a:r>
          </a:p>
          <a:p>
            <a:pPr marL="0" indent="0">
              <a:lnSpc>
                <a:spcPct val="130000"/>
              </a:lnSpc>
              <a:buNone/>
            </a:pPr>
            <a:r>
              <a:rPr lang="en-US" sz="1050">
                <a:latin typeface="Calibri" pitchFamily="34" charset="0"/>
                <a:ea typeface="Calibri" pitchFamily="34" charset="-122"/>
                <a:cs typeface="Calibri" pitchFamily="34" charset="-120"/>
              </a:rPr>
              <a:t>Lựa chọn theo các chiến lược OR Rule, Weigted Average, LR Basic, LR + Context</a:t>
            </a:r>
            <a:endParaRPr lang="en-US" sz="1050" dirty="0"/>
          </a:p>
        </p:txBody>
      </p:sp>
      <p:sp>
        <p:nvSpPr>
          <p:cNvPr id="49" name="Shape 34">
            <a:extLst>
              <a:ext uri="{FF2B5EF4-FFF2-40B4-BE49-F238E27FC236}">
                <a16:creationId xmlns:a16="http://schemas.microsoft.com/office/drawing/2014/main" id="{E4A8CEBB-6297-5756-3D24-B9EE8322EA44}"/>
              </a:ext>
            </a:extLst>
          </p:cNvPr>
          <p:cNvSpPr/>
          <p:nvPr/>
        </p:nvSpPr>
        <p:spPr>
          <a:xfrm>
            <a:off x="9301743" y="4191635"/>
            <a:ext cx="1800000" cy="0"/>
          </a:xfrm>
          <a:prstGeom prst="line">
            <a:avLst/>
          </a:prstGeom>
          <a:noFill/>
          <a:ln w="6350">
            <a:solidFill>
              <a:srgbClr val="CC00FF"/>
            </a:solidFill>
            <a:prstDash val="dash"/>
          </a:ln>
        </p:spPr>
        <p:txBody>
          <a:bodyPr/>
          <a:lstStyle/>
          <a:p>
            <a:endParaRPr lang="en-US" sz="2800"/>
          </a:p>
        </p:txBody>
      </p:sp>
      <p:sp>
        <p:nvSpPr>
          <p:cNvPr id="50" name="Text 35">
            <a:extLst>
              <a:ext uri="{FF2B5EF4-FFF2-40B4-BE49-F238E27FC236}">
                <a16:creationId xmlns:a16="http://schemas.microsoft.com/office/drawing/2014/main" id="{674F7F53-21B0-13AE-F24B-8B97EB028A3E}"/>
              </a:ext>
            </a:extLst>
          </p:cNvPr>
          <p:cNvSpPr/>
          <p:nvPr/>
        </p:nvSpPr>
        <p:spPr>
          <a:xfrm>
            <a:off x="9301744" y="4482453"/>
            <a:ext cx="1797246" cy="658368"/>
          </a:xfrm>
          <a:prstGeom prst="rect">
            <a:avLst/>
          </a:prstGeom>
          <a:noFill/>
          <a:ln/>
        </p:spPr>
        <p:txBody>
          <a:bodyPr wrap="square" rtlCol="0" anchor="ctr"/>
          <a:lstStyle/>
          <a:p>
            <a:pPr marL="0" indent="0">
              <a:lnSpc>
                <a:spcPct val="130000"/>
              </a:lnSpc>
              <a:buNone/>
            </a:pPr>
            <a:endParaRPr lang="en-US" sz="1000" dirty="0"/>
          </a:p>
        </p:txBody>
      </p:sp>
    </p:spTree>
    <p:extLst>
      <p:ext uri="{BB962C8B-B14F-4D97-AF65-F5344CB8AC3E}">
        <p14:creationId xmlns:p14="http://schemas.microsoft.com/office/powerpoint/2010/main" val="2155464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4F4BE-2C52-3D50-D58E-7435229E9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724B3-108E-44E2-24A1-8789C44A6651}"/>
              </a:ext>
            </a:extLst>
          </p:cNvPr>
          <p:cNvSpPr>
            <a:spLocks noGrp="1"/>
          </p:cNvSpPr>
          <p:nvPr>
            <p:ph type="title"/>
          </p:nvPr>
        </p:nvSpPr>
        <p:spPr>
          <a:xfrm>
            <a:off x="383175" y="835118"/>
            <a:ext cx="11123024" cy="554902"/>
          </a:xfrm>
        </p:spPr>
        <p:txBody>
          <a:bodyPr>
            <a:normAutofit/>
          </a:bodyPr>
          <a:lstStyle/>
          <a:p>
            <a:r>
              <a:rPr lang="en-US">
                <a:latin typeface="+mn-lt"/>
              </a:rPr>
              <a:t>XGBOOST – QUÁ TRÌNH XÂY DỰNG MÔ HÌNH</a:t>
            </a:r>
            <a:endParaRPr lang="en-US" sz="2800" dirty="0">
              <a:latin typeface="+mn-lt"/>
            </a:endParaRPr>
          </a:p>
        </p:txBody>
      </p:sp>
      <p:sp>
        <p:nvSpPr>
          <p:cNvPr id="4" name="Text 4">
            <a:extLst>
              <a:ext uri="{FF2B5EF4-FFF2-40B4-BE49-F238E27FC236}">
                <a16:creationId xmlns:a16="http://schemas.microsoft.com/office/drawing/2014/main" id="{6C016644-755D-F819-2C06-25E5A8C4034F}"/>
              </a:ext>
            </a:extLst>
          </p:cNvPr>
          <p:cNvSpPr/>
          <p:nvPr/>
        </p:nvSpPr>
        <p:spPr>
          <a:xfrm>
            <a:off x="462856" y="1513907"/>
            <a:ext cx="5029200" cy="320040"/>
          </a:xfrm>
          <a:prstGeom prst="rect">
            <a:avLst/>
          </a:prstGeom>
          <a:noFill/>
          <a:ln/>
        </p:spPr>
        <p:txBody>
          <a:bodyPr wrap="square" rtlCol="0" anchor="ctr"/>
          <a:lstStyle/>
          <a:p>
            <a:pPr marL="0" indent="0">
              <a:buNone/>
            </a:pPr>
            <a:r>
              <a:rPr lang="en-US" sz="1200" b="1" dirty="0">
                <a:solidFill>
                  <a:srgbClr val="C00000"/>
                </a:solidFill>
                <a:latin typeface="Trebuchet MS" pitchFamily="34" charset="0"/>
                <a:ea typeface="Trebuchet MS" pitchFamily="34" charset="-122"/>
                <a:cs typeface="Trebuchet MS" pitchFamily="34" charset="-120"/>
              </a:rPr>
              <a:t>QUÁ TRÌNH PHÁT TRIỂN 5 GIAI ĐOẠN</a:t>
            </a:r>
            <a:endParaRPr lang="en-US" sz="1200" dirty="0">
              <a:solidFill>
                <a:srgbClr val="C00000"/>
              </a:solidFill>
            </a:endParaRPr>
          </a:p>
        </p:txBody>
      </p:sp>
      <p:sp>
        <p:nvSpPr>
          <p:cNvPr id="5" name="Shape 5">
            <a:extLst>
              <a:ext uri="{FF2B5EF4-FFF2-40B4-BE49-F238E27FC236}">
                <a16:creationId xmlns:a16="http://schemas.microsoft.com/office/drawing/2014/main" id="{9ACEAA44-4D04-C938-8A7E-A6FF73DE2A40}"/>
              </a:ext>
            </a:extLst>
          </p:cNvPr>
          <p:cNvSpPr/>
          <p:nvPr/>
        </p:nvSpPr>
        <p:spPr>
          <a:xfrm>
            <a:off x="462856" y="1897955"/>
            <a:ext cx="900000" cy="1600200"/>
          </a:xfrm>
          <a:prstGeom prst="rect">
            <a:avLst/>
          </a:prstGeom>
          <a:solidFill>
            <a:srgbClr val="1E3A20"/>
          </a:solidFill>
          <a:ln w="12700">
            <a:solidFill>
              <a:srgbClr val="335533"/>
            </a:solidFill>
            <a:prstDash val="solid"/>
          </a:ln>
        </p:spPr>
      </p:sp>
      <p:sp>
        <p:nvSpPr>
          <p:cNvPr id="6" name="Text 6">
            <a:extLst>
              <a:ext uri="{FF2B5EF4-FFF2-40B4-BE49-F238E27FC236}">
                <a16:creationId xmlns:a16="http://schemas.microsoft.com/office/drawing/2014/main" id="{60B6F38C-21C6-E561-5B81-6C3328273EA8}"/>
              </a:ext>
            </a:extLst>
          </p:cNvPr>
          <p:cNvSpPr/>
          <p:nvPr/>
        </p:nvSpPr>
        <p:spPr>
          <a:xfrm>
            <a:off x="462856" y="1943675"/>
            <a:ext cx="9000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V1</a:t>
            </a:r>
            <a:endParaRPr lang="en-US" sz="1600" dirty="0"/>
          </a:p>
        </p:txBody>
      </p:sp>
      <p:sp>
        <p:nvSpPr>
          <p:cNvPr id="7" name="Text 7">
            <a:extLst>
              <a:ext uri="{FF2B5EF4-FFF2-40B4-BE49-F238E27FC236}">
                <a16:creationId xmlns:a16="http://schemas.microsoft.com/office/drawing/2014/main" id="{221B32A2-E6C8-2091-B4E0-9B07085679B7}"/>
              </a:ext>
            </a:extLst>
          </p:cNvPr>
          <p:cNvSpPr/>
          <p:nvPr/>
        </p:nvSpPr>
        <p:spPr>
          <a:xfrm>
            <a:off x="462856" y="2336867"/>
            <a:ext cx="900000" cy="256032"/>
          </a:xfrm>
          <a:prstGeom prst="rect">
            <a:avLst/>
          </a:prstGeom>
          <a:noFill/>
          <a:ln/>
        </p:spPr>
        <p:txBody>
          <a:bodyPr wrap="square"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31 ft</a:t>
            </a:r>
            <a:endParaRPr lang="en-US" sz="1000" b="1" dirty="0">
              <a:solidFill>
                <a:schemeClr val="bg1"/>
              </a:solidFill>
            </a:endParaRPr>
          </a:p>
        </p:txBody>
      </p:sp>
      <p:sp>
        <p:nvSpPr>
          <p:cNvPr id="8" name="Text 8">
            <a:extLst>
              <a:ext uri="{FF2B5EF4-FFF2-40B4-BE49-F238E27FC236}">
                <a16:creationId xmlns:a16="http://schemas.microsoft.com/office/drawing/2014/main" id="{0E635C8B-4B6E-30F8-2226-6C75B8024C18}"/>
              </a:ext>
            </a:extLst>
          </p:cNvPr>
          <p:cNvSpPr/>
          <p:nvPr/>
        </p:nvSpPr>
        <p:spPr>
          <a:xfrm>
            <a:off x="462856" y="2611187"/>
            <a:ext cx="900000" cy="256032"/>
          </a:xfrm>
          <a:prstGeom prst="rect">
            <a:avLst/>
          </a:prstGeom>
          <a:noFill/>
          <a:ln/>
        </p:spPr>
        <p:txBody>
          <a:bodyPr wrap="square" rtlCol="0" anchor="ctr"/>
          <a:lstStyle/>
          <a:p>
            <a:pPr marL="0" indent="0" algn="ctr">
              <a:buNone/>
            </a:pPr>
            <a:r>
              <a:rPr lang="en-US" sz="1100" b="1" dirty="0">
                <a:solidFill>
                  <a:srgbClr val="FFD166"/>
                </a:solidFill>
                <a:latin typeface="Calibri" pitchFamily="34" charset="0"/>
                <a:ea typeface="Calibri" pitchFamily="34" charset="-122"/>
                <a:cs typeface="Calibri" pitchFamily="34" charset="-120"/>
              </a:rPr>
              <a:t>0.0154</a:t>
            </a:r>
            <a:endParaRPr lang="en-US" sz="1100" dirty="0"/>
          </a:p>
        </p:txBody>
      </p:sp>
      <p:sp>
        <p:nvSpPr>
          <p:cNvPr id="9" name="Text 9">
            <a:extLst>
              <a:ext uri="{FF2B5EF4-FFF2-40B4-BE49-F238E27FC236}">
                <a16:creationId xmlns:a16="http://schemas.microsoft.com/office/drawing/2014/main" id="{872EF17C-11A4-64C3-A4D9-2080C8DCEC8C}"/>
              </a:ext>
            </a:extLst>
          </p:cNvPr>
          <p:cNvSpPr/>
          <p:nvPr/>
        </p:nvSpPr>
        <p:spPr>
          <a:xfrm>
            <a:off x="462856" y="2885507"/>
            <a:ext cx="900000" cy="502920"/>
          </a:xfrm>
          <a:prstGeom prst="rect">
            <a:avLst/>
          </a:prstGeom>
          <a:noFill/>
          <a:ln/>
        </p:spPr>
        <p:txBody>
          <a:bodyPr wrap="square" rtlCol="0" anchor="ctr"/>
          <a:lstStyle/>
          <a:p>
            <a:pPr marL="0" indent="0" algn="ctr">
              <a:buNone/>
            </a:pPr>
            <a:r>
              <a:rPr lang="en-US" sz="1000" dirty="0">
                <a:solidFill>
                  <a:schemeClr val="bg1"/>
                </a:solidFill>
                <a:latin typeface="Calibri" pitchFamily="34" charset="0"/>
                <a:ea typeface="Calibri" pitchFamily="34" charset="-122"/>
                <a:cs typeface="Calibri" pitchFamily="34" charset="-120"/>
              </a:rPr>
              <a:t>Baseline KT+VT</a:t>
            </a:r>
            <a:endParaRPr lang="en-US" sz="1000" dirty="0">
              <a:solidFill>
                <a:schemeClr val="bg1"/>
              </a:solidFill>
            </a:endParaRPr>
          </a:p>
        </p:txBody>
      </p:sp>
      <p:sp>
        <p:nvSpPr>
          <p:cNvPr id="11" name="Shape 11">
            <a:extLst>
              <a:ext uri="{FF2B5EF4-FFF2-40B4-BE49-F238E27FC236}">
                <a16:creationId xmlns:a16="http://schemas.microsoft.com/office/drawing/2014/main" id="{1EC88883-81B3-7BD3-5D93-4AD3C7EDC595}"/>
              </a:ext>
            </a:extLst>
          </p:cNvPr>
          <p:cNvSpPr/>
          <p:nvPr/>
        </p:nvSpPr>
        <p:spPr>
          <a:xfrm>
            <a:off x="1521508" y="1897955"/>
            <a:ext cx="900000" cy="1600200"/>
          </a:xfrm>
          <a:prstGeom prst="rect">
            <a:avLst/>
          </a:prstGeom>
          <a:solidFill>
            <a:srgbClr val="1E3A20"/>
          </a:solidFill>
          <a:ln w="12700">
            <a:solidFill>
              <a:srgbClr val="335533"/>
            </a:solidFill>
            <a:prstDash val="solid"/>
          </a:ln>
        </p:spPr>
      </p:sp>
      <p:sp>
        <p:nvSpPr>
          <p:cNvPr id="12" name="Text 12">
            <a:extLst>
              <a:ext uri="{FF2B5EF4-FFF2-40B4-BE49-F238E27FC236}">
                <a16:creationId xmlns:a16="http://schemas.microsoft.com/office/drawing/2014/main" id="{DC21F602-897D-9A1F-1BAF-7612CCCC5778}"/>
              </a:ext>
            </a:extLst>
          </p:cNvPr>
          <p:cNvSpPr/>
          <p:nvPr/>
        </p:nvSpPr>
        <p:spPr>
          <a:xfrm>
            <a:off x="1521508" y="1943675"/>
            <a:ext cx="9000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V2</a:t>
            </a:r>
            <a:endParaRPr lang="en-US" sz="1600" dirty="0"/>
          </a:p>
        </p:txBody>
      </p:sp>
      <p:sp>
        <p:nvSpPr>
          <p:cNvPr id="13" name="Text 13">
            <a:extLst>
              <a:ext uri="{FF2B5EF4-FFF2-40B4-BE49-F238E27FC236}">
                <a16:creationId xmlns:a16="http://schemas.microsoft.com/office/drawing/2014/main" id="{AA483722-3FFF-6EE3-C715-966467DD20CF}"/>
              </a:ext>
            </a:extLst>
          </p:cNvPr>
          <p:cNvSpPr/>
          <p:nvPr/>
        </p:nvSpPr>
        <p:spPr>
          <a:xfrm>
            <a:off x="1521508" y="2336867"/>
            <a:ext cx="900000" cy="256032"/>
          </a:xfrm>
          <a:prstGeom prst="rect">
            <a:avLst/>
          </a:prstGeom>
          <a:noFill/>
          <a:ln/>
        </p:spPr>
        <p:txBody>
          <a:bodyPr wrap="square"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46 ft</a:t>
            </a:r>
            <a:endParaRPr lang="en-US" sz="1000" b="1" dirty="0">
              <a:solidFill>
                <a:schemeClr val="bg1"/>
              </a:solidFill>
            </a:endParaRPr>
          </a:p>
        </p:txBody>
      </p:sp>
      <p:sp>
        <p:nvSpPr>
          <p:cNvPr id="14" name="Text 14">
            <a:extLst>
              <a:ext uri="{FF2B5EF4-FFF2-40B4-BE49-F238E27FC236}">
                <a16:creationId xmlns:a16="http://schemas.microsoft.com/office/drawing/2014/main" id="{51A6CD6F-8951-8248-C403-B1EBD76D0AEF}"/>
              </a:ext>
            </a:extLst>
          </p:cNvPr>
          <p:cNvSpPr/>
          <p:nvPr/>
        </p:nvSpPr>
        <p:spPr>
          <a:xfrm>
            <a:off x="1521508" y="2611187"/>
            <a:ext cx="900000" cy="256032"/>
          </a:xfrm>
          <a:prstGeom prst="rect">
            <a:avLst/>
          </a:prstGeom>
          <a:noFill/>
          <a:ln/>
        </p:spPr>
        <p:txBody>
          <a:bodyPr wrap="square" rtlCol="0" anchor="ctr"/>
          <a:lstStyle/>
          <a:p>
            <a:pPr marL="0" indent="0" algn="ctr">
              <a:buNone/>
            </a:pPr>
            <a:r>
              <a:rPr lang="en-US" sz="1100" b="1" dirty="0">
                <a:solidFill>
                  <a:srgbClr val="FFD166"/>
                </a:solidFill>
                <a:latin typeface="Calibri" pitchFamily="34" charset="0"/>
                <a:ea typeface="Calibri" pitchFamily="34" charset="-122"/>
                <a:cs typeface="Calibri" pitchFamily="34" charset="-120"/>
              </a:rPr>
              <a:t>0.0202</a:t>
            </a:r>
            <a:endParaRPr lang="en-US" sz="1100" dirty="0"/>
          </a:p>
        </p:txBody>
      </p:sp>
      <p:sp>
        <p:nvSpPr>
          <p:cNvPr id="15" name="Text 15">
            <a:extLst>
              <a:ext uri="{FF2B5EF4-FFF2-40B4-BE49-F238E27FC236}">
                <a16:creationId xmlns:a16="http://schemas.microsoft.com/office/drawing/2014/main" id="{E23A5A3B-4E94-77D5-89E3-A61DED357806}"/>
              </a:ext>
            </a:extLst>
          </p:cNvPr>
          <p:cNvSpPr/>
          <p:nvPr/>
        </p:nvSpPr>
        <p:spPr>
          <a:xfrm>
            <a:off x="1521508" y="2885507"/>
            <a:ext cx="900000" cy="502920"/>
          </a:xfrm>
          <a:prstGeom prst="rect">
            <a:avLst/>
          </a:prstGeom>
          <a:noFill/>
          <a:ln/>
        </p:spPr>
        <p:txBody>
          <a:bodyPr wrap="square" rtlCol="0" anchor="ctr"/>
          <a:lstStyle/>
          <a:p>
            <a:pPr marL="0" indent="0" algn="ctr">
              <a:buNone/>
            </a:pPr>
            <a:r>
              <a:rPr lang="en-US" sz="1000">
                <a:solidFill>
                  <a:schemeClr val="bg1"/>
                </a:solidFill>
                <a:latin typeface="Calibri" pitchFamily="34" charset="0"/>
                <a:ea typeface="Calibri" pitchFamily="34" charset="-122"/>
                <a:cs typeface="Calibri" pitchFamily="34" charset="-120"/>
              </a:rPr>
              <a:t>+ Nhân </a:t>
            </a:r>
            <a:r>
              <a:rPr lang="en-US" sz="1000" dirty="0">
                <a:solidFill>
                  <a:schemeClr val="bg1"/>
                </a:solidFill>
                <a:latin typeface="Calibri" pitchFamily="34" charset="0"/>
                <a:ea typeface="Calibri" pitchFamily="34" charset="-122"/>
                <a:cs typeface="Calibri" pitchFamily="34" charset="-120"/>
              </a:rPr>
              <a:t>sinh OR</a:t>
            </a:r>
            <a:endParaRPr lang="en-US" sz="1000" dirty="0">
              <a:solidFill>
                <a:schemeClr val="bg1"/>
              </a:solidFill>
            </a:endParaRPr>
          </a:p>
        </p:txBody>
      </p:sp>
      <p:sp>
        <p:nvSpPr>
          <p:cNvPr id="17" name="Shape 17">
            <a:extLst>
              <a:ext uri="{FF2B5EF4-FFF2-40B4-BE49-F238E27FC236}">
                <a16:creationId xmlns:a16="http://schemas.microsoft.com/office/drawing/2014/main" id="{87CC6D6D-985D-FE6A-681B-811EEE741B5F}"/>
              </a:ext>
            </a:extLst>
          </p:cNvPr>
          <p:cNvSpPr/>
          <p:nvPr/>
        </p:nvSpPr>
        <p:spPr>
          <a:xfrm>
            <a:off x="2580160" y="1903677"/>
            <a:ext cx="900000" cy="1600200"/>
          </a:xfrm>
          <a:prstGeom prst="rect">
            <a:avLst/>
          </a:prstGeom>
          <a:solidFill>
            <a:srgbClr val="1E3A20"/>
          </a:solidFill>
          <a:ln w="12700">
            <a:solidFill>
              <a:srgbClr val="335533"/>
            </a:solidFill>
            <a:prstDash val="solid"/>
          </a:ln>
        </p:spPr>
      </p:sp>
      <p:sp>
        <p:nvSpPr>
          <p:cNvPr id="18" name="Text 18">
            <a:extLst>
              <a:ext uri="{FF2B5EF4-FFF2-40B4-BE49-F238E27FC236}">
                <a16:creationId xmlns:a16="http://schemas.microsoft.com/office/drawing/2014/main" id="{8F5D29E9-3F9D-FF25-F698-968AAD54A14B}"/>
              </a:ext>
            </a:extLst>
          </p:cNvPr>
          <p:cNvSpPr/>
          <p:nvPr/>
        </p:nvSpPr>
        <p:spPr>
          <a:xfrm>
            <a:off x="2580160" y="1949397"/>
            <a:ext cx="9000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V3</a:t>
            </a:r>
            <a:endParaRPr lang="en-US" sz="1600" dirty="0"/>
          </a:p>
        </p:txBody>
      </p:sp>
      <p:sp>
        <p:nvSpPr>
          <p:cNvPr id="19" name="Text 19">
            <a:extLst>
              <a:ext uri="{FF2B5EF4-FFF2-40B4-BE49-F238E27FC236}">
                <a16:creationId xmlns:a16="http://schemas.microsoft.com/office/drawing/2014/main" id="{A6B4C5EC-53FC-02C6-F90A-448F093210A5}"/>
              </a:ext>
            </a:extLst>
          </p:cNvPr>
          <p:cNvSpPr/>
          <p:nvPr/>
        </p:nvSpPr>
        <p:spPr>
          <a:xfrm>
            <a:off x="2580160" y="2342589"/>
            <a:ext cx="900000" cy="256032"/>
          </a:xfrm>
          <a:prstGeom prst="rect">
            <a:avLst/>
          </a:prstGeom>
          <a:noFill/>
          <a:ln/>
        </p:spPr>
        <p:txBody>
          <a:bodyPr wrap="square"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46 ft</a:t>
            </a:r>
            <a:endParaRPr lang="en-US" sz="1000" b="1" dirty="0">
              <a:solidFill>
                <a:schemeClr val="bg1"/>
              </a:solidFill>
            </a:endParaRPr>
          </a:p>
        </p:txBody>
      </p:sp>
      <p:sp>
        <p:nvSpPr>
          <p:cNvPr id="20" name="Text 20">
            <a:extLst>
              <a:ext uri="{FF2B5EF4-FFF2-40B4-BE49-F238E27FC236}">
                <a16:creationId xmlns:a16="http://schemas.microsoft.com/office/drawing/2014/main" id="{2CABA993-F582-F420-5ACF-ACE9DB1C5A53}"/>
              </a:ext>
            </a:extLst>
          </p:cNvPr>
          <p:cNvSpPr/>
          <p:nvPr/>
        </p:nvSpPr>
        <p:spPr>
          <a:xfrm>
            <a:off x="2580160" y="2616909"/>
            <a:ext cx="900000" cy="256032"/>
          </a:xfrm>
          <a:prstGeom prst="rect">
            <a:avLst/>
          </a:prstGeom>
          <a:noFill/>
          <a:ln/>
        </p:spPr>
        <p:txBody>
          <a:bodyPr wrap="square" rtlCol="0" anchor="ctr"/>
          <a:lstStyle/>
          <a:p>
            <a:pPr marL="0" indent="0" algn="ctr">
              <a:buNone/>
            </a:pPr>
            <a:r>
              <a:rPr lang="en-US" sz="1100" b="1" dirty="0">
                <a:solidFill>
                  <a:srgbClr val="FFD166"/>
                </a:solidFill>
                <a:latin typeface="Calibri" pitchFamily="34" charset="0"/>
                <a:ea typeface="Calibri" pitchFamily="34" charset="-122"/>
                <a:cs typeface="Calibri" pitchFamily="34" charset="-120"/>
              </a:rPr>
              <a:t>0.0191</a:t>
            </a:r>
            <a:endParaRPr lang="en-US" sz="1100" dirty="0"/>
          </a:p>
        </p:txBody>
      </p:sp>
      <p:sp>
        <p:nvSpPr>
          <p:cNvPr id="21" name="Text 21">
            <a:extLst>
              <a:ext uri="{FF2B5EF4-FFF2-40B4-BE49-F238E27FC236}">
                <a16:creationId xmlns:a16="http://schemas.microsoft.com/office/drawing/2014/main" id="{4476C037-BD62-C805-C3DE-4F050430FAA4}"/>
              </a:ext>
            </a:extLst>
          </p:cNvPr>
          <p:cNvSpPr/>
          <p:nvPr/>
        </p:nvSpPr>
        <p:spPr>
          <a:xfrm>
            <a:off x="2580160" y="2891229"/>
            <a:ext cx="900000" cy="502920"/>
          </a:xfrm>
          <a:prstGeom prst="rect">
            <a:avLst/>
          </a:prstGeom>
          <a:noFill/>
          <a:ln/>
        </p:spPr>
        <p:txBody>
          <a:bodyPr wrap="square" rtlCol="0" anchor="ctr"/>
          <a:lstStyle/>
          <a:p>
            <a:pPr marL="0" indent="0" algn="ctr">
              <a:buNone/>
            </a:pPr>
            <a:r>
              <a:rPr lang="en-US" sz="1000" dirty="0">
                <a:solidFill>
                  <a:schemeClr val="bg1"/>
                </a:solidFill>
                <a:latin typeface="Calibri" pitchFamily="34" charset="0"/>
                <a:ea typeface="Calibri" pitchFamily="34" charset="-122"/>
                <a:cs typeface="Calibri" pitchFamily="34" charset="-120"/>
              </a:rPr>
              <a:t>AND-logic</a:t>
            </a:r>
            <a:endParaRPr lang="en-US" sz="1000" dirty="0">
              <a:solidFill>
                <a:schemeClr val="bg1"/>
              </a:solidFill>
            </a:endParaRPr>
          </a:p>
        </p:txBody>
      </p:sp>
      <p:sp>
        <p:nvSpPr>
          <p:cNvPr id="23" name="Shape 23">
            <a:extLst>
              <a:ext uri="{FF2B5EF4-FFF2-40B4-BE49-F238E27FC236}">
                <a16:creationId xmlns:a16="http://schemas.microsoft.com/office/drawing/2014/main" id="{97D21446-EABB-A8F3-3EB9-64097CBB99CD}"/>
              </a:ext>
            </a:extLst>
          </p:cNvPr>
          <p:cNvSpPr/>
          <p:nvPr/>
        </p:nvSpPr>
        <p:spPr>
          <a:xfrm>
            <a:off x="3638812" y="1897955"/>
            <a:ext cx="900000" cy="1600200"/>
          </a:xfrm>
          <a:prstGeom prst="rect">
            <a:avLst/>
          </a:prstGeom>
          <a:solidFill>
            <a:srgbClr val="EF5350"/>
          </a:solidFill>
          <a:ln w="12700">
            <a:solidFill>
              <a:srgbClr val="EF5350"/>
            </a:solidFill>
            <a:prstDash val="solid"/>
          </a:ln>
        </p:spPr>
      </p:sp>
      <p:sp>
        <p:nvSpPr>
          <p:cNvPr id="24" name="Text 24">
            <a:extLst>
              <a:ext uri="{FF2B5EF4-FFF2-40B4-BE49-F238E27FC236}">
                <a16:creationId xmlns:a16="http://schemas.microsoft.com/office/drawing/2014/main" id="{44089105-68E9-7A41-1140-4AE11BD3947B}"/>
              </a:ext>
            </a:extLst>
          </p:cNvPr>
          <p:cNvSpPr/>
          <p:nvPr/>
        </p:nvSpPr>
        <p:spPr>
          <a:xfrm>
            <a:off x="3638812" y="1943675"/>
            <a:ext cx="9000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V4</a:t>
            </a:r>
            <a:endParaRPr lang="en-US" sz="1600" dirty="0"/>
          </a:p>
        </p:txBody>
      </p:sp>
      <p:sp>
        <p:nvSpPr>
          <p:cNvPr id="25" name="Text 25">
            <a:extLst>
              <a:ext uri="{FF2B5EF4-FFF2-40B4-BE49-F238E27FC236}">
                <a16:creationId xmlns:a16="http://schemas.microsoft.com/office/drawing/2014/main" id="{6163475C-19AD-D652-098F-99C867E4CD64}"/>
              </a:ext>
            </a:extLst>
          </p:cNvPr>
          <p:cNvSpPr/>
          <p:nvPr/>
        </p:nvSpPr>
        <p:spPr>
          <a:xfrm>
            <a:off x="3638812" y="2336867"/>
            <a:ext cx="900000" cy="256032"/>
          </a:xfrm>
          <a:prstGeom prst="rect">
            <a:avLst/>
          </a:prstGeom>
          <a:noFill/>
          <a:ln/>
        </p:spPr>
        <p:txBody>
          <a:bodyPr wrap="square"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46 ft</a:t>
            </a:r>
            <a:endParaRPr lang="en-US" sz="1000" b="1" dirty="0">
              <a:solidFill>
                <a:schemeClr val="bg1"/>
              </a:solidFill>
            </a:endParaRPr>
          </a:p>
        </p:txBody>
      </p:sp>
      <p:sp>
        <p:nvSpPr>
          <p:cNvPr id="26" name="Text 26">
            <a:extLst>
              <a:ext uri="{FF2B5EF4-FFF2-40B4-BE49-F238E27FC236}">
                <a16:creationId xmlns:a16="http://schemas.microsoft.com/office/drawing/2014/main" id="{B2D8ED34-DBDA-AA58-E309-70458449812F}"/>
              </a:ext>
            </a:extLst>
          </p:cNvPr>
          <p:cNvSpPr/>
          <p:nvPr/>
        </p:nvSpPr>
        <p:spPr>
          <a:xfrm>
            <a:off x="3638812" y="2611187"/>
            <a:ext cx="900000" cy="256032"/>
          </a:xfrm>
          <a:prstGeom prst="rect">
            <a:avLst/>
          </a:prstGeom>
          <a:noFill/>
          <a:ln/>
        </p:spPr>
        <p:txBody>
          <a:bodyPr wrap="square" rtlCol="0" anchor="ctr"/>
          <a:lstStyle/>
          <a:p>
            <a:pPr marL="0" indent="0" algn="ctr">
              <a:buNone/>
            </a:pPr>
            <a:r>
              <a:rPr lang="en-US" sz="1100" b="1" dirty="0">
                <a:solidFill>
                  <a:srgbClr val="FFD166"/>
                </a:solidFill>
                <a:latin typeface="Calibri" pitchFamily="34" charset="0"/>
                <a:ea typeface="Calibri" pitchFamily="34" charset="-122"/>
                <a:cs typeface="Calibri" pitchFamily="34" charset="-120"/>
              </a:rPr>
              <a:t>0.0233</a:t>
            </a:r>
            <a:endParaRPr lang="en-US" sz="1100" dirty="0"/>
          </a:p>
        </p:txBody>
      </p:sp>
      <p:sp>
        <p:nvSpPr>
          <p:cNvPr id="27" name="Text 27">
            <a:extLst>
              <a:ext uri="{FF2B5EF4-FFF2-40B4-BE49-F238E27FC236}">
                <a16:creationId xmlns:a16="http://schemas.microsoft.com/office/drawing/2014/main" id="{D6F1A537-8FC8-82E4-ACFF-CC983597905B}"/>
              </a:ext>
            </a:extLst>
          </p:cNvPr>
          <p:cNvSpPr/>
          <p:nvPr/>
        </p:nvSpPr>
        <p:spPr>
          <a:xfrm>
            <a:off x="3638812" y="2885507"/>
            <a:ext cx="900000" cy="502920"/>
          </a:xfrm>
          <a:prstGeom prst="rect">
            <a:avLst/>
          </a:prstGeom>
          <a:noFill/>
          <a:ln/>
        </p:spPr>
        <p:txBody>
          <a:bodyPr wrap="square" rtlCol="0" anchor="ctr"/>
          <a:lstStyle/>
          <a:p>
            <a:pPr marL="0" indent="0" algn="ctr">
              <a:buNone/>
            </a:pPr>
            <a:r>
              <a:rPr lang="en-US" sz="1000">
                <a:solidFill>
                  <a:schemeClr val="bg1"/>
                </a:solidFill>
                <a:latin typeface="Calibri" pitchFamily="34" charset="0"/>
                <a:ea typeface="Calibri" pitchFamily="34" charset="-122"/>
                <a:cs typeface="Calibri" pitchFamily="34" charset="-120"/>
              </a:rPr>
              <a:t>Focal Loss </a:t>
            </a:r>
            <a:r>
              <a:rPr lang="en-US">
                <a:solidFill>
                  <a:schemeClr val="bg1"/>
                </a:solidFill>
                <a:latin typeface="Calibri" pitchFamily="34" charset="0"/>
                <a:ea typeface="Calibri" pitchFamily="34" charset="-122"/>
                <a:cs typeface="Calibri" pitchFamily="34" charset="-120"/>
              </a:rPr>
              <a:t>×</a:t>
            </a:r>
            <a:endParaRPr lang="en-US" sz="1000" dirty="0">
              <a:solidFill>
                <a:schemeClr val="bg1"/>
              </a:solidFill>
            </a:endParaRPr>
          </a:p>
        </p:txBody>
      </p:sp>
      <p:sp>
        <p:nvSpPr>
          <p:cNvPr id="29" name="Shape 29">
            <a:extLst>
              <a:ext uri="{FF2B5EF4-FFF2-40B4-BE49-F238E27FC236}">
                <a16:creationId xmlns:a16="http://schemas.microsoft.com/office/drawing/2014/main" id="{9CAFD976-A3BB-28E8-8939-8DF8E4D7BD97}"/>
              </a:ext>
            </a:extLst>
          </p:cNvPr>
          <p:cNvSpPr/>
          <p:nvPr/>
        </p:nvSpPr>
        <p:spPr>
          <a:xfrm>
            <a:off x="4697464" y="1897955"/>
            <a:ext cx="900000" cy="1600200"/>
          </a:xfrm>
          <a:prstGeom prst="rect">
            <a:avLst/>
          </a:prstGeom>
          <a:solidFill>
            <a:srgbClr val="4CAF50"/>
          </a:solidFill>
          <a:ln w="12700">
            <a:solidFill>
              <a:srgbClr val="4CAF50"/>
            </a:solidFill>
            <a:prstDash val="solid"/>
          </a:ln>
        </p:spPr>
      </p:sp>
      <p:sp>
        <p:nvSpPr>
          <p:cNvPr id="30" name="Text 30">
            <a:extLst>
              <a:ext uri="{FF2B5EF4-FFF2-40B4-BE49-F238E27FC236}">
                <a16:creationId xmlns:a16="http://schemas.microsoft.com/office/drawing/2014/main" id="{D6786C4F-5575-778B-E264-AE7265C30086}"/>
              </a:ext>
            </a:extLst>
          </p:cNvPr>
          <p:cNvSpPr/>
          <p:nvPr/>
        </p:nvSpPr>
        <p:spPr>
          <a:xfrm>
            <a:off x="4697464" y="1943675"/>
            <a:ext cx="900000" cy="365760"/>
          </a:xfrm>
          <a:prstGeom prst="rect">
            <a:avLst/>
          </a:prstGeom>
          <a:noFill/>
          <a:ln/>
        </p:spPr>
        <p:txBody>
          <a:bodyPr wrap="square"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V5</a:t>
            </a:r>
            <a:endParaRPr lang="en-US" sz="1600" dirty="0"/>
          </a:p>
        </p:txBody>
      </p:sp>
      <p:sp>
        <p:nvSpPr>
          <p:cNvPr id="31" name="Text 31">
            <a:extLst>
              <a:ext uri="{FF2B5EF4-FFF2-40B4-BE49-F238E27FC236}">
                <a16:creationId xmlns:a16="http://schemas.microsoft.com/office/drawing/2014/main" id="{B81FA297-86F0-E584-581E-82DE3E42E2AE}"/>
              </a:ext>
            </a:extLst>
          </p:cNvPr>
          <p:cNvSpPr/>
          <p:nvPr/>
        </p:nvSpPr>
        <p:spPr>
          <a:xfrm>
            <a:off x="4697464" y="2336867"/>
            <a:ext cx="900000" cy="256032"/>
          </a:xfrm>
          <a:prstGeom prst="rect">
            <a:avLst/>
          </a:prstGeom>
          <a:noFill/>
          <a:ln/>
        </p:spPr>
        <p:txBody>
          <a:bodyPr wrap="square"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52 ft</a:t>
            </a:r>
            <a:endParaRPr lang="en-US" sz="1000" b="1" dirty="0">
              <a:solidFill>
                <a:schemeClr val="bg1"/>
              </a:solidFill>
            </a:endParaRPr>
          </a:p>
        </p:txBody>
      </p:sp>
      <p:sp>
        <p:nvSpPr>
          <p:cNvPr id="32" name="Text 32">
            <a:extLst>
              <a:ext uri="{FF2B5EF4-FFF2-40B4-BE49-F238E27FC236}">
                <a16:creationId xmlns:a16="http://schemas.microsoft.com/office/drawing/2014/main" id="{DD4FDA5C-A501-6116-EF40-A5A8D544995B}"/>
              </a:ext>
            </a:extLst>
          </p:cNvPr>
          <p:cNvSpPr/>
          <p:nvPr/>
        </p:nvSpPr>
        <p:spPr>
          <a:xfrm>
            <a:off x="4697464" y="2611187"/>
            <a:ext cx="900000" cy="256032"/>
          </a:xfrm>
          <a:prstGeom prst="rect">
            <a:avLst/>
          </a:prstGeom>
          <a:noFill/>
          <a:ln/>
        </p:spPr>
        <p:txBody>
          <a:bodyPr wrap="square" rtlCol="0" anchor="ctr"/>
          <a:lstStyle/>
          <a:p>
            <a:pPr marL="0" indent="0" algn="ctr">
              <a:buNone/>
            </a:pPr>
            <a:r>
              <a:rPr lang="en-US" sz="1100" b="1" dirty="0">
                <a:solidFill>
                  <a:srgbClr val="0D1F0F"/>
                </a:solidFill>
                <a:latin typeface="Calibri" pitchFamily="34" charset="0"/>
                <a:ea typeface="Calibri" pitchFamily="34" charset="-122"/>
                <a:cs typeface="Calibri" pitchFamily="34" charset="-120"/>
              </a:rPr>
              <a:t>0.0201</a:t>
            </a:r>
            <a:endParaRPr lang="en-US" sz="1100" dirty="0"/>
          </a:p>
        </p:txBody>
      </p:sp>
      <p:sp>
        <p:nvSpPr>
          <p:cNvPr id="33" name="Text 33">
            <a:extLst>
              <a:ext uri="{FF2B5EF4-FFF2-40B4-BE49-F238E27FC236}">
                <a16:creationId xmlns:a16="http://schemas.microsoft.com/office/drawing/2014/main" id="{631EB393-95A6-7C6A-3107-3176BB1553F2}"/>
              </a:ext>
            </a:extLst>
          </p:cNvPr>
          <p:cNvSpPr/>
          <p:nvPr/>
        </p:nvSpPr>
        <p:spPr>
          <a:xfrm>
            <a:off x="4697464" y="2885507"/>
            <a:ext cx="900000" cy="502920"/>
          </a:xfrm>
          <a:prstGeom prst="rect">
            <a:avLst/>
          </a:prstGeom>
          <a:noFill/>
          <a:ln/>
        </p:spPr>
        <p:txBody>
          <a:bodyPr wrap="square" rtlCol="0" anchor="ctr"/>
          <a:lstStyle/>
          <a:p>
            <a:pPr marL="0" indent="0" algn="ctr">
              <a:buNone/>
            </a:pPr>
            <a:r>
              <a:rPr lang="en-US" sz="1000" dirty="0">
                <a:solidFill>
                  <a:schemeClr val="bg1"/>
                </a:solidFill>
                <a:latin typeface="Calibri" pitchFamily="34" charset="0"/>
                <a:ea typeface="Calibri" pitchFamily="34" charset="-122"/>
                <a:cs typeface="Calibri" pitchFamily="34" charset="-120"/>
              </a:rPr>
              <a:t>Pathway ⭐</a:t>
            </a:r>
            <a:endParaRPr lang="en-US" sz="1000" dirty="0">
              <a:solidFill>
                <a:schemeClr val="bg1"/>
              </a:solidFill>
            </a:endParaRPr>
          </a:p>
        </p:txBody>
      </p:sp>
      <p:sp>
        <p:nvSpPr>
          <p:cNvPr id="34" name="Shape 34">
            <a:extLst>
              <a:ext uri="{FF2B5EF4-FFF2-40B4-BE49-F238E27FC236}">
                <a16:creationId xmlns:a16="http://schemas.microsoft.com/office/drawing/2014/main" id="{483F98F0-BE3B-AC8E-C55E-962D568F598D}"/>
              </a:ext>
            </a:extLst>
          </p:cNvPr>
          <p:cNvSpPr/>
          <p:nvPr/>
        </p:nvSpPr>
        <p:spPr>
          <a:xfrm>
            <a:off x="6497464" y="1832504"/>
            <a:ext cx="4356000" cy="3892459"/>
          </a:xfrm>
          <a:prstGeom prst="rect">
            <a:avLst/>
          </a:prstGeom>
          <a:solidFill>
            <a:schemeClr val="bg1">
              <a:lumMod val="95000"/>
            </a:schemeClr>
          </a:solidFill>
          <a:ln w="9525">
            <a:solidFill>
              <a:srgbClr val="C00000"/>
            </a:solidFill>
            <a:prstDash val="solid"/>
          </a:ln>
        </p:spPr>
      </p:sp>
      <p:sp>
        <p:nvSpPr>
          <p:cNvPr id="35" name="Text 35">
            <a:extLst>
              <a:ext uri="{FF2B5EF4-FFF2-40B4-BE49-F238E27FC236}">
                <a16:creationId xmlns:a16="http://schemas.microsoft.com/office/drawing/2014/main" id="{E654D9BE-C968-7C38-F933-F7063746016C}"/>
              </a:ext>
            </a:extLst>
          </p:cNvPr>
          <p:cNvSpPr/>
          <p:nvPr/>
        </p:nvSpPr>
        <p:spPr>
          <a:xfrm>
            <a:off x="6588904" y="1905656"/>
            <a:ext cx="4187230" cy="365760"/>
          </a:xfrm>
          <a:prstGeom prst="rect">
            <a:avLst/>
          </a:prstGeom>
          <a:noFill/>
          <a:ln/>
        </p:spPr>
        <p:txBody>
          <a:bodyPr wrap="square" rtlCol="0" anchor="ctr"/>
          <a:lstStyle/>
          <a:p>
            <a:pPr marL="0" indent="0">
              <a:buNone/>
            </a:pPr>
            <a:r>
              <a:rPr lang="en-US" sz="1400" b="1" dirty="0">
                <a:solidFill>
                  <a:srgbClr val="C00000"/>
                </a:solidFill>
                <a:latin typeface="Trebuchet MS" pitchFamily="34" charset="0"/>
                <a:ea typeface="Trebuchet MS" pitchFamily="34" charset="-122"/>
                <a:cs typeface="Trebuchet MS" pitchFamily="34" charset="-120"/>
              </a:rPr>
              <a:t>⚙  Siêu tham số tối ưu (Optuna – 200 trials)</a:t>
            </a:r>
            <a:endParaRPr lang="en-US" sz="1400" dirty="0">
              <a:solidFill>
                <a:srgbClr val="C00000"/>
              </a:solidFill>
            </a:endParaRPr>
          </a:p>
        </p:txBody>
      </p:sp>
      <p:sp>
        <p:nvSpPr>
          <p:cNvPr id="36" name="Shape 36">
            <a:extLst>
              <a:ext uri="{FF2B5EF4-FFF2-40B4-BE49-F238E27FC236}">
                <a16:creationId xmlns:a16="http://schemas.microsoft.com/office/drawing/2014/main" id="{4D7590FC-CBB8-24B4-FAD1-68700F3F1C04}"/>
              </a:ext>
            </a:extLst>
          </p:cNvPr>
          <p:cNvSpPr/>
          <p:nvPr/>
        </p:nvSpPr>
        <p:spPr>
          <a:xfrm>
            <a:off x="6580891" y="2298848"/>
            <a:ext cx="4187229" cy="338328"/>
          </a:xfrm>
          <a:prstGeom prst="rect">
            <a:avLst/>
          </a:prstGeom>
          <a:solidFill>
            <a:srgbClr val="C00000"/>
          </a:solidFill>
          <a:ln w="12700">
            <a:noFill/>
            <a:prstDash val="solid"/>
          </a:ln>
        </p:spPr>
        <p:txBody>
          <a:bodyPr/>
          <a:lstStyle/>
          <a:p>
            <a:endParaRPr lang="en-US"/>
          </a:p>
        </p:txBody>
      </p:sp>
      <p:sp>
        <p:nvSpPr>
          <p:cNvPr id="37" name="Text 37">
            <a:extLst>
              <a:ext uri="{FF2B5EF4-FFF2-40B4-BE49-F238E27FC236}">
                <a16:creationId xmlns:a16="http://schemas.microsoft.com/office/drawing/2014/main" id="{8BD47524-925B-BAD6-B164-E99F164DB27C}"/>
              </a:ext>
            </a:extLst>
          </p:cNvPr>
          <p:cNvSpPr/>
          <p:nvPr/>
        </p:nvSpPr>
        <p:spPr>
          <a:xfrm>
            <a:off x="6607192" y="2335424"/>
            <a:ext cx="2377440"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max_depth</a:t>
            </a:r>
            <a:endParaRPr lang="en-US" sz="1200" dirty="0">
              <a:solidFill>
                <a:schemeClr val="bg1"/>
              </a:solidFill>
            </a:endParaRPr>
          </a:p>
        </p:txBody>
      </p:sp>
      <p:sp>
        <p:nvSpPr>
          <p:cNvPr id="38" name="Text 38">
            <a:extLst>
              <a:ext uri="{FF2B5EF4-FFF2-40B4-BE49-F238E27FC236}">
                <a16:creationId xmlns:a16="http://schemas.microsoft.com/office/drawing/2014/main" id="{19172EC0-D74A-5382-D77F-1C03C10652C3}"/>
              </a:ext>
            </a:extLst>
          </p:cNvPr>
          <p:cNvSpPr/>
          <p:nvPr/>
        </p:nvSpPr>
        <p:spPr>
          <a:xfrm>
            <a:off x="8984632" y="2335424"/>
            <a:ext cx="1726038" cy="274320"/>
          </a:xfrm>
          <a:prstGeom prst="rect">
            <a:avLst/>
          </a:prstGeom>
          <a:noFill/>
          <a:ln/>
        </p:spPr>
        <p:txBody>
          <a:bodyPr wrap="square" rtlCol="0" anchor="ctr"/>
          <a:lstStyle/>
          <a:p>
            <a:pPr marL="0" indent="0" algn="r">
              <a:buNone/>
            </a:pPr>
            <a:r>
              <a:rPr lang="en-US" sz="1200" b="1" dirty="0">
                <a:solidFill>
                  <a:schemeClr val="bg1"/>
                </a:solidFill>
                <a:latin typeface="Calibri" pitchFamily="34" charset="0"/>
                <a:ea typeface="Calibri" pitchFamily="34" charset="-122"/>
                <a:cs typeface="Calibri" pitchFamily="34" charset="-120"/>
              </a:rPr>
              <a:t>7</a:t>
            </a:r>
            <a:endParaRPr lang="en-US" sz="1200" dirty="0">
              <a:solidFill>
                <a:schemeClr val="bg1"/>
              </a:solidFill>
            </a:endParaRPr>
          </a:p>
        </p:txBody>
      </p:sp>
      <p:sp>
        <p:nvSpPr>
          <p:cNvPr id="39" name="Text 39">
            <a:extLst>
              <a:ext uri="{FF2B5EF4-FFF2-40B4-BE49-F238E27FC236}">
                <a16:creationId xmlns:a16="http://schemas.microsoft.com/office/drawing/2014/main" id="{B0A33012-7230-7AA8-6ED5-2EC10A691AE7}"/>
              </a:ext>
            </a:extLst>
          </p:cNvPr>
          <p:cNvSpPr/>
          <p:nvPr/>
        </p:nvSpPr>
        <p:spPr>
          <a:xfrm>
            <a:off x="6607192" y="2692040"/>
            <a:ext cx="2377440" cy="274320"/>
          </a:xfrm>
          <a:prstGeom prst="rect">
            <a:avLst/>
          </a:prstGeom>
          <a:noFill/>
          <a:ln/>
        </p:spPr>
        <p:txBody>
          <a:bodyPr wrap="square" rtlCol="0" anchor="ctr"/>
          <a:lstStyle/>
          <a:p>
            <a:pPr marL="0" indent="0">
              <a:buNone/>
            </a:pPr>
            <a:r>
              <a:rPr lang="en-US" sz="1200" dirty="0">
                <a:solidFill>
                  <a:srgbClr val="C00000"/>
                </a:solidFill>
                <a:latin typeface="Calibri" pitchFamily="34" charset="0"/>
                <a:ea typeface="Calibri" pitchFamily="34" charset="-122"/>
                <a:cs typeface="Calibri" pitchFamily="34" charset="-120"/>
              </a:rPr>
              <a:t>learning_rate</a:t>
            </a:r>
            <a:endParaRPr lang="en-US" sz="1200" dirty="0">
              <a:solidFill>
                <a:srgbClr val="C00000"/>
              </a:solidFill>
            </a:endParaRPr>
          </a:p>
        </p:txBody>
      </p:sp>
      <p:sp>
        <p:nvSpPr>
          <p:cNvPr id="40" name="Text 40">
            <a:extLst>
              <a:ext uri="{FF2B5EF4-FFF2-40B4-BE49-F238E27FC236}">
                <a16:creationId xmlns:a16="http://schemas.microsoft.com/office/drawing/2014/main" id="{4F27D351-A332-1E7A-19BD-429560EF591A}"/>
              </a:ext>
            </a:extLst>
          </p:cNvPr>
          <p:cNvSpPr/>
          <p:nvPr/>
        </p:nvSpPr>
        <p:spPr>
          <a:xfrm>
            <a:off x="8984632" y="2692040"/>
            <a:ext cx="1726038" cy="274320"/>
          </a:xfrm>
          <a:prstGeom prst="rect">
            <a:avLst/>
          </a:prstGeom>
          <a:noFill/>
          <a:ln/>
        </p:spPr>
        <p:txBody>
          <a:bodyPr wrap="square" rtlCol="0" anchor="ctr"/>
          <a:lstStyle/>
          <a:p>
            <a:pPr marL="0" indent="0" algn="r">
              <a:buNone/>
            </a:pPr>
            <a:r>
              <a:rPr lang="en-US" sz="1200" b="1" dirty="0">
                <a:solidFill>
                  <a:srgbClr val="C00000"/>
                </a:solidFill>
                <a:latin typeface="Calibri" pitchFamily="34" charset="0"/>
                <a:ea typeface="Calibri" pitchFamily="34" charset="-122"/>
                <a:cs typeface="Calibri" pitchFamily="34" charset="-120"/>
              </a:rPr>
              <a:t>0.054</a:t>
            </a:r>
            <a:endParaRPr lang="en-US" sz="1200" dirty="0">
              <a:solidFill>
                <a:srgbClr val="C00000"/>
              </a:solidFill>
            </a:endParaRPr>
          </a:p>
        </p:txBody>
      </p:sp>
      <p:sp>
        <p:nvSpPr>
          <p:cNvPr id="41" name="Shape 41">
            <a:extLst>
              <a:ext uri="{FF2B5EF4-FFF2-40B4-BE49-F238E27FC236}">
                <a16:creationId xmlns:a16="http://schemas.microsoft.com/office/drawing/2014/main" id="{CD4FE750-ED20-B0A9-4707-7CDE8CB943D5}"/>
              </a:ext>
            </a:extLst>
          </p:cNvPr>
          <p:cNvSpPr/>
          <p:nvPr/>
        </p:nvSpPr>
        <p:spPr>
          <a:xfrm>
            <a:off x="6580891" y="3012080"/>
            <a:ext cx="4187229" cy="338328"/>
          </a:xfrm>
          <a:prstGeom prst="rect">
            <a:avLst/>
          </a:prstGeom>
          <a:solidFill>
            <a:srgbClr val="C00000"/>
          </a:solidFill>
          <a:ln w="12700">
            <a:noFill/>
            <a:prstDash val="solid"/>
          </a:ln>
        </p:spPr>
      </p:sp>
      <p:sp>
        <p:nvSpPr>
          <p:cNvPr id="42" name="Text 42">
            <a:extLst>
              <a:ext uri="{FF2B5EF4-FFF2-40B4-BE49-F238E27FC236}">
                <a16:creationId xmlns:a16="http://schemas.microsoft.com/office/drawing/2014/main" id="{02F531DE-B0F2-0CD5-9453-8A3CD3DBAF69}"/>
              </a:ext>
            </a:extLst>
          </p:cNvPr>
          <p:cNvSpPr/>
          <p:nvPr/>
        </p:nvSpPr>
        <p:spPr>
          <a:xfrm>
            <a:off x="6607192" y="3048656"/>
            <a:ext cx="2377440"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subsample</a:t>
            </a:r>
            <a:endParaRPr lang="en-US" sz="1200" dirty="0">
              <a:solidFill>
                <a:schemeClr val="bg1"/>
              </a:solidFill>
            </a:endParaRPr>
          </a:p>
        </p:txBody>
      </p:sp>
      <p:sp>
        <p:nvSpPr>
          <p:cNvPr id="43" name="Text 43">
            <a:extLst>
              <a:ext uri="{FF2B5EF4-FFF2-40B4-BE49-F238E27FC236}">
                <a16:creationId xmlns:a16="http://schemas.microsoft.com/office/drawing/2014/main" id="{8A8124A1-E977-D602-19C0-EF0E01751CF9}"/>
              </a:ext>
            </a:extLst>
          </p:cNvPr>
          <p:cNvSpPr/>
          <p:nvPr/>
        </p:nvSpPr>
        <p:spPr>
          <a:xfrm>
            <a:off x="8984632" y="3048656"/>
            <a:ext cx="1726038" cy="274320"/>
          </a:xfrm>
          <a:prstGeom prst="rect">
            <a:avLst/>
          </a:prstGeom>
          <a:noFill/>
          <a:ln/>
        </p:spPr>
        <p:txBody>
          <a:bodyPr wrap="square" rtlCol="0" anchor="ctr"/>
          <a:lstStyle/>
          <a:p>
            <a:pPr marL="0" indent="0" algn="r">
              <a:buNone/>
            </a:pPr>
            <a:r>
              <a:rPr lang="en-US" sz="1200" b="1" dirty="0">
                <a:solidFill>
                  <a:schemeClr val="bg1"/>
                </a:solidFill>
                <a:latin typeface="Calibri" pitchFamily="34" charset="0"/>
                <a:ea typeface="Calibri" pitchFamily="34" charset="-122"/>
                <a:cs typeface="Calibri" pitchFamily="34" charset="-120"/>
              </a:rPr>
              <a:t>0.702</a:t>
            </a:r>
            <a:endParaRPr lang="en-US" sz="1200" dirty="0">
              <a:solidFill>
                <a:schemeClr val="bg1"/>
              </a:solidFill>
            </a:endParaRPr>
          </a:p>
        </p:txBody>
      </p:sp>
      <p:sp>
        <p:nvSpPr>
          <p:cNvPr id="44" name="Text 44">
            <a:extLst>
              <a:ext uri="{FF2B5EF4-FFF2-40B4-BE49-F238E27FC236}">
                <a16:creationId xmlns:a16="http://schemas.microsoft.com/office/drawing/2014/main" id="{DE7EC041-239F-F849-74B9-54F37BE0B24C}"/>
              </a:ext>
            </a:extLst>
          </p:cNvPr>
          <p:cNvSpPr/>
          <p:nvPr/>
        </p:nvSpPr>
        <p:spPr>
          <a:xfrm>
            <a:off x="6607192" y="3405272"/>
            <a:ext cx="2377440" cy="274320"/>
          </a:xfrm>
          <a:prstGeom prst="rect">
            <a:avLst/>
          </a:prstGeom>
          <a:noFill/>
          <a:ln/>
        </p:spPr>
        <p:txBody>
          <a:bodyPr wrap="square" rtlCol="0" anchor="ctr"/>
          <a:lstStyle/>
          <a:p>
            <a:pPr marL="0" indent="0">
              <a:buNone/>
            </a:pPr>
            <a:r>
              <a:rPr lang="en-US" sz="1200" dirty="0">
                <a:solidFill>
                  <a:srgbClr val="C00000"/>
                </a:solidFill>
                <a:latin typeface="Calibri" pitchFamily="34" charset="0"/>
                <a:ea typeface="Calibri" pitchFamily="34" charset="-122"/>
                <a:cs typeface="Calibri" pitchFamily="34" charset="-120"/>
              </a:rPr>
              <a:t>colsample_bytree</a:t>
            </a:r>
            <a:endParaRPr lang="en-US" sz="1200" dirty="0">
              <a:solidFill>
                <a:srgbClr val="C00000"/>
              </a:solidFill>
            </a:endParaRPr>
          </a:p>
        </p:txBody>
      </p:sp>
      <p:sp>
        <p:nvSpPr>
          <p:cNvPr id="45" name="Text 45">
            <a:extLst>
              <a:ext uri="{FF2B5EF4-FFF2-40B4-BE49-F238E27FC236}">
                <a16:creationId xmlns:a16="http://schemas.microsoft.com/office/drawing/2014/main" id="{EDFF5EF3-689E-1479-B0BB-03598D6D26B0}"/>
              </a:ext>
            </a:extLst>
          </p:cNvPr>
          <p:cNvSpPr/>
          <p:nvPr/>
        </p:nvSpPr>
        <p:spPr>
          <a:xfrm>
            <a:off x="8984632" y="3405272"/>
            <a:ext cx="1726038" cy="274320"/>
          </a:xfrm>
          <a:prstGeom prst="rect">
            <a:avLst/>
          </a:prstGeom>
          <a:noFill/>
          <a:ln/>
        </p:spPr>
        <p:txBody>
          <a:bodyPr wrap="square" rtlCol="0" anchor="ctr"/>
          <a:lstStyle/>
          <a:p>
            <a:pPr marL="0" indent="0" algn="r">
              <a:buNone/>
            </a:pPr>
            <a:r>
              <a:rPr lang="en-US" sz="1200" b="1" dirty="0">
                <a:solidFill>
                  <a:srgbClr val="C00000"/>
                </a:solidFill>
                <a:latin typeface="Calibri" pitchFamily="34" charset="0"/>
                <a:ea typeface="Calibri" pitchFamily="34" charset="-122"/>
                <a:cs typeface="Calibri" pitchFamily="34" charset="-120"/>
              </a:rPr>
              <a:t>0.539</a:t>
            </a:r>
            <a:endParaRPr lang="en-US" sz="1200" dirty="0">
              <a:solidFill>
                <a:srgbClr val="C00000"/>
              </a:solidFill>
            </a:endParaRPr>
          </a:p>
        </p:txBody>
      </p:sp>
      <p:sp>
        <p:nvSpPr>
          <p:cNvPr id="46" name="Shape 46">
            <a:extLst>
              <a:ext uri="{FF2B5EF4-FFF2-40B4-BE49-F238E27FC236}">
                <a16:creationId xmlns:a16="http://schemas.microsoft.com/office/drawing/2014/main" id="{866D1479-7F3A-56DC-0378-CC55A1C8D10E}"/>
              </a:ext>
            </a:extLst>
          </p:cNvPr>
          <p:cNvSpPr/>
          <p:nvPr/>
        </p:nvSpPr>
        <p:spPr>
          <a:xfrm>
            <a:off x="6580891" y="3725312"/>
            <a:ext cx="4187229" cy="338328"/>
          </a:xfrm>
          <a:prstGeom prst="rect">
            <a:avLst/>
          </a:prstGeom>
          <a:solidFill>
            <a:srgbClr val="C00000"/>
          </a:solidFill>
          <a:ln w="12700">
            <a:noFill/>
            <a:prstDash val="solid"/>
          </a:ln>
        </p:spPr>
      </p:sp>
      <p:sp>
        <p:nvSpPr>
          <p:cNvPr id="47" name="Text 47">
            <a:extLst>
              <a:ext uri="{FF2B5EF4-FFF2-40B4-BE49-F238E27FC236}">
                <a16:creationId xmlns:a16="http://schemas.microsoft.com/office/drawing/2014/main" id="{21C14A2A-224B-A9F0-63C1-9EF7C8A48E34}"/>
              </a:ext>
            </a:extLst>
          </p:cNvPr>
          <p:cNvSpPr/>
          <p:nvPr/>
        </p:nvSpPr>
        <p:spPr>
          <a:xfrm>
            <a:off x="6607192" y="3761888"/>
            <a:ext cx="2377440"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scale_pos_weight</a:t>
            </a:r>
            <a:endParaRPr lang="en-US" sz="1200" dirty="0">
              <a:solidFill>
                <a:schemeClr val="bg1"/>
              </a:solidFill>
            </a:endParaRPr>
          </a:p>
        </p:txBody>
      </p:sp>
      <p:sp>
        <p:nvSpPr>
          <p:cNvPr id="48" name="Text 48">
            <a:extLst>
              <a:ext uri="{FF2B5EF4-FFF2-40B4-BE49-F238E27FC236}">
                <a16:creationId xmlns:a16="http://schemas.microsoft.com/office/drawing/2014/main" id="{8865D81D-80C3-4645-0EB4-B948AC63DF16}"/>
              </a:ext>
            </a:extLst>
          </p:cNvPr>
          <p:cNvSpPr/>
          <p:nvPr/>
        </p:nvSpPr>
        <p:spPr>
          <a:xfrm>
            <a:off x="8984632" y="3761888"/>
            <a:ext cx="1726038" cy="274320"/>
          </a:xfrm>
          <a:prstGeom prst="rect">
            <a:avLst/>
          </a:prstGeom>
          <a:noFill/>
          <a:ln/>
        </p:spPr>
        <p:txBody>
          <a:bodyPr wrap="square" rtlCol="0" anchor="ctr"/>
          <a:lstStyle/>
          <a:p>
            <a:pPr marL="0" indent="0" algn="r">
              <a:buNone/>
            </a:pPr>
            <a:r>
              <a:rPr lang="en-US" sz="1200" b="1" dirty="0">
                <a:solidFill>
                  <a:schemeClr val="bg1"/>
                </a:solidFill>
                <a:latin typeface="Calibri" pitchFamily="34" charset="0"/>
                <a:ea typeface="Calibri" pitchFamily="34" charset="-122"/>
                <a:cs typeface="Calibri" pitchFamily="34" charset="-120"/>
              </a:rPr>
              <a:t>~489x</a:t>
            </a:r>
            <a:endParaRPr lang="en-US" sz="1200" dirty="0">
              <a:solidFill>
                <a:schemeClr val="bg1"/>
              </a:solidFill>
            </a:endParaRPr>
          </a:p>
        </p:txBody>
      </p:sp>
      <p:sp>
        <p:nvSpPr>
          <p:cNvPr id="49" name="Text 49">
            <a:extLst>
              <a:ext uri="{FF2B5EF4-FFF2-40B4-BE49-F238E27FC236}">
                <a16:creationId xmlns:a16="http://schemas.microsoft.com/office/drawing/2014/main" id="{D4111871-51D5-F8F3-128E-CA9AAE978F9F}"/>
              </a:ext>
            </a:extLst>
          </p:cNvPr>
          <p:cNvSpPr/>
          <p:nvPr/>
        </p:nvSpPr>
        <p:spPr>
          <a:xfrm>
            <a:off x="6607192" y="4118504"/>
            <a:ext cx="2377440" cy="274320"/>
          </a:xfrm>
          <a:prstGeom prst="rect">
            <a:avLst/>
          </a:prstGeom>
          <a:noFill/>
          <a:ln/>
        </p:spPr>
        <p:txBody>
          <a:bodyPr wrap="square" rtlCol="0" anchor="ctr"/>
          <a:lstStyle/>
          <a:p>
            <a:pPr marL="0" indent="0">
              <a:buNone/>
            </a:pPr>
            <a:r>
              <a:rPr lang="en-US" sz="1200" dirty="0">
                <a:solidFill>
                  <a:srgbClr val="C00000"/>
                </a:solidFill>
                <a:latin typeface="Calibri" pitchFamily="34" charset="0"/>
                <a:ea typeface="Calibri" pitchFamily="34" charset="-122"/>
                <a:cs typeface="Calibri" pitchFamily="34" charset="-120"/>
              </a:rPr>
              <a:t>gamma</a:t>
            </a:r>
            <a:endParaRPr lang="en-US" sz="1200" dirty="0">
              <a:solidFill>
                <a:srgbClr val="C00000"/>
              </a:solidFill>
            </a:endParaRPr>
          </a:p>
        </p:txBody>
      </p:sp>
      <p:sp>
        <p:nvSpPr>
          <p:cNvPr id="50" name="Text 50">
            <a:extLst>
              <a:ext uri="{FF2B5EF4-FFF2-40B4-BE49-F238E27FC236}">
                <a16:creationId xmlns:a16="http://schemas.microsoft.com/office/drawing/2014/main" id="{98CC97DF-7815-D4B3-ED37-4A4DC5E56622}"/>
              </a:ext>
            </a:extLst>
          </p:cNvPr>
          <p:cNvSpPr/>
          <p:nvPr/>
        </p:nvSpPr>
        <p:spPr>
          <a:xfrm>
            <a:off x="8984632" y="4118504"/>
            <a:ext cx="1726038" cy="274320"/>
          </a:xfrm>
          <a:prstGeom prst="rect">
            <a:avLst/>
          </a:prstGeom>
          <a:noFill/>
          <a:ln/>
        </p:spPr>
        <p:txBody>
          <a:bodyPr wrap="square" rtlCol="0" anchor="ctr"/>
          <a:lstStyle/>
          <a:p>
            <a:pPr marL="0" indent="0" algn="r">
              <a:buNone/>
            </a:pPr>
            <a:r>
              <a:rPr lang="en-US" sz="1200" b="1" dirty="0">
                <a:solidFill>
                  <a:srgbClr val="C00000"/>
                </a:solidFill>
                <a:latin typeface="Calibri" pitchFamily="34" charset="0"/>
                <a:ea typeface="Calibri" pitchFamily="34" charset="-122"/>
                <a:cs typeface="Calibri" pitchFamily="34" charset="-120"/>
              </a:rPr>
              <a:t>0.738</a:t>
            </a:r>
            <a:endParaRPr lang="en-US" sz="1200" dirty="0">
              <a:solidFill>
                <a:srgbClr val="C00000"/>
              </a:solidFill>
            </a:endParaRPr>
          </a:p>
        </p:txBody>
      </p:sp>
      <p:sp>
        <p:nvSpPr>
          <p:cNvPr id="51" name="Shape 51">
            <a:extLst>
              <a:ext uri="{FF2B5EF4-FFF2-40B4-BE49-F238E27FC236}">
                <a16:creationId xmlns:a16="http://schemas.microsoft.com/office/drawing/2014/main" id="{24B40C34-C78B-FBF2-1477-1D71E76CE3C9}"/>
              </a:ext>
            </a:extLst>
          </p:cNvPr>
          <p:cNvSpPr/>
          <p:nvPr/>
        </p:nvSpPr>
        <p:spPr>
          <a:xfrm>
            <a:off x="6580891" y="4438544"/>
            <a:ext cx="4187229" cy="338328"/>
          </a:xfrm>
          <a:prstGeom prst="rect">
            <a:avLst/>
          </a:prstGeom>
          <a:solidFill>
            <a:srgbClr val="C00000"/>
          </a:solidFill>
          <a:ln w="12700">
            <a:noFill/>
            <a:prstDash val="solid"/>
          </a:ln>
        </p:spPr>
      </p:sp>
      <p:sp>
        <p:nvSpPr>
          <p:cNvPr id="52" name="Text 52">
            <a:extLst>
              <a:ext uri="{FF2B5EF4-FFF2-40B4-BE49-F238E27FC236}">
                <a16:creationId xmlns:a16="http://schemas.microsoft.com/office/drawing/2014/main" id="{391CD226-F0CB-95E5-B77D-A9E2C017CAE4}"/>
              </a:ext>
            </a:extLst>
          </p:cNvPr>
          <p:cNvSpPr/>
          <p:nvPr/>
        </p:nvSpPr>
        <p:spPr>
          <a:xfrm>
            <a:off x="6607192" y="4475120"/>
            <a:ext cx="2377440"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reg_lambda / alpha</a:t>
            </a:r>
            <a:endParaRPr lang="en-US" sz="1200" dirty="0">
              <a:solidFill>
                <a:schemeClr val="bg1"/>
              </a:solidFill>
            </a:endParaRPr>
          </a:p>
        </p:txBody>
      </p:sp>
      <p:sp>
        <p:nvSpPr>
          <p:cNvPr id="53" name="Text 53">
            <a:extLst>
              <a:ext uri="{FF2B5EF4-FFF2-40B4-BE49-F238E27FC236}">
                <a16:creationId xmlns:a16="http://schemas.microsoft.com/office/drawing/2014/main" id="{EA3B97D7-B776-289B-5923-785AB2ED5201}"/>
              </a:ext>
            </a:extLst>
          </p:cNvPr>
          <p:cNvSpPr/>
          <p:nvPr/>
        </p:nvSpPr>
        <p:spPr>
          <a:xfrm>
            <a:off x="8984632" y="4475120"/>
            <a:ext cx="1726038" cy="274320"/>
          </a:xfrm>
          <a:prstGeom prst="rect">
            <a:avLst/>
          </a:prstGeom>
          <a:noFill/>
          <a:ln/>
        </p:spPr>
        <p:txBody>
          <a:bodyPr wrap="square" rtlCol="0" anchor="ctr"/>
          <a:lstStyle/>
          <a:p>
            <a:pPr marL="0" indent="0" algn="r">
              <a:buNone/>
            </a:pPr>
            <a:r>
              <a:rPr lang="en-US" sz="1200" b="1" dirty="0">
                <a:solidFill>
                  <a:schemeClr val="bg1"/>
                </a:solidFill>
                <a:latin typeface="Calibri" pitchFamily="34" charset="0"/>
                <a:ea typeface="Calibri" pitchFamily="34" charset="-122"/>
                <a:cs typeface="Calibri" pitchFamily="34" charset="-120"/>
              </a:rPr>
              <a:t>6.12 / 6.91</a:t>
            </a:r>
            <a:endParaRPr lang="en-US" sz="1200" dirty="0">
              <a:solidFill>
                <a:schemeClr val="bg1"/>
              </a:solidFill>
            </a:endParaRPr>
          </a:p>
        </p:txBody>
      </p:sp>
      <p:sp>
        <p:nvSpPr>
          <p:cNvPr id="54" name="Text 54">
            <a:extLst>
              <a:ext uri="{FF2B5EF4-FFF2-40B4-BE49-F238E27FC236}">
                <a16:creationId xmlns:a16="http://schemas.microsoft.com/office/drawing/2014/main" id="{AF9298FB-CAF7-6AA5-2F01-F22A679DE150}"/>
              </a:ext>
            </a:extLst>
          </p:cNvPr>
          <p:cNvSpPr/>
          <p:nvPr/>
        </p:nvSpPr>
        <p:spPr>
          <a:xfrm>
            <a:off x="6607192" y="4831736"/>
            <a:ext cx="2377440" cy="274320"/>
          </a:xfrm>
          <a:prstGeom prst="rect">
            <a:avLst/>
          </a:prstGeom>
          <a:noFill/>
          <a:ln/>
        </p:spPr>
        <p:txBody>
          <a:bodyPr wrap="square" rtlCol="0" anchor="ctr"/>
          <a:lstStyle/>
          <a:p>
            <a:pPr marL="0" indent="0">
              <a:buNone/>
            </a:pPr>
            <a:r>
              <a:rPr lang="en-US" sz="1200" dirty="0">
                <a:solidFill>
                  <a:srgbClr val="C00000"/>
                </a:solidFill>
                <a:latin typeface="Calibri" pitchFamily="34" charset="0"/>
                <a:ea typeface="Calibri" pitchFamily="34" charset="-122"/>
                <a:cs typeface="Calibri" pitchFamily="34" charset="-120"/>
              </a:rPr>
              <a:t>eval_metric</a:t>
            </a:r>
            <a:endParaRPr lang="en-US" sz="1200" dirty="0">
              <a:solidFill>
                <a:srgbClr val="C00000"/>
              </a:solidFill>
            </a:endParaRPr>
          </a:p>
        </p:txBody>
      </p:sp>
      <p:sp>
        <p:nvSpPr>
          <p:cNvPr id="55" name="Text 55">
            <a:extLst>
              <a:ext uri="{FF2B5EF4-FFF2-40B4-BE49-F238E27FC236}">
                <a16:creationId xmlns:a16="http://schemas.microsoft.com/office/drawing/2014/main" id="{CC41687F-99B9-8E77-1807-6741DF4BE756}"/>
              </a:ext>
            </a:extLst>
          </p:cNvPr>
          <p:cNvSpPr/>
          <p:nvPr/>
        </p:nvSpPr>
        <p:spPr>
          <a:xfrm>
            <a:off x="8984632" y="4831736"/>
            <a:ext cx="1726038" cy="274320"/>
          </a:xfrm>
          <a:prstGeom prst="rect">
            <a:avLst/>
          </a:prstGeom>
          <a:noFill/>
          <a:ln/>
        </p:spPr>
        <p:txBody>
          <a:bodyPr wrap="square" rtlCol="0" anchor="ctr"/>
          <a:lstStyle/>
          <a:p>
            <a:pPr marL="0" indent="0" algn="r">
              <a:buNone/>
            </a:pPr>
            <a:r>
              <a:rPr lang="en-US" sz="1200" b="1" dirty="0">
                <a:solidFill>
                  <a:srgbClr val="C00000"/>
                </a:solidFill>
                <a:latin typeface="Calibri" pitchFamily="34" charset="0"/>
                <a:ea typeface="Calibri" pitchFamily="34" charset="-122"/>
                <a:cs typeface="Calibri" pitchFamily="34" charset="-120"/>
              </a:rPr>
              <a:t>aucpr</a:t>
            </a:r>
            <a:endParaRPr lang="en-US" sz="1200" dirty="0">
              <a:solidFill>
                <a:srgbClr val="C00000"/>
              </a:solidFill>
            </a:endParaRPr>
          </a:p>
        </p:txBody>
      </p:sp>
      <p:sp>
        <p:nvSpPr>
          <p:cNvPr id="56" name="Shape 56">
            <a:extLst>
              <a:ext uri="{FF2B5EF4-FFF2-40B4-BE49-F238E27FC236}">
                <a16:creationId xmlns:a16="http://schemas.microsoft.com/office/drawing/2014/main" id="{3D282716-E47D-CF00-4DA4-679E3593B0FA}"/>
              </a:ext>
            </a:extLst>
          </p:cNvPr>
          <p:cNvSpPr/>
          <p:nvPr/>
        </p:nvSpPr>
        <p:spPr>
          <a:xfrm>
            <a:off x="6580891" y="5151776"/>
            <a:ext cx="4187229" cy="338328"/>
          </a:xfrm>
          <a:prstGeom prst="rect">
            <a:avLst/>
          </a:prstGeom>
          <a:solidFill>
            <a:srgbClr val="C00000"/>
          </a:solidFill>
          <a:ln w="12700">
            <a:noFill/>
            <a:prstDash val="solid"/>
          </a:ln>
        </p:spPr>
      </p:sp>
      <p:sp>
        <p:nvSpPr>
          <p:cNvPr id="57" name="Text 57">
            <a:extLst>
              <a:ext uri="{FF2B5EF4-FFF2-40B4-BE49-F238E27FC236}">
                <a16:creationId xmlns:a16="http://schemas.microsoft.com/office/drawing/2014/main" id="{1A8AA9AD-4C96-C66C-9B7C-5E3AACBAFD3F}"/>
              </a:ext>
            </a:extLst>
          </p:cNvPr>
          <p:cNvSpPr/>
          <p:nvPr/>
        </p:nvSpPr>
        <p:spPr>
          <a:xfrm>
            <a:off x="6607192" y="5188352"/>
            <a:ext cx="2377440" cy="274320"/>
          </a:xfrm>
          <a:prstGeom prst="rect">
            <a:avLst/>
          </a:prstGeom>
          <a:noFill/>
          <a:ln/>
        </p:spPr>
        <p:txBody>
          <a:bodyPr wrap="square" rtlCol="0" anchor="ctr"/>
          <a:lstStyle/>
          <a:p>
            <a:pPr marL="0" indent="0">
              <a:buNone/>
            </a:pPr>
            <a:r>
              <a:rPr lang="en-US" sz="1200" dirty="0">
                <a:solidFill>
                  <a:schemeClr val="bg1"/>
                </a:solidFill>
                <a:latin typeface="Calibri" pitchFamily="34" charset="0"/>
                <a:ea typeface="Calibri" pitchFamily="34" charset="-122"/>
                <a:cs typeface="Calibri" pitchFamily="34" charset="-120"/>
              </a:rPr>
              <a:t>tree_method</a:t>
            </a:r>
            <a:endParaRPr lang="en-US" sz="1200" dirty="0">
              <a:solidFill>
                <a:schemeClr val="bg1"/>
              </a:solidFill>
            </a:endParaRPr>
          </a:p>
        </p:txBody>
      </p:sp>
      <p:sp>
        <p:nvSpPr>
          <p:cNvPr id="58" name="Text 58">
            <a:extLst>
              <a:ext uri="{FF2B5EF4-FFF2-40B4-BE49-F238E27FC236}">
                <a16:creationId xmlns:a16="http://schemas.microsoft.com/office/drawing/2014/main" id="{CC262914-4DD0-FB1E-4DFD-DB85C5D0C6D9}"/>
              </a:ext>
            </a:extLst>
          </p:cNvPr>
          <p:cNvSpPr/>
          <p:nvPr/>
        </p:nvSpPr>
        <p:spPr>
          <a:xfrm>
            <a:off x="8984632" y="5188352"/>
            <a:ext cx="1726038" cy="274320"/>
          </a:xfrm>
          <a:prstGeom prst="rect">
            <a:avLst/>
          </a:prstGeom>
          <a:noFill/>
          <a:ln/>
        </p:spPr>
        <p:txBody>
          <a:bodyPr wrap="square" rtlCol="0" anchor="ctr"/>
          <a:lstStyle/>
          <a:p>
            <a:pPr marL="0" indent="0" algn="r">
              <a:buNone/>
            </a:pPr>
            <a:r>
              <a:rPr lang="en-US" sz="1200" b="1" dirty="0">
                <a:solidFill>
                  <a:schemeClr val="bg1"/>
                </a:solidFill>
                <a:latin typeface="Calibri" pitchFamily="34" charset="0"/>
                <a:ea typeface="Calibri" pitchFamily="34" charset="-122"/>
                <a:cs typeface="Calibri" pitchFamily="34" charset="-120"/>
              </a:rPr>
              <a:t>hist (GPU CUDA)</a:t>
            </a:r>
            <a:endParaRPr lang="en-US" sz="1200" dirty="0">
              <a:solidFill>
                <a:schemeClr val="bg1"/>
              </a:solidFill>
            </a:endParaRPr>
          </a:p>
        </p:txBody>
      </p:sp>
      <p:sp>
        <p:nvSpPr>
          <p:cNvPr id="59" name="Shape 59">
            <a:extLst>
              <a:ext uri="{FF2B5EF4-FFF2-40B4-BE49-F238E27FC236}">
                <a16:creationId xmlns:a16="http://schemas.microsoft.com/office/drawing/2014/main" id="{D4E52C5C-B5D9-582B-2135-BCB1DEA2D4B6}"/>
              </a:ext>
            </a:extLst>
          </p:cNvPr>
          <p:cNvSpPr/>
          <p:nvPr/>
        </p:nvSpPr>
        <p:spPr>
          <a:xfrm>
            <a:off x="462856" y="3941883"/>
            <a:ext cx="5134608" cy="1783080"/>
          </a:xfrm>
          <a:prstGeom prst="rect">
            <a:avLst/>
          </a:prstGeom>
          <a:solidFill>
            <a:schemeClr val="bg1">
              <a:lumMod val="95000"/>
            </a:schemeClr>
          </a:solidFill>
          <a:ln w="9525">
            <a:solidFill>
              <a:srgbClr val="C00000"/>
            </a:solidFill>
            <a:prstDash val="solid"/>
          </a:ln>
        </p:spPr>
      </p:sp>
      <p:sp>
        <p:nvSpPr>
          <p:cNvPr id="60" name="Text 60">
            <a:extLst>
              <a:ext uri="{FF2B5EF4-FFF2-40B4-BE49-F238E27FC236}">
                <a16:creationId xmlns:a16="http://schemas.microsoft.com/office/drawing/2014/main" id="{06B93855-003F-39CB-6E62-0DBAB8C6BA85}"/>
              </a:ext>
            </a:extLst>
          </p:cNvPr>
          <p:cNvSpPr/>
          <p:nvPr/>
        </p:nvSpPr>
        <p:spPr>
          <a:xfrm>
            <a:off x="554296" y="3987603"/>
            <a:ext cx="4343400" cy="320040"/>
          </a:xfrm>
          <a:prstGeom prst="rect">
            <a:avLst/>
          </a:prstGeom>
          <a:noFill/>
          <a:ln/>
        </p:spPr>
        <p:txBody>
          <a:bodyPr wrap="square" rtlCol="0" anchor="ctr"/>
          <a:lstStyle/>
          <a:p>
            <a:pPr marL="0" indent="0">
              <a:buNone/>
            </a:pPr>
            <a:r>
              <a:rPr lang="en-US" sz="1200" b="1" dirty="0">
                <a:solidFill>
                  <a:srgbClr val="C00000"/>
                </a:solidFill>
                <a:latin typeface="Trebuchet MS" pitchFamily="34" charset="0"/>
                <a:ea typeface="Trebuchet MS" pitchFamily="34" charset="-122"/>
                <a:cs typeface="Trebuchet MS" pitchFamily="34" charset="-120"/>
              </a:rPr>
              <a:t>Graduated Sample Weighting 2 Tầng</a:t>
            </a:r>
            <a:endParaRPr lang="en-US" sz="1200" dirty="0">
              <a:solidFill>
                <a:srgbClr val="C00000"/>
              </a:solidFill>
            </a:endParaRPr>
          </a:p>
        </p:txBody>
      </p:sp>
      <p:sp>
        <p:nvSpPr>
          <p:cNvPr id="61" name="Text 61">
            <a:extLst>
              <a:ext uri="{FF2B5EF4-FFF2-40B4-BE49-F238E27FC236}">
                <a16:creationId xmlns:a16="http://schemas.microsoft.com/office/drawing/2014/main" id="{8402006C-3DC2-FAC4-5227-CD30F830B1E0}"/>
              </a:ext>
            </a:extLst>
          </p:cNvPr>
          <p:cNvSpPr/>
          <p:nvPr/>
        </p:nvSpPr>
        <p:spPr>
          <a:xfrm>
            <a:off x="572584" y="4292533"/>
            <a:ext cx="4919472" cy="1340990"/>
          </a:xfrm>
          <a:prstGeom prst="rect">
            <a:avLst/>
          </a:prstGeom>
          <a:noFill/>
          <a:ln/>
        </p:spPr>
        <p:txBody>
          <a:bodyPr wrap="square" rtlCol="0" anchor="ctr"/>
          <a:lstStyle/>
          <a:p>
            <a:pPr marL="0" indent="0">
              <a:lnSpc>
                <a:spcPct val="150000"/>
              </a:lnSpc>
              <a:buNone/>
            </a:pPr>
            <a:r>
              <a:rPr lang="en-US" sz="1200" b="1" dirty="0">
                <a:solidFill>
                  <a:srgbClr val="C00000"/>
                </a:solidFill>
                <a:latin typeface="Calibri" pitchFamily="34" charset="0"/>
                <a:ea typeface="Calibri" pitchFamily="34" charset="-122"/>
                <a:cs typeface="Calibri" pitchFamily="34" charset="-120"/>
              </a:rPr>
              <a:t>Tầng 1</a:t>
            </a:r>
            <a:r>
              <a:rPr lang="en-US" sz="1200" b="1" dirty="0">
                <a:latin typeface="Calibri" pitchFamily="34" charset="0"/>
                <a:ea typeface="Calibri" pitchFamily="34" charset="-122"/>
                <a:cs typeface="Calibri" pitchFamily="34" charset="-120"/>
              </a:rPr>
              <a:t>: </a:t>
            </a:r>
            <a:r>
              <a:rPr lang="en-US" sz="1200" dirty="0">
                <a:latin typeface="Calibri" pitchFamily="34" charset="0"/>
                <a:ea typeface="Calibri" pitchFamily="34" charset="-122"/>
                <a:cs typeface="Calibri" pitchFamily="34" charset="-120"/>
              </a:rPr>
              <a:t>scale_pos_weight nâng toàn bộ fire samples lên ~489x so với non-fire
</a:t>
            </a:r>
            <a:r>
              <a:rPr lang="en-US" sz="1200" b="1" dirty="0">
                <a:solidFill>
                  <a:srgbClr val="C00000"/>
                </a:solidFill>
                <a:latin typeface="Calibri" pitchFamily="34" charset="0"/>
                <a:ea typeface="Calibri" pitchFamily="34" charset="-122"/>
                <a:cs typeface="Calibri" pitchFamily="34" charset="-120"/>
              </a:rPr>
              <a:t>Tầng 2</a:t>
            </a:r>
            <a:r>
              <a:rPr lang="en-US" sz="1200" b="1" dirty="0">
                <a:latin typeface="Calibri" pitchFamily="34" charset="0"/>
                <a:ea typeface="Calibri" pitchFamily="34" charset="-122"/>
                <a:cs typeface="Calibri" pitchFamily="34" charset="-120"/>
              </a:rPr>
              <a:t>: </a:t>
            </a:r>
            <a:r>
              <a:rPr lang="en-US" sz="1200" dirty="0">
                <a:latin typeface="Calibri" pitchFamily="34" charset="0"/>
                <a:ea typeface="Calibri" pitchFamily="34" charset="-122"/>
                <a:cs typeface="Calibri" pitchFamily="34" charset="-120"/>
              </a:rPr>
              <a:t>compute_sample_weights dùng AND-logic → tăng trọng số bổ sung cho fire khớp pathway nhân tạo
</a:t>
            </a:r>
            <a:r>
              <a:rPr lang="en-US" sz="1200" i="1" dirty="0">
                <a:latin typeface="Calibri" pitchFamily="34" charset="0"/>
                <a:ea typeface="Calibri" pitchFamily="34" charset="-122"/>
                <a:cs typeface="Calibri" pitchFamily="34" charset="-120"/>
              </a:rPr>
              <a:t>→ Giải quyết đồng thời class imbalance (T1) + đa dạng nguyên nhân (T2)</a:t>
            </a:r>
            <a:endParaRPr lang="en-US" sz="1200" dirty="0"/>
          </a:p>
        </p:txBody>
      </p:sp>
      <p:cxnSp>
        <p:nvCxnSpPr>
          <p:cNvPr id="63" name="Straight Arrow Connector 62">
            <a:extLst>
              <a:ext uri="{FF2B5EF4-FFF2-40B4-BE49-F238E27FC236}">
                <a16:creationId xmlns:a16="http://schemas.microsoft.com/office/drawing/2014/main" id="{373C584C-DA3B-3172-6AE8-A01083C2E8CB}"/>
              </a:ext>
            </a:extLst>
          </p:cNvPr>
          <p:cNvCxnSpPr>
            <a:stCxn id="5" idx="3"/>
            <a:endCxn id="11" idx="1"/>
          </p:cNvCxnSpPr>
          <p:nvPr/>
        </p:nvCxnSpPr>
        <p:spPr>
          <a:xfrm>
            <a:off x="1362856" y="2698055"/>
            <a:ext cx="15865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407ED2F-E2E1-437A-4123-F3C72F2D0726}"/>
              </a:ext>
            </a:extLst>
          </p:cNvPr>
          <p:cNvCxnSpPr>
            <a:stCxn id="11" idx="3"/>
            <a:endCxn id="17" idx="1"/>
          </p:cNvCxnSpPr>
          <p:nvPr/>
        </p:nvCxnSpPr>
        <p:spPr>
          <a:xfrm>
            <a:off x="2421508" y="2698055"/>
            <a:ext cx="158652" cy="57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237B582E-CA79-9A37-56C3-36EF4DA738D2}"/>
              </a:ext>
            </a:extLst>
          </p:cNvPr>
          <p:cNvCxnSpPr>
            <a:stCxn id="17" idx="3"/>
            <a:endCxn id="23" idx="1"/>
          </p:cNvCxnSpPr>
          <p:nvPr/>
        </p:nvCxnSpPr>
        <p:spPr>
          <a:xfrm flipV="1">
            <a:off x="3480160" y="2698055"/>
            <a:ext cx="158652" cy="57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EAC43D6-D89C-6121-53EA-089425DC2AE0}"/>
              </a:ext>
            </a:extLst>
          </p:cNvPr>
          <p:cNvCxnSpPr>
            <a:stCxn id="23" idx="3"/>
            <a:endCxn id="29" idx="1"/>
          </p:cNvCxnSpPr>
          <p:nvPr/>
        </p:nvCxnSpPr>
        <p:spPr>
          <a:xfrm>
            <a:off x="4538812" y="2698055"/>
            <a:ext cx="15865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8187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D0B81-1FEB-1C26-467A-F8157024A9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7D0FB-807A-BE85-B4E1-64563B5C70A1}"/>
              </a:ext>
            </a:extLst>
          </p:cNvPr>
          <p:cNvSpPr>
            <a:spLocks noGrp="1"/>
          </p:cNvSpPr>
          <p:nvPr>
            <p:ph type="title"/>
          </p:nvPr>
        </p:nvSpPr>
        <p:spPr>
          <a:xfrm>
            <a:off x="383175" y="835118"/>
            <a:ext cx="11123024" cy="554902"/>
          </a:xfrm>
        </p:spPr>
        <p:txBody>
          <a:bodyPr>
            <a:normAutofit/>
          </a:bodyPr>
          <a:lstStyle/>
          <a:p>
            <a:r>
              <a:rPr lang="en-US">
                <a:latin typeface="+mn-lt"/>
              </a:rPr>
              <a:t>CONVLSTM – KIẾN TRÚC HỌC SÂU KHÔNG GIAN – THỜI GIAN</a:t>
            </a:r>
            <a:endParaRPr lang="en-US" sz="2800" dirty="0">
              <a:latin typeface="+mn-lt"/>
            </a:endParaRPr>
          </a:p>
        </p:txBody>
      </p:sp>
      <p:sp>
        <p:nvSpPr>
          <p:cNvPr id="34" name="Shape 4">
            <a:extLst>
              <a:ext uri="{FF2B5EF4-FFF2-40B4-BE49-F238E27FC236}">
                <a16:creationId xmlns:a16="http://schemas.microsoft.com/office/drawing/2014/main" id="{4D276518-92E8-77CA-B968-5C4AD723DFE5}"/>
              </a:ext>
            </a:extLst>
          </p:cNvPr>
          <p:cNvSpPr/>
          <p:nvPr/>
        </p:nvSpPr>
        <p:spPr>
          <a:xfrm>
            <a:off x="491137" y="1546467"/>
            <a:ext cx="1440000" cy="914400"/>
          </a:xfrm>
          <a:prstGeom prst="rect">
            <a:avLst/>
          </a:prstGeom>
          <a:solidFill>
            <a:srgbClr val="C00000"/>
          </a:solidFill>
          <a:ln w="19050">
            <a:noFill/>
            <a:prstDash val="solid"/>
          </a:ln>
          <a:effectLst>
            <a:outerShdw blurRad="101600" dist="38100" dir="8100000" algn="bl" rotWithShape="0">
              <a:srgbClr val="000000">
                <a:alpha val="25000"/>
              </a:srgbClr>
            </a:outerShdw>
          </a:effectLst>
        </p:spPr>
      </p:sp>
      <p:sp>
        <p:nvSpPr>
          <p:cNvPr id="35" name="Text 5">
            <a:extLst>
              <a:ext uri="{FF2B5EF4-FFF2-40B4-BE49-F238E27FC236}">
                <a16:creationId xmlns:a16="http://schemas.microsoft.com/office/drawing/2014/main" id="{548E950C-6B46-4BB3-BEEC-873EEEA8F998}"/>
              </a:ext>
            </a:extLst>
          </p:cNvPr>
          <p:cNvSpPr/>
          <p:nvPr/>
        </p:nvSpPr>
        <p:spPr>
          <a:xfrm>
            <a:off x="516537" y="1582027"/>
            <a:ext cx="1394280" cy="822960"/>
          </a:xfrm>
          <a:prstGeom prst="rect">
            <a:avLst/>
          </a:prstGeom>
          <a:noFill/>
          <a:ln/>
        </p:spPr>
        <p:txBody>
          <a:bodyPr wrap="square"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Input</a:t>
            </a:r>
            <a:endParaRPr lang="en-US" sz="1200" dirty="0">
              <a:solidFill>
                <a:schemeClr val="bg1"/>
              </a:solidFill>
            </a:endParaRPr>
          </a:p>
          <a:p>
            <a:pPr marL="0" indent="0" algn="ctr">
              <a:buNone/>
            </a:pPr>
            <a:r>
              <a:rPr lang="en-US" sz="1200" b="1" dirty="0">
                <a:solidFill>
                  <a:schemeClr val="bg1"/>
                </a:solidFill>
                <a:latin typeface="Calibri" pitchFamily="34" charset="0"/>
                <a:ea typeface="Calibri" pitchFamily="34" charset="-122"/>
                <a:cs typeface="Calibri" pitchFamily="34" charset="-120"/>
              </a:rPr>
              <a:t>(B,7,28,H,W)</a:t>
            </a:r>
            <a:endParaRPr lang="en-US" sz="1200" dirty="0">
              <a:solidFill>
                <a:schemeClr val="bg1"/>
              </a:solidFill>
            </a:endParaRPr>
          </a:p>
        </p:txBody>
      </p:sp>
      <p:sp>
        <p:nvSpPr>
          <p:cNvPr id="37" name="Shape 7">
            <a:extLst>
              <a:ext uri="{FF2B5EF4-FFF2-40B4-BE49-F238E27FC236}">
                <a16:creationId xmlns:a16="http://schemas.microsoft.com/office/drawing/2014/main" id="{0E1A2C9A-DAD2-99BF-7BE3-02DE1B34AF4E}"/>
              </a:ext>
            </a:extLst>
          </p:cNvPr>
          <p:cNvSpPr/>
          <p:nvPr/>
        </p:nvSpPr>
        <p:spPr>
          <a:xfrm>
            <a:off x="2171559" y="1542015"/>
            <a:ext cx="1440000" cy="914400"/>
          </a:xfrm>
          <a:prstGeom prst="rect">
            <a:avLst/>
          </a:prstGeom>
          <a:solidFill>
            <a:srgbClr val="C00000"/>
          </a:solidFill>
          <a:ln w="19050">
            <a:noFill/>
            <a:prstDash val="solid"/>
          </a:ln>
          <a:effectLst>
            <a:outerShdw blurRad="101600" dist="38100" dir="8100000" algn="bl" rotWithShape="0">
              <a:srgbClr val="000000">
                <a:alpha val="25000"/>
              </a:srgbClr>
            </a:outerShdw>
          </a:effectLst>
        </p:spPr>
      </p:sp>
      <p:sp>
        <p:nvSpPr>
          <p:cNvPr id="38" name="Text 8">
            <a:extLst>
              <a:ext uri="{FF2B5EF4-FFF2-40B4-BE49-F238E27FC236}">
                <a16:creationId xmlns:a16="http://schemas.microsoft.com/office/drawing/2014/main" id="{9D9452F9-BA81-AAEB-1EDB-9B9F27E2F375}"/>
              </a:ext>
            </a:extLst>
          </p:cNvPr>
          <p:cNvSpPr/>
          <p:nvPr/>
        </p:nvSpPr>
        <p:spPr>
          <a:xfrm>
            <a:off x="2196959" y="1582027"/>
            <a:ext cx="1394280" cy="822960"/>
          </a:xfrm>
          <a:prstGeom prst="rect">
            <a:avLst/>
          </a:prstGeom>
          <a:noFill/>
          <a:ln/>
        </p:spPr>
        <p:txBody>
          <a:bodyPr wrap="square"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ConvLSTM-1</a:t>
            </a:r>
            <a:endParaRPr lang="en-US" sz="1200" dirty="0">
              <a:solidFill>
                <a:schemeClr val="bg1"/>
              </a:solidFill>
            </a:endParaRPr>
          </a:p>
          <a:p>
            <a:pPr marL="0" indent="0" algn="ctr">
              <a:buNone/>
            </a:pPr>
            <a:r>
              <a:rPr lang="en-US" sz="1200" b="1" dirty="0">
                <a:solidFill>
                  <a:schemeClr val="bg1"/>
                </a:solidFill>
                <a:latin typeface="Calibri" pitchFamily="34" charset="0"/>
                <a:ea typeface="Calibri" pitchFamily="34" charset="-122"/>
                <a:cs typeface="Calibri" pitchFamily="34" charset="-120"/>
              </a:rPr>
              <a:t>64ch, seq</a:t>
            </a:r>
            <a:endParaRPr lang="en-US" sz="1200" dirty="0">
              <a:solidFill>
                <a:schemeClr val="bg1"/>
              </a:solidFill>
            </a:endParaRPr>
          </a:p>
        </p:txBody>
      </p:sp>
      <p:sp>
        <p:nvSpPr>
          <p:cNvPr id="40" name="Shape 10">
            <a:extLst>
              <a:ext uri="{FF2B5EF4-FFF2-40B4-BE49-F238E27FC236}">
                <a16:creationId xmlns:a16="http://schemas.microsoft.com/office/drawing/2014/main" id="{DC1EDBB5-A99A-9817-7CA7-9C0E075C37DB}"/>
              </a:ext>
            </a:extLst>
          </p:cNvPr>
          <p:cNvSpPr/>
          <p:nvPr/>
        </p:nvSpPr>
        <p:spPr>
          <a:xfrm>
            <a:off x="3851981" y="1542015"/>
            <a:ext cx="1440000" cy="914400"/>
          </a:xfrm>
          <a:prstGeom prst="rect">
            <a:avLst/>
          </a:prstGeom>
          <a:solidFill>
            <a:srgbClr val="C00000"/>
          </a:solidFill>
          <a:ln w="19050">
            <a:noFill/>
            <a:prstDash val="solid"/>
          </a:ln>
          <a:effectLst>
            <a:outerShdw blurRad="101600" dist="38100" dir="8100000" algn="bl" rotWithShape="0">
              <a:srgbClr val="000000">
                <a:alpha val="25000"/>
              </a:srgbClr>
            </a:outerShdw>
          </a:effectLst>
        </p:spPr>
      </p:sp>
      <p:sp>
        <p:nvSpPr>
          <p:cNvPr id="41" name="Text 11">
            <a:extLst>
              <a:ext uri="{FF2B5EF4-FFF2-40B4-BE49-F238E27FC236}">
                <a16:creationId xmlns:a16="http://schemas.microsoft.com/office/drawing/2014/main" id="{FC4AB02D-E429-1875-C292-B0B8AA709952}"/>
              </a:ext>
            </a:extLst>
          </p:cNvPr>
          <p:cNvSpPr/>
          <p:nvPr/>
        </p:nvSpPr>
        <p:spPr>
          <a:xfrm>
            <a:off x="3877381" y="1577575"/>
            <a:ext cx="1394280" cy="822960"/>
          </a:xfrm>
          <a:prstGeom prst="rect">
            <a:avLst/>
          </a:prstGeom>
          <a:noFill/>
          <a:ln/>
        </p:spPr>
        <p:txBody>
          <a:bodyPr wrap="square"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Skip</a:t>
            </a:r>
            <a:endParaRPr lang="en-US" sz="1200" dirty="0">
              <a:solidFill>
                <a:schemeClr val="bg1"/>
              </a:solidFill>
            </a:endParaRPr>
          </a:p>
          <a:p>
            <a:pPr marL="0" indent="0" algn="ctr">
              <a:buNone/>
            </a:pPr>
            <a:r>
              <a:rPr lang="en-US" sz="1200" b="1" dirty="0">
                <a:solidFill>
                  <a:schemeClr val="bg1"/>
                </a:solidFill>
                <a:latin typeface="Calibri" pitchFamily="34" charset="0"/>
                <a:ea typeface="Calibri" pitchFamily="34" charset="-122"/>
                <a:cs typeface="Calibri" pitchFamily="34" charset="-120"/>
              </a:rPr>
              <a:t>Connection</a:t>
            </a:r>
            <a:endParaRPr lang="en-US" sz="1200" dirty="0">
              <a:solidFill>
                <a:schemeClr val="bg1"/>
              </a:solidFill>
            </a:endParaRPr>
          </a:p>
        </p:txBody>
      </p:sp>
      <p:sp>
        <p:nvSpPr>
          <p:cNvPr id="43" name="Shape 13">
            <a:extLst>
              <a:ext uri="{FF2B5EF4-FFF2-40B4-BE49-F238E27FC236}">
                <a16:creationId xmlns:a16="http://schemas.microsoft.com/office/drawing/2014/main" id="{BDCFF49A-9151-8C52-FB2A-2E9BD7F59AFB}"/>
              </a:ext>
            </a:extLst>
          </p:cNvPr>
          <p:cNvSpPr/>
          <p:nvPr/>
        </p:nvSpPr>
        <p:spPr>
          <a:xfrm>
            <a:off x="5532403" y="1542015"/>
            <a:ext cx="1440000" cy="914400"/>
          </a:xfrm>
          <a:prstGeom prst="rect">
            <a:avLst/>
          </a:prstGeom>
          <a:solidFill>
            <a:srgbClr val="C00000"/>
          </a:solidFill>
          <a:ln w="19050">
            <a:noFill/>
            <a:prstDash val="solid"/>
          </a:ln>
          <a:effectLst>
            <a:outerShdw blurRad="101600" dist="38100" dir="8100000" algn="bl" rotWithShape="0">
              <a:srgbClr val="000000">
                <a:alpha val="25000"/>
              </a:srgbClr>
            </a:outerShdw>
          </a:effectLst>
        </p:spPr>
      </p:sp>
      <p:sp>
        <p:nvSpPr>
          <p:cNvPr id="44" name="Text 14">
            <a:extLst>
              <a:ext uri="{FF2B5EF4-FFF2-40B4-BE49-F238E27FC236}">
                <a16:creationId xmlns:a16="http://schemas.microsoft.com/office/drawing/2014/main" id="{9830C701-E373-1D8B-86A0-5E2D04D4A395}"/>
              </a:ext>
            </a:extLst>
          </p:cNvPr>
          <p:cNvSpPr/>
          <p:nvPr/>
        </p:nvSpPr>
        <p:spPr>
          <a:xfrm>
            <a:off x="5557803" y="1576520"/>
            <a:ext cx="1394280" cy="822960"/>
          </a:xfrm>
          <a:prstGeom prst="rect">
            <a:avLst/>
          </a:prstGeom>
          <a:noFill/>
          <a:ln/>
        </p:spPr>
        <p:txBody>
          <a:bodyPr wrap="square"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ConvLSTM-2</a:t>
            </a:r>
            <a:endParaRPr lang="en-US" sz="1200" dirty="0">
              <a:solidFill>
                <a:schemeClr val="bg1"/>
              </a:solidFill>
            </a:endParaRPr>
          </a:p>
          <a:p>
            <a:pPr marL="0" indent="0" algn="ctr">
              <a:buNone/>
            </a:pPr>
            <a:r>
              <a:rPr lang="en-US" sz="1200" b="1" dirty="0">
                <a:solidFill>
                  <a:schemeClr val="bg1"/>
                </a:solidFill>
                <a:latin typeface="Calibri" pitchFamily="34" charset="0"/>
                <a:ea typeface="Calibri" pitchFamily="34" charset="-122"/>
                <a:cs typeface="Calibri" pitchFamily="34" charset="-120"/>
              </a:rPr>
              <a:t>32ch, last</a:t>
            </a:r>
            <a:endParaRPr lang="en-US" sz="1200" dirty="0">
              <a:solidFill>
                <a:schemeClr val="bg1"/>
              </a:solidFill>
            </a:endParaRPr>
          </a:p>
        </p:txBody>
      </p:sp>
      <p:sp>
        <p:nvSpPr>
          <p:cNvPr id="46" name="Shape 16">
            <a:extLst>
              <a:ext uri="{FF2B5EF4-FFF2-40B4-BE49-F238E27FC236}">
                <a16:creationId xmlns:a16="http://schemas.microsoft.com/office/drawing/2014/main" id="{4F1CC5BA-9E83-7C1A-3B36-8E0D1BE35AF0}"/>
              </a:ext>
            </a:extLst>
          </p:cNvPr>
          <p:cNvSpPr/>
          <p:nvPr/>
        </p:nvSpPr>
        <p:spPr>
          <a:xfrm>
            <a:off x="7212825" y="1542015"/>
            <a:ext cx="1440000" cy="914400"/>
          </a:xfrm>
          <a:prstGeom prst="rect">
            <a:avLst/>
          </a:prstGeom>
          <a:solidFill>
            <a:srgbClr val="C00000"/>
          </a:solidFill>
          <a:ln w="19050">
            <a:noFill/>
            <a:prstDash val="solid"/>
          </a:ln>
          <a:effectLst>
            <a:outerShdw blurRad="101600" dist="38100" dir="8100000" algn="bl" rotWithShape="0">
              <a:srgbClr val="000000">
                <a:alpha val="25000"/>
              </a:srgbClr>
            </a:outerShdw>
          </a:effectLst>
        </p:spPr>
      </p:sp>
      <p:sp>
        <p:nvSpPr>
          <p:cNvPr id="47" name="Text 17">
            <a:extLst>
              <a:ext uri="{FF2B5EF4-FFF2-40B4-BE49-F238E27FC236}">
                <a16:creationId xmlns:a16="http://schemas.microsoft.com/office/drawing/2014/main" id="{F29B426C-8724-D3C3-7E2D-76AF77732B5C}"/>
              </a:ext>
            </a:extLst>
          </p:cNvPr>
          <p:cNvSpPr/>
          <p:nvPr/>
        </p:nvSpPr>
        <p:spPr>
          <a:xfrm>
            <a:off x="7238225" y="1593647"/>
            <a:ext cx="1394280" cy="822960"/>
          </a:xfrm>
          <a:prstGeom prst="rect">
            <a:avLst/>
          </a:prstGeom>
          <a:noFill/>
          <a:ln/>
        </p:spPr>
        <p:txBody>
          <a:bodyPr wrap="square"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Spatial</a:t>
            </a:r>
            <a:endParaRPr lang="en-US" sz="1200" dirty="0">
              <a:solidFill>
                <a:schemeClr val="bg1"/>
              </a:solidFill>
            </a:endParaRPr>
          </a:p>
          <a:p>
            <a:pPr marL="0" indent="0" algn="ctr">
              <a:buNone/>
            </a:pPr>
            <a:r>
              <a:rPr lang="en-US" sz="1200" b="1" dirty="0">
                <a:solidFill>
                  <a:schemeClr val="bg1"/>
                </a:solidFill>
                <a:latin typeface="Calibri" pitchFamily="34" charset="0"/>
                <a:ea typeface="Calibri" pitchFamily="34" charset="-122"/>
                <a:cs typeface="Calibri" pitchFamily="34" charset="-120"/>
              </a:rPr>
              <a:t>Attention</a:t>
            </a:r>
            <a:endParaRPr lang="en-US" sz="1200" dirty="0">
              <a:solidFill>
                <a:schemeClr val="bg1"/>
              </a:solidFill>
            </a:endParaRPr>
          </a:p>
        </p:txBody>
      </p:sp>
      <p:sp>
        <p:nvSpPr>
          <p:cNvPr id="49" name="Shape 19">
            <a:extLst>
              <a:ext uri="{FF2B5EF4-FFF2-40B4-BE49-F238E27FC236}">
                <a16:creationId xmlns:a16="http://schemas.microsoft.com/office/drawing/2014/main" id="{24180011-6930-819A-827B-00B5B9ADB3C8}"/>
              </a:ext>
            </a:extLst>
          </p:cNvPr>
          <p:cNvSpPr/>
          <p:nvPr/>
        </p:nvSpPr>
        <p:spPr>
          <a:xfrm>
            <a:off x="8893247" y="1542015"/>
            <a:ext cx="1440000" cy="914400"/>
          </a:xfrm>
          <a:prstGeom prst="rect">
            <a:avLst/>
          </a:prstGeom>
          <a:solidFill>
            <a:srgbClr val="C00000"/>
          </a:solidFill>
          <a:ln w="19050">
            <a:noFill/>
            <a:prstDash val="solid"/>
          </a:ln>
          <a:effectLst>
            <a:outerShdw blurRad="101600" dist="38100" dir="8100000" algn="bl" rotWithShape="0">
              <a:srgbClr val="000000">
                <a:alpha val="25000"/>
              </a:srgbClr>
            </a:outerShdw>
          </a:effectLst>
        </p:spPr>
      </p:sp>
      <p:sp>
        <p:nvSpPr>
          <p:cNvPr id="50" name="Text 20">
            <a:extLst>
              <a:ext uri="{FF2B5EF4-FFF2-40B4-BE49-F238E27FC236}">
                <a16:creationId xmlns:a16="http://schemas.microsoft.com/office/drawing/2014/main" id="{6D59AF14-EB16-5282-66CA-E3B7C4F2F3FC}"/>
              </a:ext>
            </a:extLst>
          </p:cNvPr>
          <p:cNvSpPr/>
          <p:nvPr/>
        </p:nvSpPr>
        <p:spPr>
          <a:xfrm>
            <a:off x="8918647" y="1593647"/>
            <a:ext cx="1394280" cy="822960"/>
          </a:xfrm>
          <a:prstGeom prst="rect">
            <a:avLst/>
          </a:prstGeom>
          <a:noFill/>
          <a:ln/>
        </p:spPr>
        <p:txBody>
          <a:bodyPr wrap="square"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Decoder</a:t>
            </a:r>
            <a:endParaRPr lang="en-US" sz="1200" dirty="0">
              <a:solidFill>
                <a:schemeClr val="bg1"/>
              </a:solidFill>
            </a:endParaRPr>
          </a:p>
          <a:p>
            <a:pPr marL="0" indent="0" algn="ctr">
              <a:buNone/>
            </a:pPr>
            <a:r>
              <a:rPr lang="en-US" sz="1200" b="1" dirty="0">
                <a:solidFill>
                  <a:schemeClr val="bg1"/>
                </a:solidFill>
                <a:latin typeface="Calibri" pitchFamily="34" charset="0"/>
                <a:ea typeface="Calibri" pitchFamily="34" charset="-122"/>
                <a:cs typeface="Calibri" pitchFamily="34" charset="-120"/>
              </a:rPr>
              <a:t>3 Conv→1ch</a:t>
            </a:r>
            <a:endParaRPr lang="en-US" sz="1200" dirty="0">
              <a:solidFill>
                <a:schemeClr val="bg1"/>
              </a:solidFill>
            </a:endParaRPr>
          </a:p>
        </p:txBody>
      </p:sp>
      <p:sp>
        <p:nvSpPr>
          <p:cNvPr id="51" name="Shape 21">
            <a:extLst>
              <a:ext uri="{FF2B5EF4-FFF2-40B4-BE49-F238E27FC236}">
                <a16:creationId xmlns:a16="http://schemas.microsoft.com/office/drawing/2014/main" id="{37C6FDE2-80AD-2CCB-9138-5B773FAD547F}"/>
              </a:ext>
            </a:extLst>
          </p:cNvPr>
          <p:cNvSpPr/>
          <p:nvPr/>
        </p:nvSpPr>
        <p:spPr>
          <a:xfrm>
            <a:off x="491137" y="2643747"/>
            <a:ext cx="4800844" cy="1188720"/>
          </a:xfrm>
          <a:prstGeom prst="rect">
            <a:avLst/>
          </a:prstGeom>
          <a:solidFill>
            <a:schemeClr val="bg1"/>
          </a:solidFill>
          <a:ln w="9525">
            <a:solidFill>
              <a:srgbClr val="C00000"/>
            </a:solidFill>
            <a:prstDash val="solid"/>
          </a:ln>
        </p:spPr>
      </p:sp>
      <p:sp>
        <p:nvSpPr>
          <p:cNvPr id="52" name="Text 22">
            <a:extLst>
              <a:ext uri="{FF2B5EF4-FFF2-40B4-BE49-F238E27FC236}">
                <a16:creationId xmlns:a16="http://schemas.microsoft.com/office/drawing/2014/main" id="{CB035FB7-8ADC-4E87-23E9-654A028222AA}"/>
              </a:ext>
            </a:extLst>
          </p:cNvPr>
          <p:cNvSpPr/>
          <p:nvPr/>
        </p:nvSpPr>
        <p:spPr>
          <a:xfrm>
            <a:off x="582577" y="2716899"/>
            <a:ext cx="4023360" cy="274320"/>
          </a:xfrm>
          <a:prstGeom prst="rect">
            <a:avLst/>
          </a:prstGeom>
          <a:noFill/>
          <a:ln/>
        </p:spPr>
        <p:txBody>
          <a:bodyPr wrap="square" rtlCol="0" anchor="ctr"/>
          <a:lstStyle/>
          <a:p>
            <a:pPr marL="0" indent="0">
              <a:buNone/>
            </a:pPr>
            <a:r>
              <a:rPr lang="en-US" sz="1600" b="1" dirty="0">
                <a:solidFill>
                  <a:srgbClr val="C00000"/>
                </a:solidFill>
                <a:ea typeface="Trebuchet MS" pitchFamily="34" charset="-122"/>
                <a:cs typeface="Trebuchet MS" pitchFamily="34" charset="-120"/>
              </a:rPr>
              <a:t>Input Sequence</a:t>
            </a:r>
            <a:endParaRPr lang="en-US" sz="1600" dirty="0">
              <a:solidFill>
                <a:srgbClr val="C00000"/>
              </a:solidFill>
            </a:endParaRPr>
          </a:p>
        </p:txBody>
      </p:sp>
      <p:sp>
        <p:nvSpPr>
          <p:cNvPr id="53" name="Text 23">
            <a:extLst>
              <a:ext uri="{FF2B5EF4-FFF2-40B4-BE49-F238E27FC236}">
                <a16:creationId xmlns:a16="http://schemas.microsoft.com/office/drawing/2014/main" id="{FFC47B8D-CE6A-4D2E-3377-9156C273F5AE}"/>
              </a:ext>
            </a:extLst>
          </p:cNvPr>
          <p:cNvSpPr/>
          <p:nvPr/>
        </p:nvSpPr>
        <p:spPr>
          <a:xfrm>
            <a:off x="582577" y="3027795"/>
            <a:ext cx="4023360" cy="749808"/>
          </a:xfrm>
          <a:prstGeom prst="rect">
            <a:avLst/>
          </a:prstGeom>
          <a:noFill/>
          <a:ln/>
        </p:spPr>
        <p:txBody>
          <a:bodyPr wrap="square" rtlCol="0" anchor="ctr"/>
          <a:lstStyle/>
          <a:p>
            <a:pPr marL="0" indent="0">
              <a:lnSpc>
                <a:spcPct val="130000"/>
              </a:lnSpc>
              <a:buNone/>
            </a:pPr>
            <a:r>
              <a:rPr lang="en-US" sz="1400" dirty="0">
                <a:ea typeface="Calibri" pitchFamily="34" charset="-122"/>
                <a:cs typeface="Calibri" pitchFamily="34" charset="-120"/>
              </a:rPr>
              <a:t>Chuỗi T=7 ngày liên tiếp</a:t>
            </a:r>
            <a:endParaRPr lang="en-US" sz="1400" dirty="0"/>
          </a:p>
          <a:p>
            <a:pPr marL="0" indent="0">
              <a:lnSpc>
                <a:spcPct val="130000"/>
              </a:lnSpc>
              <a:buNone/>
            </a:pPr>
            <a:r>
              <a:rPr lang="en-US" sz="1400" dirty="0">
                <a:ea typeface="Calibri" pitchFamily="34" charset="-122"/>
                <a:cs typeface="Calibri" pitchFamily="34" charset="-120"/>
              </a:rPr>
              <a:t>28 features / ngày</a:t>
            </a:r>
            <a:endParaRPr lang="en-US" sz="1400" dirty="0"/>
          </a:p>
          <a:p>
            <a:pPr marL="0" indent="0">
              <a:lnSpc>
                <a:spcPct val="130000"/>
              </a:lnSpc>
              <a:buNone/>
            </a:pPr>
            <a:r>
              <a:rPr lang="en-US" sz="1400" dirty="0">
                <a:ea typeface="Calibri" pitchFamily="34" charset="-122"/>
                <a:cs typeface="Calibri" pitchFamily="34" charset="-120"/>
              </a:rPr>
              <a:t>Lưới H=137 × W=138 pixels</a:t>
            </a:r>
            <a:endParaRPr lang="en-US" sz="1400" dirty="0"/>
          </a:p>
        </p:txBody>
      </p:sp>
      <p:sp>
        <p:nvSpPr>
          <p:cNvPr id="54" name="Shape 24">
            <a:extLst>
              <a:ext uri="{FF2B5EF4-FFF2-40B4-BE49-F238E27FC236}">
                <a16:creationId xmlns:a16="http://schemas.microsoft.com/office/drawing/2014/main" id="{C650121A-2916-7E1B-307E-B595D663DA35}"/>
              </a:ext>
            </a:extLst>
          </p:cNvPr>
          <p:cNvSpPr/>
          <p:nvPr/>
        </p:nvSpPr>
        <p:spPr>
          <a:xfrm>
            <a:off x="5578123" y="2630112"/>
            <a:ext cx="4755124" cy="1188720"/>
          </a:xfrm>
          <a:prstGeom prst="rect">
            <a:avLst/>
          </a:prstGeom>
          <a:solidFill>
            <a:schemeClr val="bg1"/>
          </a:solidFill>
          <a:ln w="9525">
            <a:solidFill>
              <a:srgbClr val="C00000"/>
            </a:solidFill>
            <a:prstDash val="solid"/>
          </a:ln>
        </p:spPr>
      </p:sp>
      <p:sp>
        <p:nvSpPr>
          <p:cNvPr id="55" name="Text 25">
            <a:extLst>
              <a:ext uri="{FF2B5EF4-FFF2-40B4-BE49-F238E27FC236}">
                <a16:creationId xmlns:a16="http://schemas.microsoft.com/office/drawing/2014/main" id="{6130D60B-9F9C-B08B-CC5B-C91EEE22B926}"/>
              </a:ext>
            </a:extLst>
          </p:cNvPr>
          <p:cNvSpPr/>
          <p:nvPr/>
        </p:nvSpPr>
        <p:spPr>
          <a:xfrm>
            <a:off x="5669563" y="2703264"/>
            <a:ext cx="4023360" cy="274320"/>
          </a:xfrm>
          <a:prstGeom prst="rect">
            <a:avLst/>
          </a:prstGeom>
          <a:noFill/>
          <a:ln/>
        </p:spPr>
        <p:txBody>
          <a:bodyPr wrap="square" rtlCol="0" anchor="ctr"/>
          <a:lstStyle/>
          <a:p>
            <a:pPr marL="0" indent="0">
              <a:buNone/>
            </a:pPr>
            <a:r>
              <a:rPr lang="en-US" sz="1600" b="1" dirty="0">
                <a:solidFill>
                  <a:srgbClr val="C00000"/>
                </a:solidFill>
                <a:ea typeface="Trebuchet MS" pitchFamily="34" charset="-122"/>
                <a:cs typeface="Trebuchet MS" pitchFamily="34" charset="-120"/>
              </a:rPr>
              <a:t>Loss Function</a:t>
            </a:r>
            <a:endParaRPr lang="en-US" sz="1600" dirty="0">
              <a:solidFill>
                <a:srgbClr val="C00000"/>
              </a:solidFill>
            </a:endParaRPr>
          </a:p>
        </p:txBody>
      </p:sp>
      <p:sp>
        <p:nvSpPr>
          <p:cNvPr id="56" name="Text 26">
            <a:extLst>
              <a:ext uri="{FF2B5EF4-FFF2-40B4-BE49-F238E27FC236}">
                <a16:creationId xmlns:a16="http://schemas.microsoft.com/office/drawing/2014/main" id="{7EDE3DC7-680C-477D-4DDB-6247BDE75B16}"/>
              </a:ext>
            </a:extLst>
          </p:cNvPr>
          <p:cNvSpPr/>
          <p:nvPr/>
        </p:nvSpPr>
        <p:spPr>
          <a:xfrm>
            <a:off x="5669563" y="3014160"/>
            <a:ext cx="4023360" cy="749808"/>
          </a:xfrm>
          <a:prstGeom prst="rect">
            <a:avLst/>
          </a:prstGeom>
          <a:noFill/>
          <a:ln/>
        </p:spPr>
        <p:txBody>
          <a:bodyPr wrap="square" rtlCol="0" anchor="ctr"/>
          <a:lstStyle/>
          <a:p>
            <a:pPr marL="0" indent="0">
              <a:lnSpc>
                <a:spcPct val="130000"/>
              </a:lnSpc>
              <a:buNone/>
            </a:pPr>
            <a:r>
              <a:rPr lang="en-US" sz="1400" dirty="0">
                <a:ea typeface="Calibri" pitchFamily="34" charset="-122"/>
                <a:cs typeface="Calibri" pitchFamily="34" charset="-120"/>
              </a:rPr>
              <a:t>Focal Loss (γ=2, α=0.8)</a:t>
            </a:r>
            <a:endParaRPr lang="en-US" sz="1400" dirty="0"/>
          </a:p>
          <a:p>
            <a:pPr marL="0" indent="0">
              <a:lnSpc>
                <a:spcPct val="130000"/>
              </a:lnSpc>
              <a:buNone/>
            </a:pPr>
            <a:r>
              <a:rPr lang="en-US" sz="1400" dirty="0">
                <a:ea typeface="Calibri" pitchFamily="34" charset="-122"/>
                <a:cs typeface="Calibri" pitchFamily="34" charset="-120"/>
              </a:rPr>
              <a:t>+ Tversky Loss (α=0.3, β=0.7)</a:t>
            </a:r>
            <a:endParaRPr lang="en-US" sz="1400" dirty="0"/>
          </a:p>
          <a:p>
            <a:pPr marL="0" indent="0">
              <a:lnSpc>
                <a:spcPct val="130000"/>
              </a:lnSpc>
              <a:buNone/>
            </a:pPr>
            <a:r>
              <a:rPr lang="en-US" sz="1400" dirty="0">
                <a:ea typeface="Calibri" pitchFamily="34" charset="-122"/>
                <a:cs typeface="Calibri" pitchFamily="34" charset="-120"/>
              </a:rPr>
              <a:t>Kết hợp 50%-50%</a:t>
            </a:r>
            <a:endParaRPr lang="en-US" sz="1400" dirty="0"/>
          </a:p>
        </p:txBody>
      </p:sp>
      <p:sp>
        <p:nvSpPr>
          <p:cNvPr id="57" name="Shape 27">
            <a:extLst>
              <a:ext uri="{FF2B5EF4-FFF2-40B4-BE49-F238E27FC236}">
                <a16:creationId xmlns:a16="http://schemas.microsoft.com/office/drawing/2014/main" id="{B28F7E8E-6762-9678-E030-FA77EA6B8264}"/>
              </a:ext>
            </a:extLst>
          </p:cNvPr>
          <p:cNvSpPr/>
          <p:nvPr/>
        </p:nvSpPr>
        <p:spPr>
          <a:xfrm>
            <a:off x="491137" y="3969627"/>
            <a:ext cx="4800844" cy="1188720"/>
          </a:xfrm>
          <a:prstGeom prst="rect">
            <a:avLst/>
          </a:prstGeom>
          <a:solidFill>
            <a:schemeClr val="bg1"/>
          </a:solidFill>
          <a:ln w="9525">
            <a:solidFill>
              <a:srgbClr val="C00000"/>
            </a:solidFill>
            <a:prstDash val="solid"/>
          </a:ln>
        </p:spPr>
      </p:sp>
      <p:sp>
        <p:nvSpPr>
          <p:cNvPr id="58" name="Text 28">
            <a:extLst>
              <a:ext uri="{FF2B5EF4-FFF2-40B4-BE49-F238E27FC236}">
                <a16:creationId xmlns:a16="http://schemas.microsoft.com/office/drawing/2014/main" id="{BE669151-CEE6-50FB-742B-2ED5EBD6EE27}"/>
              </a:ext>
            </a:extLst>
          </p:cNvPr>
          <p:cNvSpPr/>
          <p:nvPr/>
        </p:nvSpPr>
        <p:spPr>
          <a:xfrm>
            <a:off x="582577" y="4042779"/>
            <a:ext cx="4023360" cy="274320"/>
          </a:xfrm>
          <a:prstGeom prst="rect">
            <a:avLst/>
          </a:prstGeom>
          <a:noFill/>
          <a:ln/>
        </p:spPr>
        <p:txBody>
          <a:bodyPr wrap="square" rtlCol="0" anchor="ctr"/>
          <a:lstStyle/>
          <a:p>
            <a:pPr marL="0" indent="0">
              <a:buNone/>
            </a:pPr>
            <a:r>
              <a:rPr lang="en-US" sz="1600" b="1" dirty="0">
                <a:solidFill>
                  <a:srgbClr val="C00000"/>
                </a:solidFill>
                <a:ea typeface="Trebuchet MS" pitchFamily="34" charset="-122"/>
                <a:cs typeface="Trebuchet MS" pitchFamily="34" charset="-120"/>
              </a:rPr>
              <a:t>Training Setup</a:t>
            </a:r>
            <a:endParaRPr lang="en-US" sz="1600" dirty="0">
              <a:solidFill>
                <a:srgbClr val="C00000"/>
              </a:solidFill>
            </a:endParaRPr>
          </a:p>
        </p:txBody>
      </p:sp>
      <p:sp>
        <p:nvSpPr>
          <p:cNvPr id="59" name="Text 29">
            <a:extLst>
              <a:ext uri="{FF2B5EF4-FFF2-40B4-BE49-F238E27FC236}">
                <a16:creationId xmlns:a16="http://schemas.microsoft.com/office/drawing/2014/main" id="{DCB20280-A28B-E90F-F124-4AD0F85D6E71}"/>
              </a:ext>
            </a:extLst>
          </p:cNvPr>
          <p:cNvSpPr/>
          <p:nvPr/>
        </p:nvSpPr>
        <p:spPr>
          <a:xfrm>
            <a:off x="582577" y="4353675"/>
            <a:ext cx="4023360" cy="749808"/>
          </a:xfrm>
          <a:prstGeom prst="rect">
            <a:avLst/>
          </a:prstGeom>
          <a:noFill/>
          <a:ln/>
        </p:spPr>
        <p:txBody>
          <a:bodyPr wrap="square" rtlCol="0" anchor="ctr"/>
          <a:lstStyle/>
          <a:p>
            <a:pPr marL="0" indent="0">
              <a:lnSpc>
                <a:spcPct val="130000"/>
              </a:lnSpc>
              <a:buNone/>
            </a:pPr>
            <a:r>
              <a:rPr lang="en-US" sz="1400" dirty="0">
                <a:ea typeface="Calibri" pitchFamily="34" charset="-122"/>
                <a:cs typeface="Calibri" pitchFamily="34" charset="-120"/>
              </a:rPr>
              <a:t>Kaggle GPU – AMP FP16</a:t>
            </a:r>
            <a:endParaRPr lang="en-US" sz="1400" dirty="0"/>
          </a:p>
          <a:p>
            <a:pPr marL="0" indent="0">
              <a:lnSpc>
                <a:spcPct val="130000"/>
              </a:lnSpc>
              <a:buNone/>
            </a:pPr>
            <a:r>
              <a:rPr lang="en-US" sz="1400" dirty="0">
                <a:ea typeface="Calibri" pitchFamily="34" charset="-122"/>
                <a:cs typeface="Calibri" pitchFamily="34" charset="-120"/>
              </a:rPr>
              <a:t>Grad Accumulation 4 steps</a:t>
            </a:r>
            <a:endParaRPr lang="en-US" sz="1400" dirty="0"/>
          </a:p>
          <a:p>
            <a:pPr marL="0" indent="0">
              <a:lnSpc>
                <a:spcPct val="130000"/>
              </a:lnSpc>
              <a:buNone/>
            </a:pPr>
            <a:r>
              <a:rPr lang="en-US" sz="1400" dirty="0">
                <a:ea typeface="Calibri" pitchFamily="34" charset="-122"/>
                <a:cs typeface="Calibri" pitchFamily="34" charset="-120"/>
              </a:rPr>
              <a:t>AdamW lr=3e-4 | 200 epoch</a:t>
            </a:r>
            <a:endParaRPr lang="en-US" sz="1400" dirty="0"/>
          </a:p>
        </p:txBody>
      </p:sp>
      <p:sp>
        <p:nvSpPr>
          <p:cNvPr id="60" name="Shape 30">
            <a:extLst>
              <a:ext uri="{FF2B5EF4-FFF2-40B4-BE49-F238E27FC236}">
                <a16:creationId xmlns:a16="http://schemas.microsoft.com/office/drawing/2014/main" id="{91E3D7D2-78ED-A66E-BC82-1C746826BACF}"/>
              </a:ext>
            </a:extLst>
          </p:cNvPr>
          <p:cNvSpPr/>
          <p:nvPr/>
        </p:nvSpPr>
        <p:spPr>
          <a:xfrm>
            <a:off x="5578123" y="3955992"/>
            <a:ext cx="4755124" cy="1188720"/>
          </a:xfrm>
          <a:prstGeom prst="rect">
            <a:avLst/>
          </a:prstGeom>
          <a:solidFill>
            <a:schemeClr val="bg1"/>
          </a:solidFill>
          <a:ln w="9525">
            <a:solidFill>
              <a:srgbClr val="C00000"/>
            </a:solidFill>
            <a:prstDash val="solid"/>
          </a:ln>
        </p:spPr>
      </p:sp>
      <p:sp>
        <p:nvSpPr>
          <p:cNvPr id="61" name="Text 31">
            <a:extLst>
              <a:ext uri="{FF2B5EF4-FFF2-40B4-BE49-F238E27FC236}">
                <a16:creationId xmlns:a16="http://schemas.microsoft.com/office/drawing/2014/main" id="{1885EED6-E2B8-9972-ECCC-562A1CAB96D6}"/>
              </a:ext>
            </a:extLst>
          </p:cNvPr>
          <p:cNvSpPr/>
          <p:nvPr/>
        </p:nvSpPr>
        <p:spPr>
          <a:xfrm>
            <a:off x="5669563" y="4029144"/>
            <a:ext cx="4023360" cy="274320"/>
          </a:xfrm>
          <a:prstGeom prst="rect">
            <a:avLst/>
          </a:prstGeom>
          <a:noFill/>
          <a:ln/>
        </p:spPr>
        <p:txBody>
          <a:bodyPr wrap="square" rtlCol="0" anchor="ctr"/>
          <a:lstStyle/>
          <a:p>
            <a:pPr marL="0" indent="0">
              <a:buNone/>
            </a:pPr>
            <a:r>
              <a:rPr lang="en-US" sz="1600" b="1" dirty="0">
                <a:solidFill>
                  <a:srgbClr val="C00000"/>
                </a:solidFill>
                <a:ea typeface="Trebuchet MS" pitchFamily="34" charset="-122"/>
                <a:cs typeface="Trebuchet MS" pitchFamily="34" charset="-120"/>
              </a:rPr>
              <a:t>Sampling</a:t>
            </a:r>
            <a:endParaRPr lang="en-US" sz="1600" dirty="0">
              <a:solidFill>
                <a:srgbClr val="C00000"/>
              </a:solidFill>
            </a:endParaRPr>
          </a:p>
        </p:txBody>
      </p:sp>
      <p:sp>
        <p:nvSpPr>
          <p:cNvPr id="62" name="Text 32">
            <a:extLst>
              <a:ext uri="{FF2B5EF4-FFF2-40B4-BE49-F238E27FC236}">
                <a16:creationId xmlns:a16="http://schemas.microsoft.com/office/drawing/2014/main" id="{3E5F60BE-C816-062F-C3B4-2687E535ED47}"/>
              </a:ext>
            </a:extLst>
          </p:cNvPr>
          <p:cNvSpPr/>
          <p:nvPr/>
        </p:nvSpPr>
        <p:spPr>
          <a:xfrm>
            <a:off x="5669563" y="4340040"/>
            <a:ext cx="4023360" cy="749808"/>
          </a:xfrm>
          <a:prstGeom prst="rect">
            <a:avLst/>
          </a:prstGeom>
          <a:noFill/>
          <a:ln/>
        </p:spPr>
        <p:txBody>
          <a:bodyPr wrap="square" rtlCol="0" anchor="ctr"/>
          <a:lstStyle/>
          <a:p>
            <a:pPr marL="0" indent="0">
              <a:lnSpc>
                <a:spcPct val="130000"/>
              </a:lnSpc>
              <a:buNone/>
            </a:pPr>
            <a:r>
              <a:rPr lang="en-US" sz="1400" dirty="0">
                <a:ea typeface="Calibri" pitchFamily="34" charset="-122"/>
                <a:cs typeface="Calibri" pitchFamily="34" charset="-120"/>
              </a:rPr>
              <a:t>WeightedRandomSampler</a:t>
            </a:r>
            <a:endParaRPr lang="en-US" sz="1400" dirty="0"/>
          </a:p>
          <a:p>
            <a:pPr marL="0" indent="0">
              <a:lnSpc>
                <a:spcPct val="130000"/>
              </a:lnSpc>
              <a:buNone/>
            </a:pPr>
            <a:r>
              <a:rPr lang="en-US" sz="1400" dirty="0">
                <a:ea typeface="Calibri" pitchFamily="34" charset="-122"/>
                <a:cs typeface="Calibri" pitchFamily="34" charset="-120"/>
              </a:rPr>
              <a:t>log1p(max_fire_in_7d)</a:t>
            </a:r>
            <a:endParaRPr lang="en-US" sz="1400" dirty="0"/>
          </a:p>
          <a:p>
            <a:pPr marL="0" indent="0">
              <a:lnSpc>
                <a:spcPct val="130000"/>
              </a:lnSpc>
              <a:buNone/>
            </a:pPr>
            <a:r>
              <a:rPr lang="en-US" sz="1400" dirty="0">
                <a:ea typeface="Calibri" pitchFamily="34" charset="-122"/>
                <a:cs typeface="Calibri" pitchFamily="34" charset="-120"/>
              </a:rPr>
              <a:t>pos_weight giới hạn ≤ 200x</a:t>
            </a:r>
            <a:endParaRPr lang="en-US" sz="1400" dirty="0"/>
          </a:p>
        </p:txBody>
      </p:sp>
      <p:sp>
        <p:nvSpPr>
          <p:cNvPr id="63" name="Text 33">
            <a:extLst>
              <a:ext uri="{FF2B5EF4-FFF2-40B4-BE49-F238E27FC236}">
                <a16:creationId xmlns:a16="http://schemas.microsoft.com/office/drawing/2014/main" id="{E8A44C82-A0BC-16D1-34E6-BF2BE1C1D69C}"/>
              </a:ext>
            </a:extLst>
          </p:cNvPr>
          <p:cNvSpPr/>
          <p:nvPr/>
        </p:nvSpPr>
        <p:spPr>
          <a:xfrm>
            <a:off x="491137" y="5368659"/>
            <a:ext cx="9842110" cy="256023"/>
          </a:xfrm>
          <a:prstGeom prst="rect">
            <a:avLst/>
          </a:prstGeom>
          <a:noFill/>
          <a:ln/>
        </p:spPr>
        <p:txBody>
          <a:bodyPr wrap="square" rtlCol="0" anchor="ctr"/>
          <a:lstStyle/>
          <a:p>
            <a:pPr marL="0" indent="0" algn="ctr">
              <a:buNone/>
            </a:pPr>
            <a:r>
              <a:rPr lang="en-US" sz="1400" dirty="0">
                <a:solidFill>
                  <a:srgbClr val="C00000"/>
                </a:solidFill>
                <a:ea typeface="Calibri" pitchFamily="34" charset="-122"/>
                <a:cs typeface="Calibri" pitchFamily="34" charset="-120"/>
              </a:rPr>
              <a:t>Ngưỡng phân loại được chọn tự động bằng F1-score tối đa trên đường cong Precision-Recall (không dùng ngưỡng mặc định 0.5)</a:t>
            </a:r>
            <a:endParaRPr lang="en-US" sz="1400" dirty="0">
              <a:solidFill>
                <a:srgbClr val="C00000"/>
              </a:solidFill>
            </a:endParaRPr>
          </a:p>
        </p:txBody>
      </p:sp>
      <p:cxnSp>
        <p:nvCxnSpPr>
          <p:cNvPr id="65" name="Straight Connector 64">
            <a:extLst>
              <a:ext uri="{FF2B5EF4-FFF2-40B4-BE49-F238E27FC236}">
                <a16:creationId xmlns:a16="http://schemas.microsoft.com/office/drawing/2014/main" id="{5F13AAAA-0956-7D7E-97CC-52710E65C85F}"/>
              </a:ext>
            </a:extLst>
          </p:cNvPr>
          <p:cNvCxnSpPr>
            <a:stCxn id="34" idx="3"/>
            <a:endCxn id="37" idx="1"/>
          </p:cNvCxnSpPr>
          <p:nvPr/>
        </p:nvCxnSpPr>
        <p:spPr>
          <a:xfrm flipV="1">
            <a:off x="1931137" y="1999215"/>
            <a:ext cx="240422" cy="445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67" name="Straight Connector 66">
            <a:extLst>
              <a:ext uri="{FF2B5EF4-FFF2-40B4-BE49-F238E27FC236}">
                <a16:creationId xmlns:a16="http://schemas.microsoft.com/office/drawing/2014/main" id="{9162C4DC-9030-78B5-CCA0-3C1C0875DD50}"/>
              </a:ext>
            </a:extLst>
          </p:cNvPr>
          <p:cNvCxnSpPr>
            <a:stCxn id="37" idx="3"/>
            <a:endCxn id="40" idx="1"/>
          </p:cNvCxnSpPr>
          <p:nvPr/>
        </p:nvCxnSpPr>
        <p:spPr>
          <a:xfrm>
            <a:off x="3611559" y="1999215"/>
            <a:ext cx="240422"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69" name="Straight Connector 68">
            <a:extLst>
              <a:ext uri="{FF2B5EF4-FFF2-40B4-BE49-F238E27FC236}">
                <a16:creationId xmlns:a16="http://schemas.microsoft.com/office/drawing/2014/main" id="{351D07D7-08EA-2952-0A06-888209E777B6}"/>
              </a:ext>
            </a:extLst>
          </p:cNvPr>
          <p:cNvCxnSpPr>
            <a:stCxn id="40" idx="3"/>
            <a:endCxn id="43" idx="1"/>
          </p:cNvCxnSpPr>
          <p:nvPr/>
        </p:nvCxnSpPr>
        <p:spPr>
          <a:xfrm>
            <a:off x="5291981" y="1999215"/>
            <a:ext cx="240422"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73" name="Straight Connector 72">
            <a:extLst>
              <a:ext uri="{FF2B5EF4-FFF2-40B4-BE49-F238E27FC236}">
                <a16:creationId xmlns:a16="http://schemas.microsoft.com/office/drawing/2014/main" id="{A31C623B-5BD4-9E3D-5E62-D230C6E1E9DC}"/>
              </a:ext>
            </a:extLst>
          </p:cNvPr>
          <p:cNvCxnSpPr>
            <a:cxnSpLocks/>
            <a:stCxn id="43" idx="3"/>
            <a:endCxn id="46" idx="1"/>
          </p:cNvCxnSpPr>
          <p:nvPr/>
        </p:nvCxnSpPr>
        <p:spPr>
          <a:xfrm>
            <a:off x="6972403" y="1999215"/>
            <a:ext cx="240422" cy="0"/>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76" name="Straight Connector 75">
            <a:extLst>
              <a:ext uri="{FF2B5EF4-FFF2-40B4-BE49-F238E27FC236}">
                <a16:creationId xmlns:a16="http://schemas.microsoft.com/office/drawing/2014/main" id="{D461F314-EBE3-98B9-A8FE-C2640EA236D4}"/>
              </a:ext>
            </a:extLst>
          </p:cNvPr>
          <p:cNvCxnSpPr>
            <a:cxnSpLocks/>
            <a:stCxn id="46" idx="3"/>
            <a:endCxn id="49" idx="1"/>
          </p:cNvCxnSpPr>
          <p:nvPr/>
        </p:nvCxnSpPr>
        <p:spPr>
          <a:xfrm>
            <a:off x="8652825" y="1999215"/>
            <a:ext cx="240422" cy="0"/>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96548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EBA5C-8894-D932-D837-753877BD5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623EB-622E-9273-22B7-DB03B4A76D63}"/>
              </a:ext>
            </a:extLst>
          </p:cNvPr>
          <p:cNvSpPr>
            <a:spLocks noGrp="1"/>
          </p:cNvSpPr>
          <p:nvPr>
            <p:ph type="title"/>
          </p:nvPr>
        </p:nvSpPr>
        <p:spPr>
          <a:xfrm>
            <a:off x="383175" y="835118"/>
            <a:ext cx="11123024" cy="554902"/>
          </a:xfrm>
        </p:spPr>
        <p:txBody>
          <a:bodyPr>
            <a:normAutofit/>
          </a:bodyPr>
          <a:lstStyle/>
          <a:p>
            <a:r>
              <a:rPr lang="en-US">
                <a:latin typeface="+mn-lt"/>
                <a:ea typeface="Georgia" pitchFamily="34" charset="-122"/>
                <a:cs typeface="Georgia" pitchFamily="34" charset="-120"/>
              </a:rPr>
              <a:t>ENSEMBLE ĐA MÔ HÌNH – XGBoost + ConvLSTM</a:t>
            </a:r>
            <a:endParaRPr lang="en-US" dirty="0">
              <a:latin typeface="+mn-lt"/>
            </a:endParaRPr>
          </a:p>
        </p:txBody>
      </p:sp>
      <p:sp>
        <p:nvSpPr>
          <p:cNvPr id="4" name="Shape 4">
            <a:extLst>
              <a:ext uri="{FF2B5EF4-FFF2-40B4-BE49-F238E27FC236}">
                <a16:creationId xmlns:a16="http://schemas.microsoft.com/office/drawing/2014/main" id="{6B82CF01-D33B-5DC3-F576-F3A044D33FCC}"/>
              </a:ext>
            </a:extLst>
          </p:cNvPr>
          <p:cNvSpPr/>
          <p:nvPr/>
        </p:nvSpPr>
        <p:spPr>
          <a:xfrm>
            <a:off x="951345" y="1674381"/>
            <a:ext cx="4206240" cy="1828800"/>
          </a:xfrm>
          <a:prstGeom prst="rect">
            <a:avLst/>
          </a:prstGeom>
          <a:solidFill>
            <a:schemeClr val="bg1"/>
          </a:solidFill>
          <a:ln w="15240">
            <a:solidFill>
              <a:srgbClr val="4CAF50"/>
            </a:solidFill>
            <a:prstDash val="solid"/>
          </a:ln>
          <a:effectLst>
            <a:outerShdw blurRad="101600" dist="38100" dir="8100000" algn="bl" rotWithShape="0">
              <a:srgbClr val="000000">
                <a:alpha val="25000"/>
              </a:srgbClr>
            </a:outerShdw>
          </a:effectLst>
        </p:spPr>
      </p:sp>
      <p:sp>
        <p:nvSpPr>
          <p:cNvPr id="5" name="Shape 5">
            <a:extLst>
              <a:ext uri="{FF2B5EF4-FFF2-40B4-BE49-F238E27FC236}">
                <a16:creationId xmlns:a16="http://schemas.microsoft.com/office/drawing/2014/main" id="{530D29CE-9D96-571A-552A-D715B96658EA}"/>
              </a:ext>
            </a:extLst>
          </p:cNvPr>
          <p:cNvSpPr/>
          <p:nvPr/>
        </p:nvSpPr>
        <p:spPr>
          <a:xfrm>
            <a:off x="951345" y="1674381"/>
            <a:ext cx="4206240" cy="201168"/>
          </a:xfrm>
          <a:prstGeom prst="rect">
            <a:avLst/>
          </a:prstGeom>
          <a:solidFill>
            <a:srgbClr val="4CAF50"/>
          </a:solidFill>
          <a:ln w="12700">
            <a:solidFill>
              <a:srgbClr val="4CAF50"/>
            </a:solidFill>
            <a:prstDash val="solid"/>
          </a:ln>
        </p:spPr>
      </p:sp>
      <p:sp>
        <p:nvSpPr>
          <p:cNvPr id="6" name="Text 6">
            <a:extLst>
              <a:ext uri="{FF2B5EF4-FFF2-40B4-BE49-F238E27FC236}">
                <a16:creationId xmlns:a16="http://schemas.microsoft.com/office/drawing/2014/main" id="{1B051E20-3FD7-AB2F-5E5F-A7B4A64A7ACF}"/>
              </a:ext>
            </a:extLst>
          </p:cNvPr>
          <p:cNvSpPr/>
          <p:nvPr/>
        </p:nvSpPr>
        <p:spPr>
          <a:xfrm>
            <a:off x="1024497" y="1930413"/>
            <a:ext cx="4059936" cy="329184"/>
          </a:xfrm>
          <a:prstGeom prst="rect">
            <a:avLst/>
          </a:prstGeom>
          <a:noFill/>
          <a:ln/>
        </p:spPr>
        <p:txBody>
          <a:bodyPr wrap="square" rtlCol="0" anchor="ctr"/>
          <a:lstStyle/>
          <a:p>
            <a:pPr marL="0" indent="0">
              <a:buNone/>
            </a:pPr>
            <a:r>
              <a:rPr lang="en-US" b="1" dirty="0">
                <a:solidFill>
                  <a:schemeClr val="accent6">
                    <a:lumMod val="75000"/>
                  </a:schemeClr>
                </a:solidFill>
                <a:latin typeface="Trebuchet MS" pitchFamily="34" charset="0"/>
                <a:ea typeface="Trebuchet MS" pitchFamily="34" charset="-122"/>
                <a:cs typeface="Trebuchet MS" pitchFamily="34" charset="-120"/>
              </a:rPr>
              <a:t>OR Rule</a:t>
            </a:r>
            <a:endParaRPr lang="en-US" dirty="0">
              <a:solidFill>
                <a:schemeClr val="accent6">
                  <a:lumMod val="75000"/>
                </a:schemeClr>
              </a:solidFill>
            </a:endParaRPr>
          </a:p>
        </p:txBody>
      </p:sp>
      <p:sp>
        <p:nvSpPr>
          <p:cNvPr id="7" name="Text 7">
            <a:extLst>
              <a:ext uri="{FF2B5EF4-FFF2-40B4-BE49-F238E27FC236}">
                <a16:creationId xmlns:a16="http://schemas.microsoft.com/office/drawing/2014/main" id="{1AF3EF34-232C-3224-FD4A-F54A2EB91DFE}"/>
              </a:ext>
            </a:extLst>
          </p:cNvPr>
          <p:cNvSpPr/>
          <p:nvPr/>
        </p:nvSpPr>
        <p:spPr>
          <a:xfrm>
            <a:off x="1024497" y="2277885"/>
            <a:ext cx="4059936" cy="274320"/>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P = max(P_XGB, P_CLSTM)</a:t>
            </a:r>
            <a:endParaRPr lang="en-US" sz="1100" dirty="0"/>
          </a:p>
        </p:txBody>
      </p:sp>
      <p:sp>
        <p:nvSpPr>
          <p:cNvPr id="8" name="Shape 8">
            <a:extLst>
              <a:ext uri="{FF2B5EF4-FFF2-40B4-BE49-F238E27FC236}">
                <a16:creationId xmlns:a16="http://schemas.microsoft.com/office/drawing/2014/main" id="{8B4EF611-871C-D432-FB35-AA660A3A979D}"/>
              </a:ext>
            </a:extLst>
          </p:cNvPr>
          <p:cNvSpPr/>
          <p:nvPr/>
        </p:nvSpPr>
        <p:spPr>
          <a:xfrm>
            <a:off x="1024497" y="2570493"/>
            <a:ext cx="4059936" cy="0"/>
          </a:xfrm>
          <a:prstGeom prst="line">
            <a:avLst/>
          </a:prstGeom>
          <a:noFill/>
          <a:ln w="6350">
            <a:solidFill>
              <a:srgbClr val="4CAF50"/>
            </a:solidFill>
            <a:prstDash val="dash"/>
          </a:ln>
        </p:spPr>
      </p:sp>
      <p:sp>
        <p:nvSpPr>
          <p:cNvPr id="9" name="Text 9">
            <a:extLst>
              <a:ext uri="{FF2B5EF4-FFF2-40B4-BE49-F238E27FC236}">
                <a16:creationId xmlns:a16="http://schemas.microsoft.com/office/drawing/2014/main" id="{61CE6510-EBE7-B517-068F-A7A3BA329970}"/>
              </a:ext>
            </a:extLst>
          </p:cNvPr>
          <p:cNvSpPr/>
          <p:nvPr/>
        </p:nvSpPr>
        <p:spPr>
          <a:xfrm>
            <a:off x="1024497" y="2616213"/>
            <a:ext cx="4059936" cy="292608"/>
          </a:xfrm>
          <a:prstGeom prst="rect">
            <a:avLst/>
          </a:prstGeom>
          <a:noFill/>
          <a:ln/>
        </p:spPr>
        <p:txBody>
          <a:bodyPr wrap="square" rtlCol="0" anchor="ctr"/>
          <a:lstStyle/>
          <a:p>
            <a:pPr marL="0" indent="0">
              <a:buNone/>
            </a:pPr>
            <a:r>
              <a:rPr lang="en-US" sz="1200" b="1" dirty="0">
                <a:solidFill>
                  <a:schemeClr val="accent6">
                    <a:lumMod val="75000"/>
                  </a:schemeClr>
                </a:solidFill>
                <a:latin typeface="Calibri" pitchFamily="34" charset="0"/>
                <a:ea typeface="Calibri" pitchFamily="34" charset="-122"/>
                <a:cs typeface="Calibri" pitchFamily="34" charset="-120"/>
              </a:rPr>
              <a:t>PEI=11.57 ★  FRES=0.409 ★  Recall@Pmin=2.08%</a:t>
            </a:r>
            <a:endParaRPr lang="en-US" sz="1200" dirty="0">
              <a:solidFill>
                <a:schemeClr val="accent6">
                  <a:lumMod val="75000"/>
                </a:schemeClr>
              </a:solidFill>
            </a:endParaRPr>
          </a:p>
        </p:txBody>
      </p:sp>
      <p:sp>
        <p:nvSpPr>
          <p:cNvPr id="10" name="Text 10">
            <a:extLst>
              <a:ext uri="{FF2B5EF4-FFF2-40B4-BE49-F238E27FC236}">
                <a16:creationId xmlns:a16="http://schemas.microsoft.com/office/drawing/2014/main" id="{3CF68C82-4A26-8E30-6993-04E9081FC811}"/>
              </a:ext>
            </a:extLst>
          </p:cNvPr>
          <p:cNvSpPr/>
          <p:nvPr/>
        </p:nvSpPr>
        <p:spPr>
          <a:xfrm>
            <a:off x="1024497" y="2927109"/>
            <a:ext cx="4059936" cy="502920"/>
          </a:xfrm>
          <a:prstGeom prst="rect">
            <a:avLst/>
          </a:prstGeom>
          <a:noFill/>
          <a:ln/>
        </p:spPr>
        <p:txBody>
          <a:bodyPr wrap="square" rtlCol="0" anchor="ctr"/>
          <a:lstStyle/>
          <a:p>
            <a:pPr marL="0" indent="0">
              <a:lnSpc>
                <a:spcPct val="130000"/>
              </a:lnSpc>
              <a:buNone/>
            </a:pPr>
            <a:r>
              <a:rPr lang="en-US" sz="1100" dirty="0">
                <a:latin typeface="Calibri" pitchFamily="34" charset="0"/>
                <a:ea typeface="Calibri" pitchFamily="34" charset="-122"/>
                <a:cs typeface="Calibri" pitchFamily="34" charset="-120"/>
              </a:rPr>
              <a:t>Đơn giản nhất, không cần training thêm. → MÔ HÌNH ĐƯỢC CHỌN</a:t>
            </a:r>
            <a:endParaRPr lang="en-US" sz="1100" dirty="0"/>
          </a:p>
        </p:txBody>
      </p:sp>
      <p:sp>
        <p:nvSpPr>
          <p:cNvPr id="11" name="Shape 11">
            <a:extLst>
              <a:ext uri="{FF2B5EF4-FFF2-40B4-BE49-F238E27FC236}">
                <a16:creationId xmlns:a16="http://schemas.microsoft.com/office/drawing/2014/main" id="{8CBFC50C-DD65-F427-6A52-C6F123723666}"/>
              </a:ext>
            </a:extLst>
          </p:cNvPr>
          <p:cNvSpPr/>
          <p:nvPr/>
        </p:nvSpPr>
        <p:spPr>
          <a:xfrm>
            <a:off x="5603002" y="1674381"/>
            <a:ext cx="4206240" cy="1828800"/>
          </a:xfrm>
          <a:prstGeom prst="rect">
            <a:avLst/>
          </a:prstGeom>
          <a:solidFill>
            <a:schemeClr val="bg1"/>
          </a:solidFill>
          <a:ln w="15240">
            <a:solidFill>
              <a:srgbClr val="64B5F6"/>
            </a:solidFill>
            <a:prstDash val="solid"/>
          </a:ln>
          <a:effectLst>
            <a:outerShdw blurRad="101600" dist="38100" dir="8100000" algn="bl" rotWithShape="0">
              <a:srgbClr val="000000">
                <a:alpha val="25000"/>
              </a:srgbClr>
            </a:outerShdw>
          </a:effectLst>
        </p:spPr>
      </p:sp>
      <p:sp>
        <p:nvSpPr>
          <p:cNvPr id="12" name="Shape 12">
            <a:extLst>
              <a:ext uri="{FF2B5EF4-FFF2-40B4-BE49-F238E27FC236}">
                <a16:creationId xmlns:a16="http://schemas.microsoft.com/office/drawing/2014/main" id="{C617D4DA-58CB-8231-FBB8-EF087FEB9BA7}"/>
              </a:ext>
            </a:extLst>
          </p:cNvPr>
          <p:cNvSpPr/>
          <p:nvPr/>
        </p:nvSpPr>
        <p:spPr>
          <a:xfrm>
            <a:off x="5603002" y="1674381"/>
            <a:ext cx="4206240" cy="201168"/>
          </a:xfrm>
          <a:prstGeom prst="rect">
            <a:avLst/>
          </a:prstGeom>
          <a:solidFill>
            <a:srgbClr val="64B5F6"/>
          </a:solidFill>
          <a:ln w="12700">
            <a:solidFill>
              <a:srgbClr val="64B5F6"/>
            </a:solidFill>
            <a:prstDash val="solid"/>
          </a:ln>
        </p:spPr>
      </p:sp>
      <p:sp>
        <p:nvSpPr>
          <p:cNvPr id="13" name="Text 13">
            <a:extLst>
              <a:ext uri="{FF2B5EF4-FFF2-40B4-BE49-F238E27FC236}">
                <a16:creationId xmlns:a16="http://schemas.microsoft.com/office/drawing/2014/main" id="{97AED882-4E4A-69F1-AB16-F892CDDA028C}"/>
              </a:ext>
            </a:extLst>
          </p:cNvPr>
          <p:cNvSpPr/>
          <p:nvPr/>
        </p:nvSpPr>
        <p:spPr>
          <a:xfrm>
            <a:off x="5676154" y="1930413"/>
            <a:ext cx="4059936" cy="329184"/>
          </a:xfrm>
          <a:prstGeom prst="rect">
            <a:avLst/>
          </a:prstGeom>
          <a:noFill/>
          <a:ln/>
        </p:spPr>
        <p:txBody>
          <a:bodyPr wrap="square" rtlCol="0" anchor="ctr"/>
          <a:lstStyle/>
          <a:p>
            <a:pPr marL="0" indent="0">
              <a:buNone/>
            </a:pPr>
            <a:r>
              <a:rPr lang="en-US" b="1" dirty="0">
                <a:solidFill>
                  <a:schemeClr val="accent1">
                    <a:lumMod val="50000"/>
                  </a:schemeClr>
                </a:solidFill>
                <a:latin typeface="Trebuchet MS" pitchFamily="34" charset="0"/>
                <a:ea typeface="Trebuchet MS" pitchFamily="34" charset="-122"/>
                <a:cs typeface="Trebuchet MS" pitchFamily="34" charset="-120"/>
              </a:rPr>
              <a:t>Weighted Avg</a:t>
            </a:r>
            <a:endParaRPr lang="en-US" dirty="0">
              <a:solidFill>
                <a:schemeClr val="accent1">
                  <a:lumMod val="50000"/>
                </a:schemeClr>
              </a:solidFill>
            </a:endParaRPr>
          </a:p>
        </p:txBody>
      </p:sp>
      <p:sp>
        <p:nvSpPr>
          <p:cNvPr id="14" name="Text 14">
            <a:extLst>
              <a:ext uri="{FF2B5EF4-FFF2-40B4-BE49-F238E27FC236}">
                <a16:creationId xmlns:a16="http://schemas.microsoft.com/office/drawing/2014/main" id="{35677B61-5456-B387-02F8-9F54A79FDC61}"/>
              </a:ext>
            </a:extLst>
          </p:cNvPr>
          <p:cNvSpPr/>
          <p:nvPr/>
        </p:nvSpPr>
        <p:spPr>
          <a:xfrm>
            <a:off x="5676154" y="2277885"/>
            <a:ext cx="4059936" cy="274320"/>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P = ω·P_XGB + (1-ω)·P_CLSTM</a:t>
            </a:r>
            <a:endParaRPr lang="en-US" sz="1100" dirty="0"/>
          </a:p>
        </p:txBody>
      </p:sp>
      <p:sp>
        <p:nvSpPr>
          <p:cNvPr id="15" name="Shape 15">
            <a:extLst>
              <a:ext uri="{FF2B5EF4-FFF2-40B4-BE49-F238E27FC236}">
                <a16:creationId xmlns:a16="http://schemas.microsoft.com/office/drawing/2014/main" id="{7373D6B2-2713-CCE6-0171-2B885A0EFE6C}"/>
              </a:ext>
            </a:extLst>
          </p:cNvPr>
          <p:cNvSpPr/>
          <p:nvPr/>
        </p:nvSpPr>
        <p:spPr>
          <a:xfrm>
            <a:off x="5676154" y="2570493"/>
            <a:ext cx="4059936" cy="0"/>
          </a:xfrm>
          <a:prstGeom prst="line">
            <a:avLst/>
          </a:prstGeom>
          <a:noFill/>
          <a:ln w="6350">
            <a:solidFill>
              <a:srgbClr val="64B5F6"/>
            </a:solidFill>
            <a:prstDash val="dash"/>
          </a:ln>
        </p:spPr>
      </p:sp>
      <p:sp>
        <p:nvSpPr>
          <p:cNvPr id="16" name="Text 16">
            <a:extLst>
              <a:ext uri="{FF2B5EF4-FFF2-40B4-BE49-F238E27FC236}">
                <a16:creationId xmlns:a16="http://schemas.microsoft.com/office/drawing/2014/main" id="{228AD1F9-0D38-6ED2-895E-8CC8A91BDD0A}"/>
              </a:ext>
            </a:extLst>
          </p:cNvPr>
          <p:cNvSpPr/>
          <p:nvPr/>
        </p:nvSpPr>
        <p:spPr>
          <a:xfrm>
            <a:off x="5676154" y="2616213"/>
            <a:ext cx="4059936" cy="292608"/>
          </a:xfrm>
          <a:prstGeom prst="rect">
            <a:avLst/>
          </a:prstGeom>
          <a:noFill/>
          <a:ln/>
        </p:spPr>
        <p:txBody>
          <a:bodyPr wrap="square" rtlCol="0" anchor="ctr"/>
          <a:lstStyle/>
          <a:p>
            <a:pPr marL="0" indent="0">
              <a:buNone/>
            </a:pPr>
            <a:r>
              <a:rPr lang="en-US" sz="1200" b="1" dirty="0">
                <a:solidFill>
                  <a:schemeClr val="accent1">
                    <a:lumMod val="50000"/>
                  </a:schemeClr>
                </a:solidFill>
                <a:latin typeface="Calibri" pitchFamily="34" charset="0"/>
                <a:ea typeface="Calibri" pitchFamily="34" charset="-122"/>
                <a:cs typeface="Calibri" pitchFamily="34" charset="-120"/>
              </a:rPr>
              <a:t>AUC-PR=0.0194 ★  AUC-ROC=0.920 ★</a:t>
            </a:r>
            <a:endParaRPr lang="en-US" sz="1200" dirty="0">
              <a:solidFill>
                <a:schemeClr val="accent1">
                  <a:lumMod val="50000"/>
                </a:schemeClr>
              </a:solidFill>
            </a:endParaRPr>
          </a:p>
        </p:txBody>
      </p:sp>
      <p:sp>
        <p:nvSpPr>
          <p:cNvPr id="17" name="Text 17">
            <a:extLst>
              <a:ext uri="{FF2B5EF4-FFF2-40B4-BE49-F238E27FC236}">
                <a16:creationId xmlns:a16="http://schemas.microsoft.com/office/drawing/2014/main" id="{6C380F25-A30F-C7C9-C6AB-112F3930A125}"/>
              </a:ext>
            </a:extLst>
          </p:cNvPr>
          <p:cNvSpPr/>
          <p:nvPr/>
        </p:nvSpPr>
        <p:spPr>
          <a:xfrm>
            <a:off x="5676154" y="2927109"/>
            <a:ext cx="4059936" cy="502920"/>
          </a:xfrm>
          <a:prstGeom prst="rect">
            <a:avLst/>
          </a:prstGeom>
          <a:noFill/>
          <a:ln/>
        </p:spPr>
        <p:txBody>
          <a:bodyPr wrap="square" rtlCol="0" anchor="ctr"/>
          <a:lstStyle/>
          <a:p>
            <a:pPr marL="0" indent="0">
              <a:lnSpc>
                <a:spcPct val="130000"/>
              </a:lnSpc>
              <a:buNone/>
            </a:pPr>
            <a:r>
              <a:rPr lang="en-US" sz="1100" dirty="0">
                <a:latin typeface="Calibri" pitchFamily="34" charset="0"/>
                <a:ea typeface="Calibri" pitchFamily="34" charset="-122"/>
                <a:cs typeface="Calibri" pitchFamily="34" charset="-120"/>
              </a:rPr>
              <a:t>ω được grid-search trên tập validation. Tốt hơn baseline.</a:t>
            </a:r>
            <a:endParaRPr lang="en-US" sz="1100" dirty="0"/>
          </a:p>
        </p:txBody>
      </p:sp>
      <p:sp>
        <p:nvSpPr>
          <p:cNvPr id="18" name="Shape 18">
            <a:extLst>
              <a:ext uri="{FF2B5EF4-FFF2-40B4-BE49-F238E27FC236}">
                <a16:creationId xmlns:a16="http://schemas.microsoft.com/office/drawing/2014/main" id="{0B417327-1C28-FA4E-72F6-A73EDD50044A}"/>
              </a:ext>
            </a:extLst>
          </p:cNvPr>
          <p:cNvSpPr/>
          <p:nvPr/>
        </p:nvSpPr>
        <p:spPr>
          <a:xfrm>
            <a:off x="951345" y="3731781"/>
            <a:ext cx="4206240" cy="1828800"/>
          </a:xfrm>
          <a:prstGeom prst="rect">
            <a:avLst/>
          </a:prstGeom>
          <a:solidFill>
            <a:schemeClr val="bg1"/>
          </a:solidFill>
          <a:ln w="15240">
            <a:solidFill>
              <a:srgbClr val="CE93D8"/>
            </a:solidFill>
            <a:prstDash val="solid"/>
          </a:ln>
          <a:effectLst>
            <a:outerShdw blurRad="101600" dist="38100" dir="8100000" algn="bl" rotWithShape="0">
              <a:srgbClr val="000000">
                <a:alpha val="25000"/>
              </a:srgbClr>
            </a:outerShdw>
          </a:effectLst>
        </p:spPr>
      </p:sp>
      <p:sp>
        <p:nvSpPr>
          <p:cNvPr id="19" name="Shape 19">
            <a:extLst>
              <a:ext uri="{FF2B5EF4-FFF2-40B4-BE49-F238E27FC236}">
                <a16:creationId xmlns:a16="http://schemas.microsoft.com/office/drawing/2014/main" id="{40E6F512-FBA7-8735-F105-8DE420914DA1}"/>
              </a:ext>
            </a:extLst>
          </p:cNvPr>
          <p:cNvSpPr/>
          <p:nvPr/>
        </p:nvSpPr>
        <p:spPr>
          <a:xfrm>
            <a:off x="951345" y="3731781"/>
            <a:ext cx="4206240" cy="201168"/>
          </a:xfrm>
          <a:prstGeom prst="rect">
            <a:avLst/>
          </a:prstGeom>
          <a:solidFill>
            <a:srgbClr val="CE93D8"/>
          </a:solidFill>
          <a:ln w="12700">
            <a:solidFill>
              <a:srgbClr val="CE93D8"/>
            </a:solidFill>
            <a:prstDash val="solid"/>
          </a:ln>
        </p:spPr>
      </p:sp>
      <p:sp>
        <p:nvSpPr>
          <p:cNvPr id="20" name="Text 20">
            <a:extLst>
              <a:ext uri="{FF2B5EF4-FFF2-40B4-BE49-F238E27FC236}">
                <a16:creationId xmlns:a16="http://schemas.microsoft.com/office/drawing/2014/main" id="{56FFBBCD-0C20-B773-2DBE-DED329192DE0}"/>
              </a:ext>
            </a:extLst>
          </p:cNvPr>
          <p:cNvSpPr/>
          <p:nvPr/>
        </p:nvSpPr>
        <p:spPr>
          <a:xfrm>
            <a:off x="1024497" y="3987813"/>
            <a:ext cx="4059936" cy="329184"/>
          </a:xfrm>
          <a:prstGeom prst="rect">
            <a:avLst/>
          </a:prstGeom>
          <a:noFill/>
          <a:ln/>
        </p:spPr>
        <p:txBody>
          <a:bodyPr wrap="square" rtlCol="0" anchor="ctr"/>
          <a:lstStyle/>
          <a:p>
            <a:pPr marL="0" indent="0">
              <a:buNone/>
            </a:pPr>
            <a:r>
              <a:rPr lang="en-US" b="1" dirty="0">
                <a:solidFill>
                  <a:srgbClr val="7030A0"/>
                </a:solidFill>
                <a:latin typeface="Trebuchet MS" pitchFamily="34" charset="0"/>
                <a:ea typeface="Trebuchet MS" pitchFamily="34" charset="-122"/>
                <a:cs typeface="Trebuchet MS" pitchFamily="34" charset="-120"/>
              </a:rPr>
              <a:t>LR Basic</a:t>
            </a:r>
            <a:endParaRPr lang="en-US" dirty="0">
              <a:solidFill>
                <a:srgbClr val="7030A0"/>
              </a:solidFill>
            </a:endParaRPr>
          </a:p>
        </p:txBody>
      </p:sp>
      <p:sp>
        <p:nvSpPr>
          <p:cNvPr id="21" name="Text 21">
            <a:extLst>
              <a:ext uri="{FF2B5EF4-FFF2-40B4-BE49-F238E27FC236}">
                <a16:creationId xmlns:a16="http://schemas.microsoft.com/office/drawing/2014/main" id="{A92D8942-46E4-887F-D04B-32B8E8451B9B}"/>
              </a:ext>
            </a:extLst>
          </p:cNvPr>
          <p:cNvSpPr/>
          <p:nvPr/>
        </p:nvSpPr>
        <p:spPr>
          <a:xfrm>
            <a:off x="1024497" y="4335285"/>
            <a:ext cx="4059936" cy="274320"/>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meta-learner: [P_XGB, P_CLSTM]</a:t>
            </a:r>
            <a:endParaRPr lang="en-US" sz="1100" dirty="0"/>
          </a:p>
        </p:txBody>
      </p:sp>
      <p:sp>
        <p:nvSpPr>
          <p:cNvPr id="22" name="Shape 22">
            <a:extLst>
              <a:ext uri="{FF2B5EF4-FFF2-40B4-BE49-F238E27FC236}">
                <a16:creationId xmlns:a16="http://schemas.microsoft.com/office/drawing/2014/main" id="{6C17099C-C592-251D-1D42-6FFCA7ABE7B1}"/>
              </a:ext>
            </a:extLst>
          </p:cNvPr>
          <p:cNvSpPr/>
          <p:nvPr/>
        </p:nvSpPr>
        <p:spPr>
          <a:xfrm>
            <a:off x="1024497" y="4627893"/>
            <a:ext cx="4059936" cy="0"/>
          </a:xfrm>
          <a:prstGeom prst="line">
            <a:avLst/>
          </a:prstGeom>
          <a:noFill/>
          <a:ln w="6350">
            <a:solidFill>
              <a:srgbClr val="CE93D8"/>
            </a:solidFill>
            <a:prstDash val="dash"/>
          </a:ln>
        </p:spPr>
      </p:sp>
      <p:sp>
        <p:nvSpPr>
          <p:cNvPr id="23" name="Text 23">
            <a:extLst>
              <a:ext uri="{FF2B5EF4-FFF2-40B4-BE49-F238E27FC236}">
                <a16:creationId xmlns:a16="http://schemas.microsoft.com/office/drawing/2014/main" id="{4C0F8C1A-229C-520D-E611-2E447A2BC920}"/>
              </a:ext>
            </a:extLst>
          </p:cNvPr>
          <p:cNvSpPr/>
          <p:nvPr/>
        </p:nvSpPr>
        <p:spPr>
          <a:xfrm>
            <a:off x="1024497" y="4673613"/>
            <a:ext cx="4059936" cy="292608"/>
          </a:xfrm>
          <a:prstGeom prst="rect">
            <a:avLst/>
          </a:prstGeom>
          <a:noFill/>
          <a:ln/>
        </p:spPr>
        <p:txBody>
          <a:bodyPr wrap="square" rtlCol="0" anchor="ctr"/>
          <a:lstStyle/>
          <a:p>
            <a:pPr marL="0" indent="0">
              <a:buNone/>
            </a:pPr>
            <a:r>
              <a:rPr lang="en-US" sz="1200" b="1" dirty="0">
                <a:solidFill>
                  <a:srgbClr val="7030A0"/>
                </a:solidFill>
                <a:latin typeface="Calibri" pitchFamily="34" charset="0"/>
                <a:ea typeface="Calibri" pitchFamily="34" charset="-122"/>
                <a:cs typeface="Calibri" pitchFamily="34" charset="-120"/>
              </a:rPr>
              <a:t>AUC-PR=0.0196 ★  F2=0.099 ★</a:t>
            </a:r>
            <a:endParaRPr lang="en-US" sz="1200" dirty="0">
              <a:solidFill>
                <a:srgbClr val="7030A0"/>
              </a:solidFill>
            </a:endParaRPr>
          </a:p>
        </p:txBody>
      </p:sp>
      <p:sp>
        <p:nvSpPr>
          <p:cNvPr id="24" name="Text 24">
            <a:extLst>
              <a:ext uri="{FF2B5EF4-FFF2-40B4-BE49-F238E27FC236}">
                <a16:creationId xmlns:a16="http://schemas.microsoft.com/office/drawing/2014/main" id="{27287B69-4E98-4AC8-AA35-B32DEEE49780}"/>
              </a:ext>
            </a:extLst>
          </p:cNvPr>
          <p:cNvSpPr/>
          <p:nvPr/>
        </p:nvSpPr>
        <p:spPr>
          <a:xfrm>
            <a:off x="1024497" y="4984509"/>
            <a:ext cx="4059936" cy="502920"/>
          </a:xfrm>
          <a:prstGeom prst="rect">
            <a:avLst/>
          </a:prstGeom>
          <a:noFill/>
          <a:ln/>
        </p:spPr>
        <p:txBody>
          <a:bodyPr wrap="square" rtlCol="0" anchor="ctr"/>
          <a:lstStyle/>
          <a:p>
            <a:pPr marL="0" indent="0">
              <a:lnSpc>
                <a:spcPct val="130000"/>
              </a:lnSpc>
              <a:buNone/>
            </a:pPr>
            <a:r>
              <a:rPr lang="en-US" sz="1100" dirty="0">
                <a:latin typeface="Calibri" pitchFamily="34" charset="0"/>
                <a:ea typeface="Calibri" pitchFamily="34" charset="-122"/>
                <a:cs typeface="Calibri" pitchFamily="34" charset="-120"/>
              </a:rPr>
              <a:t>Học trực tiếp trọng số từ dữ liệu. Tốt ở F2 tổng.</a:t>
            </a:r>
            <a:endParaRPr lang="en-US" sz="1100" dirty="0"/>
          </a:p>
        </p:txBody>
      </p:sp>
      <p:sp>
        <p:nvSpPr>
          <p:cNvPr id="25" name="Shape 25">
            <a:extLst>
              <a:ext uri="{FF2B5EF4-FFF2-40B4-BE49-F238E27FC236}">
                <a16:creationId xmlns:a16="http://schemas.microsoft.com/office/drawing/2014/main" id="{B92BFE27-6BE9-5CEF-E472-7A487F0FFA81}"/>
              </a:ext>
            </a:extLst>
          </p:cNvPr>
          <p:cNvSpPr/>
          <p:nvPr/>
        </p:nvSpPr>
        <p:spPr>
          <a:xfrm>
            <a:off x="5603002" y="3731781"/>
            <a:ext cx="4206240" cy="1828800"/>
          </a:xfrm>
          <a:prstGeom prst="rect">
            <a:avLst/>
          </a:prstGeom>
          <a:solidFill>
            <a:schemeClr val="bg1"/>
          </a:solidFill>
          <a:ln w="15240">
            <a:solidFill>
              <a:srgbClr val="FFD166"/>
            </a:solidFill>
            <a:prstDash val="solid"/>
          </a:ln>
          <a:effectLst>
            <a:outerShdw blurRad="101600" dist="38100" dir="8100000" algn="bl" rotWithShape="0">
              <a:srgbClr val="000000">
                <a:alpha val="25000"/>
              </a:srgbClr>
            </a:outerShdw>
          </a:effectLst>
        </p:spPr>
      </p:sp>
      <p:sp>
        <p:nvSpPr>
          <p:cNvPr id="26" name="Shape 26">
            <a:extLst>
              <a:ext uri="{FF2B5EF4-FFF2-40B4-BE49-F238E27FC236}">
                <a16:creationId xmlns:a16="http://schemas.microsoft.com/office/drawing/2014/main" id="{3774A911-8317-AF60-ECD5-EF1D820EBE13}"/>
              </a:ext>
            </a:extLst>
          </p:cNvPr>
          <p:cNvSpPr/>
          <p:nvPr/>
        </p:nvSpPr>
        <p:spPr>
          <a:xfrm>
            <a:off x="5603002" y="3731781"/>
            <a:ext cx="4206240" cy="201168"/>
          </a:xfrm>
          <a:prstGeom prst="rect">
            <a:avLst/>
          </a:prstGeom>
          <a:solidFill>
            <a:srgbClr val="FFD166"/>
          </a:solidFill>
          <a:ln w="12700">
            <a:solidFill>
              <a:srgbClr val="FFD166"/>
            </a:solidFill>
            <a:prstDash val="solid"/>
          </a:ln>
        </p:spPr>
      </p:sp>
      <p:sp>
        <p:nvSpPr>
          <p:cNvPr id="27" name="Text 27">
            <a:extLst>
              <a:ext uri="{FF2B5EF4-FFF2-40B4-BE49-F238E27FC236}">
                <a16:creationId xmlns:a16="http://schemas.microsoft.com/office/drawing/2014/main" id="{44A8047B-2525-15AB-5340-BB25285D6956}"/>
              </a:ext>
            </a:extLst>
          </p:cNvPr>
          <p:cNvSpPr/>
          <p:nvPr/>
        </p:nvSpPr>
        <p:spPr>
          <a:xfrm>
            <a:off x="5676154" y="3987813"/>
            <a:ext cx="4059936" cy="329184"/>
          </a:xfrm>
          <a:prstGeom prst="rect">
            <a:avLst/>
          </a:prstGeom>
          <a:noFill/>
          <a:ln/>
        </p:spPr>
        <p:txBody>
          <a:bodyPr wrap="square" rtlCol="0" anchor="ctr"/>
          <a:lstStyle/>
          <a:p>
            <a:pPr marL="0" indent="0">
              <a:buNone/>
            </a:pPr>
            <a:r>
              <a:rPr lang="en-US" b="1" dirty="0">
                <a:solidFill>
                  <a:schemeClr val="accent4">
                    <a:lumMod val="75000"/>
                  </a:schemeClr>
                </a:solidFill>
                <a:latin typeface="Trebuchet MS" pitchFamily="34" charset="0"/>
                <a:ea typeface="Trebuchet MS" pitchFamily="34" charset="-122"/>
                <a:cs typeface="Trebuchet MS" pitchFamily="34" charset="-120"/>
              </a:rPr>
              <a:t>LR + Context</a:t>
            </a:r>
            <a:endParaRPr lang="en-US" dirty="0">
              <a:solidFill>
                <a:schemeClr val="accent4">
                  <a:lumMod val="75000"/>
                </a:schemeClr>
              </a:solidFill>
            </a:endParaRPr>
          </a:p>
        </p:txBody>
      </p:sp>
      <p:sp>
        <p:nvSpPr>
          <p:cNvPr id="28" name="Text 28">
            <a:extLst>
              <a:ext uri="{FF2B5EF4-FFF2-40B4-BE49-F238E27FC236}">
                <a16:creationId xmlns:a16="http://schemas.microsoft.com/office/drawing/2014/main" id="{6A531024-1597-5061-5B93-6FA89C5776EB}"/>
              </a:ext>
            </a:extLst>
          </p:cNvPr>
          <p:cNvSpPr/>
          <p:nvPr/>
        </p:nvSpPr>
        <p:spPr>
          <a:xfrm>
            <a:off x="5676154" y="4335285"/>
            <a:ext cx="4059936" cy="274320"/>
          </a:xfrm>
          <a:prstGeom prst="rect">
            <a:avLst/>
          </a:prstGeom>
          <a:noFill/>
          <a:ln/>
        </p:spPr>
        <p:txBody>
          <a:bodyPr wrap="square" rtlCol="0" anchor="ctr"/>
          <a:lstStyle/>
          <a:p>
            <a:pPr marL="0" indent="0">
              <a:buNone/>
            </a:pPr>
            <a:r>
              <a:rPr lang="en-US" sz="1100" i="1" dirty="0">
                <a:latin typeface="Calibri" pitchFamily="34" charset="0"/>
                <a:ea typeface="Calibri" pitchFamily="34" charset="-122"/>
                <a:cs typeface="Calibri" pitchFamily="34" charset="-120"/>
              </a:rPr>
              <a:t>meta-learner: [P_XGB, P_CLSTM, lon, lat, sin/cos_doy]</a:t>
            </a:r>
            <a:endParaRPr lang="en-US" sz="1100" dirty="0"/>
          </a:p>
        </p:txBody>
      </p:sp>
      <p:sp>
        <p:nvSpPr>
          <p:cNvPr id="29" name="Shape 29">
            <a:extLst>
              <a:ext uri="{FF2B5EF4-FFF2-40B4-BE49-F238E27FC236}">
                <a16:creationId xmlns:a16="http://schemas.microsoft.com/office/drawing/2014/main" id="{EFE6AC79-E6DA-8B17-D7F4-7580805607B3}"/>
              </a:ext>
            </a:extLst>
          </p:cNvPr>
          <p:cNvSpPr/>
          <p:nvPr/>
        </p:nvSpPr>
        <p:spPr>
          <a:xfrm>
            <a:off x="5676154" y="4627893"/>
            <a:ext cx="4059936" cy="0"/>
          </a:xfrm>
          <a:prstGeom prst="line">
            <a:avLst/>
          </a:prstGeom>
          <a:noFill/>
          <a:ln w="6350">
            <a:solidFill>
              <a:srgbClr val="FFD166"/>
            </a:solidFill>
            <a:prstDash val="dash"/>
          </a:ln>
        </p:spPr>
      </p:sp>
      <p:sp>
        <p:nvSpPr>
          <p:cNvPr id="30" name="Text 30">
            <a:extLst>
              <a:ext uri="{FF2B5EF4-FFF2-40B4-BE49-F238E27FC236}">
                <a16:creationId xmlns:a16="http://schemas.microsoft.com/office/drawing/2014/main" id="{88ADB1DA-565C-8721-3595-D08723787D26}"/>
              </a:ext>
            </a:extLst>
          </p:cNvPr>
          <p:cNvSpPr/>
          <p:nvPr/>
        </p:nvSpPr>
        <p:spPr>
          <a:xfrm>
            <a:off x="5676154" y="4673613"/>
            <a:ext cx="4059936" cy="292608"/>
          </a:xfrm>
          <a:prstGeom prst="rect">
            <a:avLst/>
          </a:prstGeom>
          <a:noFill/>
          <a:ln/>
        </p:spPr>
        <p:txBody>
          <a:bodyPr wrap="square" rtlCol="0" anchor="ctr"/>
          <a:lstStyle/>
          <a:p>
            <a:pPr marL="0" indent="0">
              <a:buNone/>
            </a:pPr>
            <a:r>
              <a:rPr lang="en-US" sz="1200" b="1" dirty="0">
                <a:solidFill>
                  <a:schemeClr val="accent4">
                    <a:lumMod val="75000"/>
                  </a:schemeClr>
                </a:solidFill>
                <a:latin typeface="Calibri" pitchFamily="34" charset="0"/>
                <a:ea typeface="Calibri" pitchFamily="34" charset="-122"/>
                <a:cs typeface="Calibri" pitchFamily="34" charset="-120"/>
              </a:rPr>
              <a:t>Recall=24.3% (cao nhất)</a:t>
            </a:r>
            <a:endParaRPr lang="en-US" sz="1200" dirty="0">
              <a:solidFill>
                <a:schemeClr val="accent4">
                  <a:lumMod val="75000"/>
                </a:schemeClr>
              </a:solidFill>
            </a:endParaRPr>
          </a:p>
        </p:txBody>
      </p:sp>
      <p:sp>
        <p:nvSpPr>
          <p:cNvPr id="31" name="Text 31">
            <a:extLst>
              <a:ext uri="{FF2B5EF4-FFF2-40B4-BE49-F238E27FC236}">
                <a16:creationId xmlns:a16="http://schemas.microsoft.com/office/drawing/2014/main" id="{FE840BB9-452C-0F0D-1202-889177441E9E}"/>
              </a:ext>
            </a:extLst>
          </p:cNvPr>
          <p:cNvSpPr/>
          <p:nvPr/>
        </p:nvSpPr>
        <p:spPr>
          <a:xfrm>
            <a:off x="5676154" y="4984509"/>
            <a:ext cx="4059936" cy="502920"/>
          </a:xfrm>
          <a:prstGeom prst="rect">
            <a:avLst/>
          </a:prstGeom>
          <a:noFill/>
          <a:ln/>
        </p:spPr>
        <p:txBody>
          <a:bodyPr wrap="square" rtlCol="0" anchor="ctr"/>
          <a:lstStyle/>
          <a:p>
            <a:pPr marL="0" indent="0">
              <a:lnSpc>
                <a:spcPct val="130000"/>
              </a:lnSpc>
              <a:buNone/>
            </a:pPr>
            <a:r>
              <a:rPr lang="en-US" sz="1100" dirty="0">
                <a:latin typeface="Calibri" pitchFamily="34" charset="0"/>
                <a:ea typeface="Calibri" pitchFamily="34" charset="-122"/>
                <a:cs typeface="Calibri" pitchFamily="34" charset="-120"/>
              </a:rPr>
              <a:t>Thêm ngữ cảnh vị trí &amp; thời vụ. Recall tốt nhưng Recall@Pmin thấp.</a:t>
            </a:r>
            <a:endParaRPr lang="en-US" sz="1100" dirty="0"/>
          </a:p>
        </p:txBody>
      </p:sp>
    </p:spTree>
    <p:extLst>
      <p:ext uri="{BB962C8B-B14F-4D97-AF65-F5344CB8AC3E}">
        <p14:creationId xmlns:p14="http://schemas.microsoft.com/office/powerpoint/2010/main" val="562195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59F2-2063-130C-BEF0-F0FDEBA53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81C9F-375A-1009-811E-6C5E86ACBB7D}"/>
              </a:ext>
            </a:extLst>
          </p:cNvPr>
          <p:cNvSpPr>
            <a:spLocks noGrp="1"/>
          </p:cNvSpPr>
          <p:nvPr>
            <p:ph type="title"/>
          </p:nvPr>
        </p:nvSpPr>
        <p:spPr>
          <a:xfrm>
            <a:off x="383175" y="835118"/>
            <a:ext cx="11123024" cy="554902"/>
          </a:xfrm>
        </p:spPr>
        <p:txBody>
          <a:bodyPr>
            <a:normAutofit/>
          </a:bodyPr>
          <a:lstStyle/>
          <a:p>
            <a:r>
              <a:rPr lang="en-US">
                <a:latin typeface="+mn-lt"/>
              </a:rPr>
              <a:t>METRICS ĐÁNH GIÁ</a:t>
            </a:r>
            <a:endParaRPr lang="en-US" sz="2800" dirty="0">
              <a:latin typeface="+mn-lt"/>
            </a:endParaRPr>
          </a:p>
        </p:txBody>
      </p:sp>
      <p:sp>
        <p:nvSpPr>
          <p:cNvPr id="4" name="Shape 4">
            <a:extLst>
              <a:ext uri="{FF2B5EF4-FFF2-40B4-BE49-F238E27FC236}">
                <a16:creationId xmlns:a16="http://schemas.microsoft.com/office/drawing/2014/main" id="{060C633B-BA4B-1AD7-6F28-6438163383EF}"/>
              </a:ext>
            </a:extLst>
          </p:cNvPr>
          <p:cNvSpPr/>
          <p:nvPr/>
        </p:nvSpPr>
        <p:spPr>
          <a:xfrm>
            <a:off x="6008243" y="1457561"/>
            <a:ext cx="4898357" cy="4716996"/>
          </a:xfrm>
          <a:prstGeom prst="rect">
            <a:avLst/>
          </a:prstGeom>
          <a:solidFill>
            <a:schemeClr val="bg1"/>
          </a:solidFill>
          <a:ln w="9525">
            <a:solidFill>
              <a:srgbClr val="C00000"/>
            </a:solidFill>
            <a:prstDash val="solid"/>
          </a:ln>
        </p:spPr>
      </p:sp>
      <p:sp>
        <p:nvSpPr>
          <p:cNvPr id="5" name="Text 5">
            <a:extLst>
              <a:ext uri="{FF2B5EF4-FFF2-40B4-BE49-F238E27FC236}">
                <a16:creationId xmlns:a16="http://schemas.microsoft.com/office/drawing/2014/main" id="{4C5EA388-DD22-B997-0FC2-F8B1739F8A73}"/>
              </a:ext>
            </a:extLst>
          </p:cNvPr>
          <p:cNvSpPr/>
          <p:nvPr/>
        </p:nvSpPr>
        <p:spPr>
          <a:xfrm>
            <a:off x="6008243" y="1457561"/>
            <a:ext cx="4898356" cy="402336"/>
          </a:xfrm>
          <a:prstGeom prst="rect">
            <a:avLst/>
          </a:prstGeom>
          <a:solidFill>
            <a:srgbClr val="009900"/>
          </a:solidFill>
          <a:ln/>
        </p:spPr>
        <p:txBody>
          <a:bodyPr wrap="square" rtlCol="0" anchor="ctr"/>
          <a:lstStyle/>
          <a:p>
            <a:pPr marL="0" indent="0">
              <a:buNone/>
            </a:pPr>
            <a:r>
              <a:rPr lang="en-US" sz="1400" b="1" dirty="0">
                <a:solidFill>
                  <a:schemeClr val="bg1"/>
                </a:solidFill>
                <a:ea typeface="Trebuchet MS" pitchFamily="34" charset="-122"/>
                <a:cs typeface="Trebuchet MS" pitchFamily="34" charset="-120"/>
              </a:rPr>
              <a:t>Bộ </a:t>
            </a:r>
            <a:r>
              <a:rPr lang="en-US" sz="1400" b="1">
                <a:solidFill>
                  <a:schemeClr val="bg1"/>
                </a:solidFill>
                <a:ea typeface="Trebuchet MS" pitchFamily="34" charset="-122"/>
                <a:cs typeface="Trebuchet MS" pitchFamily="34" charset="-120"/>
              </a:rPr>
              <a:t>Metrics đặc thù ngành quản lý rừng</a:t>
            </a:r>
            <a:endParaRPr lang="en-US" sz="1400" dirty="0">
              <a:solidFill>
                <a:schemeClr val="bg1"/>
              </a:solidFill>
            </a:endParaRPr>
          </a:p>
        </p:txBody>
      </p:sp>
      <p:sp>
        <p:nvSpPr>
          <p:cNvPr id="7" name="Text 7">
            <a:extLst>
              <a:ext uri="{FF2B5EF4-FFF2-40B4-BE49-F238E27FC236}">
                <a16:creationId xmlns:a16="http://schemas.microsoft.com/office/drawing/2014/main" id="{7303817D-68C3-7356-0090-2B06FB44F7C4}"/>
              </a:ext>
            </a:extLst>
          </p:cNvPr>
          <p:cNvSpPr/>
          <p:nvPr/>
        </p:nvSpPr>
        <p:spPr>
          <a:xfrm>
            <a:off x="6200223" y="1955909"/>
            <a:ext cx="1210257" cy="320040"/>
          </a:xfrm>
          <a:prstGeom prst="rect">
            <a:avLst/>
          </a:prstGeom>
          <a:solidFill>
            <a:srgbClr val="009900"/>
          </a:solidFill>
          <a:ln>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PEI@5%</a:t>
            </a:r>
            <a:endParaRPr lang="en-US" sz="1400" dirty="0">
              <a:solidFill>
                <a:schemeClr val="bg1"/>
              </a:solidFill>
            </a:endParaRPr>
          </a:p>
        </p:txBody>
      </p:sp>
      <p:sp>
        <p:nvSpPr>
          <p:cNvPr id="8" name="Text 8">
            <a:extLst>
              <a:ext uri="{FF2B5EF4-FFF2-40B4-BE49-F238E27FC236}">
                <a16:creationId xmlns:a16="http://schemas.microsoft.com/office/drawing/2014/main" id="{1B1B031E-3F4B-AF35-B785-1855037BEC9D}"/>
              </a:ext>
            </a:extLst>
          </p:cNvPr>
          <p:cNvSpPr/>
          <p:nvPr/>
        </p:nvSpPr>
        <p:spPr>
          <a:xfrm>
            <a:off x="7410482" y="2015345"/>
            <a:ext cx="3253481" cy="219456"/>
          </a:xfrm>
          <a:prstGeom prst="rect">
            <a:avLst/>
          </a:prstGeom>
          <a:noFill/>
          <a:ln/>
        </p:spPr>
        <p:txBody>
          <a:bodyPr wrap="square" rtlCol="0" anchor="ctr"/>
          <a:lstStyle/>
          <a:p>
            <a:pPr marL="0" indent="0">
              <a:buNone/>
            </a:pPr>
            <a:r>
              <a:rPr lang="en-US" sz="1400" b="1" dirty="0">
                <a:solidFill>
                  <a:srgbClr val="009900"/>
                </a:solidFill>
                <a:latin typeface="Calibri" pitchFamily="34" charset="0"/>
                <a:ea typeface="Calibri" pitchFamily="34" charset="-122"/>
                <a:cs typeface="Calibri" pitchFamily="34" charset="-120"/>
              </a:rPr>
              <a:t>Patrol Efficiency Index</a:t>
            </a:r>
            <a:endParaRPr lang="en-US" sz="1400" dirty="0">
              <a:solidFill>
                <a:srgbClr val="009900"/>
              </a:solidFill>
            </a:endParaRPr>
          </a:p>
        </p:txBody>
      </p:sp>
      <p:sp>
        <p:nvSpPr>
          <p:cNvPr id="9" name="Text 9">
            <a:extLst>
              <a:ext uri="{FF2B5EF4-FFF2-40B4-BE49-F238E27FC236}">
                <a16:creationId xmlns:a16="http://schemas.microsoft.com/office/drawing/2014/main" id="{5F31F236-4DD2-BD43-44FF-1B229D231542}"/>
              </a:ext>
            </a:extLst>
          </p:cNvPr>
          <p:cNvSpPr/>
          <p:nvPr/>
        </p:nvSpPr>
        <p:spPr>
          <a:xfrm>
            <a:off x="6127116" y="2299091"/>
            <a:ext cx="4321744" cy="284879"/>
          </a:xfrm>
          <a:prstGeom prst="rect">
            <a:avLst/>
          </a:prstGeom>
          <a:noFill/>
          <a:ln/>
        </p:spPr>
        <p:txBody>
          <a:bodyPr wrap="square" rtlCol="0" anchor="ctr"/>
          <a:lstStyle/>
          <a:p>
            <a:pPr marL="0" indent="0">
              <a:buNone/>
            </a:pPr>
            <a:r>
              <a:rPr lang="en-US" sz="1400" i="1" dirty="0">
                <a:solidFill>
                  <a:srgbClr val="009900"/>
                </a:solidFill>
                <a:latin typeface="Calibri" pitchFamily="34" charset="0"/>
                <a:ea typeface="Calibri" pitchFamily="34" charset="-122"/>
                <a:cs typeface="Calibri" pitchFamily="34" charset="-120"/>
              </a:rPr>
              <a:t>Formula: Recall@K / K</a:t>
            </a:r>
            <a:endParaRPr lang="en-US" sz="1400" dirty="0">
              <a:solidFill>
                <a:srgbClr val="009900"/>
              </a:solidFill>
            </a:endParaRPr>
          </a:p>
        </p:txBody>
      </p:sp>
      <p:sp>
        <p:nvSpPr>
          <p:cNvPr id="10" name="Text 10">
            <a:extLst>
              <a:ext uri="{FF2B5EF4-FFF2-40B4-BE49-F238E27FC236}">
                <a16:creationId xmlns:a16="http://schemas.microsoft.com/office/drawing/2014/main" id="{A6313812-43D6-66E1-4811-D8BE9A97403B}"/>
              </a:ext>
            </a:extLst>
          </p:cNvPr>
          <p:cNvSpPr/>
          <p:nvPr/>
        </p:nvSpPr>
        <p:spPr>
          <a:xfrm>
            <a:off x="6127115" y="2583971"/>
            <a:ext cx="4550110" cy="475488"/>
          </a:xfrm>
          <a:prstGeom prst="rect">
            <a:avLst/>
          </a:prstGeom>
          <a:noFill/>
          <a:ln/>
        </p:spPr>
        <p:txBody>
          <a:bodyPr wrap="square" rtlCol="0" anchor="ctr"/>
          <a:lstStyle/>
          <a:p>
            <a:pPr marL="0" indent="0">
              <a:lnSpc>
                <a:spcPct val="125000"/>
              </a:lnSpc>
              <a:buNone/>
            </a:pPr>
            <a:r>
              <a:rPr lang="en-US" sz="1200" dirty="0">
                <a:latin typeface="Calibri" pitchFamily="34" charset="0"/>
                <a:ea typeface="Calibri" pitchFamily="34" charset="-122"/>
                <a:cs typeface="Calibri" pitchFamily="34" charset="-120"/>
              </a:rPr>
              <a:t>Mỗi 1% tuần tra → bắt được bao nhiêu % cháy</a:t>
            </a:r>
            <a:r>
              <a:rPr lang="en-US" sz="1200">
                <a:latin typeface="Calibri" pitchFamily="34" charset="0"/>
                <a:ea typeface="Calibri" pitchFamily="34" charset="-122"/>
                <a:cs typeface="Calibri" pitchFamily="34" charset="-120"/>
              </a:rPr>
              <a:t>? </a:t>
            </a:r>
          </a:p>
          <a:p>
            <a:pPr marL="0" indent="0">
              <a:lnSpc>
                <a:spcPct val="125000"/>
              </a:lnSpc>
              <a:buNone/>
            </a:pPr>
            <a:r>
              <a:rPr lang="en-US" sz="1200">
                <a:latin typeface="Calibri" pitchFamily="34" charset="0"/>
                <a:ea typeface="Calibri" pitchFamily="34" charset="-122"/>
                <a:cs typeface="Calibri" pitchFamily="34" charset="-120"/>
              </a:rPr>
              <a:t>XGBoost</a:t>
            </a:r>
            <a:r>
              <a:rPr lang="en-US" sz="1200" dirty="0">
                <a:latin typeface="Calibri" pitchFamily="34" charset="0"/>
                <a:ea typeface="Calibri" pitchFamily="34" charset="-122"/>
                <a:cs typeface="Calibri" pitchFamily="34" charset="-120"/>
              </a:rPr>
              <a:t>: 11.42x hiệu quả hơn ngẫu nhiên</a:t>
            </a:r>
            <a:endParaRPr lang="en-US" sz="1200" dirty="0"/>
          </a:p>
        </p:txBody>
      </p:sp>
      <p:sp>
        <p:nvSpPr>
          <p:cNvPr id="12" name="Text 12">
            <a:extLst>
              <a:ext uri="{FF2B5EF4-FFF2-40B4-BE49-F238E27FC236}">
                <a16:creationId xmlns:a16="http://schemas.microsoft.com/office/drawing/2014/main" id="{A8464D3E-C875-B850-D575-3C4E5BD8892E}"/>
              </a:ext>
            </a:extLst>
          </p:cNvPr>
          <p:cNvSpPr/>
          <p:nvPr/>
        </p:nvSpPr>
        <p:spPr>
          <a:xfrm>
            <a:off x="6200224" y="3212316"/>
            <a:ext cx="1210256" cy="320040"/>
          </a:xfrm>
          <a:prstGeom prst="rect">
            <a:avLst/>
          </a:prstGeom>
          <a:solidFill>
            <a:srgbClr val="009900"/>
          </a:solidFill>
          <a:ln>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FRES@5%</a:t>
            </a:r>
            <a:endParaRPr lang="en-US" sz="1400" dirty="0">
              <a:solidFill>
                <a:schemeClr val="bg1"/>
              </a:solidFill>
            </a:endParaRPr>
          </a:p>
        </p:txBody>
      </p:sp>
      <p:sp>
        <p:nvSpPr>
          <p:cNvPr id="13" name="Text 13">
            <a:extLst>
              <a:ext uri="{FF2B5EF4-FFF2-40B4-BE49-F238E27FC236}">
                <a16:creationId xmlns:a16="http://schemas.microsoft.com/office/drawing/2014/main" id="{04A0CDEE-0876-B25E-7BC4-227DC109CC05}"/>
              </a:ext>
            </a:extLst>
          </p:cNvPr>
          <p:cNvSpPr/>
          <p:nvPr/>
        </p:nvSpPr>
        <p:spPr>
          <a:xfrm>
            <a:off x="7410481" y="3271752"/>
            <a:ext cx="3253482" cy="219456"/>
          </a:xfrm>
          <a:prstGeom prst="rect">
            <a:avLst/>
          </a:prstGeom>
          <a:noFill/>
          <a:ln/>
        </p:spPr>
        <p:txBody>
          <a:bodyPr wrap="square" rtlCol="0" anchor="ctr"/>
          <a:lstStyle/>
          <a:p>
            <a:pPr marL="0" indent="0">
              <a:buNone/>
            </a:pPr>
            <a:r>
              <a:rPr lang="en-US" sz="1400" b="1" dirty="0">
                <a:solidFill>
                  <a:srgbClr val="009900"/>
                </a:solidFill>
                <a:latin typeface="Calibri" pitchFamily="34" charset="0"/>
                <a:ea typeface="Calibri" pitchFamily="34" charset="-122"/>
                <a:cs typeface="Calibri" pitchFamily="34" charset="-120"/>
              </a:rPr>
              <a:t>Fire Response Efficiency Score</a:t>
            </a:r>
            <a:endParaRPr lang="en-US" sz="1400" dirty="0">
              <a:solidFill>
                <a:srgbClr val="009900"/>
              </a:solidFill>
            </a:endParaRPr>
          </a:p>
        </p:txBody>
      </p:sp>
      <p:sp>
        <p:nvSpPr>
          <p:cNvPr id="14" name="Text 14">
            <a:extLst>
              <a:ext uri="{FF2B5EF4-FFF2-40B4-BE49-F238E27FC236}">
                <a16:creationId xmlns:a16="http://schemas.microsoft.com/office/drawing/2014/main" id="{BB44D692-03F8-4A51-558B-FD223226BA01}"/>
              </a:ext>
            </a:extLst>
          </p:cNvPr>
          <p:cNvSpPr/>
          <p:nvPr/>
        </p:nvSpPr>
        <p:spPr>
          <a:xfrm>
            <a:off x="6127116" y="3555498"/>
            <a:ext cx="4321744" cy="284879"/>
          </a:xfrm>
          <a:prstGeom prst="rect">
            <a:avLst/>
          </a:prstGeom>
          <a:noFill/>
          <a:ln/>
        </p:spPr>
        <p:txBody>
          <a:bodyPr wrap="square" rtlCol="0" anchor="ctr"/>
          <a:lstStyle/>
          <a:p>
            <a:pPr marL="0" indent="0">
              <a:buNone/>
            </a:pPr>
            <a:r>
              <a:rPr lang="en-US" sz="1400" i="1" dirty="0">
                <a:solidFill>
                  <a:srgbClr val="009900"/>
                </a:solidFill>
                <a:latin typeface="Calibri" pitchFamily="34" charset="0"/>
                <a:ea typeface="Calibri" pitchFamily="34" charset="-122"/>
                <a:cs typeface="Calibri" pitchFamily="34" charset="-120"/>
              </a:rPr>
              <a:t>Formula: 0.7×Recall + 0.3×Precision@K</a:t>
            </a:r>
            <a:endParaRPr lang="en-US" sz="1400" dirty="0">
              <a:solidFill>
                <a:srgbClr val="009900"/>
              </a:solidFill>
            </a:endParaRPr>
          </a:p>
        </p:txBody>
      </p:sp>
      <p:sp>
        <p:nvSpPr>
          <p:cNvPr id="15" name="Text 15">
            <a:extLst>
              <a:ext uri="{FF2B5EF4-FFF2-40B4-BE49-F238E27FC236}">
                <a16:creationId xmlns:a16="http://schemas.microsoft.com/office/drawing/2014/main" id="{5FA06F55-879C-4013-E0E8-0F48F95106B4}"/>
              </a:ext>
            </a:extLst>
          </p:cNvPr>
          <p:cNvSpPr/>
          <p:nvPr/>
        </p:nvSpPr>
        <p:spPr>
          <a:xfrm>
            <a:off x="6127115" y="3840378"/>
            <a:ext cx="4664083" cy="475488"/>
          </a:xfrm>
          <a:prstGeom prst="rect">
            <a:avLst/>
          </a:prstGeom>
          <a:noFill/>
          <a:ln/>
        </p:spPr>
        <p:txBody>
          <a:bodyPr wrap="square" rtlCol="0" anchor="ctr"/>
          <a:lstStyle/>
          <a:p>
            <a:pPr marL="0" indent="0">
              <a:lnSpc>
                <a:spcPct val="125000"/>
              </a:lnSpc>
              <a:buNone/>
            </a:pPr>
            <a:r>
              <a:rPr lang="en-US" sz="1200" dirty="0">
                <a:latin typeface="Calibri" pitchFamily="34" charset="0"/>
                <a:ea typeface="Calibri" pitchFamily="34" charset="-122"/>
                <a:cs typeface="Calibri" pitchFamily="34" charset="-120"/>
              </a:rPr>
              <a:t>Kết hợp hiệu quả phát hiện + độ chính xác. Tránh lãng phí nguồn lực kiểm lâm</a:t>
            </a:r>
            <a:endParaRPr lang="en-US" sz="1200" dirty="0"/>
          </a:p>
        </p:txBody>
      </p:sp>
      <p:sp>
        <p:nvSpPr>
          <p:cNvPr id="17" name="Text 17">
            <a:extLst>
              <a:ext uri="{FF2B5EF4-FFF2-40B4-BE49-F238E27FC236}">
                <a16:creationId xmlns:a16="http://schemas.microsoft.com/office/drawing/2014/main" id="{BB212E34-A5D3-7961-A104-63E7E4AC3A83}"/>
              </a:ext>
            </a:extLst>
          </p:cNvPr>
          <p:cNvSpPr/>
          <p:nvPr/>
        </p:nvSpPr>
        <p:spPr>
          <a:xfrm>
            <a:off x="6200224" y="4548985"/>
            <a:ext cx="1210256" cy="320040"/>
          </a:xfrm>
          <a:prstGeom prst="rect">
            <a:avLst/>
          </a:prstGeom>
          <a:solidFill>
            <a:srgbClr val="009900"/>
          </a:solidFill>
          <a:ln>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Recall@P_min</a:t>
            </a:r>
            <a:endParaRPr lang="en-US" sz="1400" dirty="0">
              <a:solidFill>
                <a:schemeClr val="bg1"/>
              </a:solidFill>
            </a:endParaRPr>
          </a:p>
        </p:txBody>
      </p:sp>
      <p:sp>
        <p:nvSpPr>
          <p:cNvPr id="18" name="Text 18">
            <a:extLst>
              <a:ext uri="{FF2B5EF4-FFF2-40B4-BE49-F238E27FC236}">
                <a16:creationId xmlns:a16="http://schemas.microsoft.com/office/drawing/2014/main" id="{EB19F4E3-0214-F0E0-C992-25AE034ED622}"/>
              </a:ext>
            </a:extLst>
          </p:cNvPr>
          <p:cNvSpPr/>
          <p:nvPr/>
        </p:nvSpPr>
        <p:spPr>
          <a:xfrm>
            <a:off x="7410480" y="4612993"/>
            <a:ext cx="3253483" cy="219456"/>
          </a:xfrm>
          <a:prstGeom prst="rect">
            <a:avLst/>
          </a:prstGeom>
          <a:noFill/>
          <a:ln/>
        </p:spPr>
        <p:txBody>
          <a:bodyPr wrap="square" rtlCol="0" anchor="ctr"/>
          <a:lstStyle/>
          <a:p>
            <a:pPr marL="0" indent="0">
              <a:buNone/>
            </a:pPr>
            <a:r>
              <a:rPr lang="en-US" sz="1400" b="1" dirty="0">
                <a:solidFill>
                  <a:srgbClr val="009900"/>
                </a:solidFill>
                <a:latin typeface="Calibri" pitchFamily="34" charset="0"/>
                <a:ea typeface="Calibri" pitchFamily="34" charset="-122"/>
                <a:cs typeface="Calibri" pitchFamily="34" charset="-120"/>
              </a:rPr>
              <a:t>Recall với ràng buộc Precision ≥ 5%</a:t>
            </a:r>
            <a:endParaRPr lang="en-US" sz="1400" dirty="0">
              <a:solidFill>
                <a:srgbClr val="009900"/>
              </a:solidFill>
            </a:endParaRPr>
          </a:p>
        </p:txBody>
      </p:sp>
      <p:sp>
        <p:nvSpPr>
          <p:cNvPr id="19" name="Text 19">
            <a:extLst>
              <a:ext uri="{FF2B5EF4-FFF2-40B4-BE49-F238E27FC236}">
                <a16:creationId xmlns:a16="http://schemas.microsoft.com/office/drawing/2014/main" id="{797E6E48-575C-759E-A538-667CCA5549CF}"/>
              </a:ext>
            </a:extLst>
          </p:cNvPr>
          <p:cNvSpPr/>
          <p:nvPr/>
        </p:nvSpPr>
        <p:spPr>
          <a:xfrm>
            <a:off x="6127116" y="4896739"/>
            <a:ext cx="4321744" cy="284879"/>
          </a:xfrm>
          <a:prstGeom prst="rect">
            <a:avLst/>
          </a:prstGeom>
          <a:noFill/>
          <a:ln/>
        </p:spPr>
        <p:txBody>
          <a:bodyPr wrap="square" rtlCol="0" anchor="ctr"/>
          <a:lstStyle/>
          <a:p>
            <a:pPr marL="0" indent="0">
              <a:buNone/>
            </a:pPr>
            <a:r>
              <a:rPr lang="en-US" sz="1400" i="1" dirty="0">
                <a:solidFill>
                  <a:srgbClr val="009900"/>
                </a:solidFill>
                <a:latin typeface="Calibri" pitchFamily="34" charset="0"/>
                <a:ea typeface="Calibri" pitchFamily="34" charset="-122"/>
                <a:cs typeface="Calibri" pitchFamily="34" charset="-120"/>
              </a:rPr>
              <a:t>Formula: max Recall | Precision≥5%</a:t>
            </a:r>
            <a:endParaRPr lang="en-US" sz="1400" dirty="0">
              <a:solidFill>
                <a:srgbClr val="009900"/>
              </a:solidFill>
            </a:endParaRPr>
          </a:p>
        </p:txBody>
      </p:sp>
      <p:sp>
        <p:nvSpPr>
          <p:cNvPr id="20" name="Text 20">
            <a:extLst>
              <a:ext uri="{FF2B5EF4-FFF2-40B4-BE49-F238E27FC236}">
                <a16:creationId xmlns:a16="http://schemas.microsoft.com/office/drawing/2014/main" id="{068758D1-8616-BE19-A82E-974539815E1E}"/>
              </a:ext>
            </a:extLst>
          </p:cNvPr>
          <p:cNvSpPr/>
          <p:nvPr/>
        </p:nvSpPr>
        <p:spPr>
          <a:xfrm>
            <a:off x="6127115" y="5181619"/>
            <a:ext cx="4664084" cy="475488"/>
          </a:xfrm>
          <a:prstGeom prst="rect">
            <a:avLst/>
          </a:prstGeom>
          <a:noFill/>
          <a:ln/>
        </p:spPr>
        <p:txBody>
          <a:bodyPr wrap="square" rtlCol="0" anchor="ctr"/>
          <a:lstStyle/>
          <a:p>
            <a:pPr marL="0" indent="0">
              <a:lnSpc>
                <a:spcPct val="125000"/>
              </a:lnSpc>
              <a:buNone/>
            </a:pPr>
            <a:r>
              <a:rPr lang="en-US" sz="1200" dirty="0">
                <a:latin typeface="Calibri" pitchFamily="34" charset="0"/>
                <a:ea typeface="Calibri" pitchFamily="34" charset="-122"/>
                <a:cs typeface="Calibri" pitchFamily="34" charset="-120"/>
              </a:rPr>
              <a:t>Bao nhiêu cháy phát hiện được khi 1/20 cảnh báo là cháy thật</a:t>
            </a:r>
            <a:r>
              <a:rPr lang="en-US" sz="1200">
                <a:latin typeface="Calibri" pitchFamily="34" charset="0"/>
                <a:ea typeface="Calibri" pitchFamily="34" charset="-122"/>
                <a:cs typeface="Calibri" pitchFamily="34" charset="-120"/>
              </a:rPr>
              <a:t>. XGBoost </a:t>
            </a:r>
            <a:r>
              <a:rPr lang="en-US" sz="1200" dirty="0">
                <a:latin typeface="Calibri" pitchFamily="34" charset="0"/>
                <a:ea typeface="Calibri" pitchFamily="34" charset="-122"/>
                <a:cs typeface="Calibri" pitchFamily="34" charset="-120"/>
              </a:rPr>
              <a:t>= 2.08%</a:t>
            </a:r>
            <a:endParaRPr lang="en-US" sz="1200" dirty="0"/>
          </a:p>
        </p:txBody>
      </p:sp>
      <p:sp>
        <p:nvSpPr>
          <p:cNvPr id="21" name="Shape 4">
            <a:extLst>
              <a:ext uri="{FF2B5EF4-FFF2-40B4-BE49-F238E27FC236}">
                <a16:creationId xmlns:a16="http://schemas.microsoft.com/office/drawing/2014/main" id="{AA1E690B-6FE0-3541-70B7-F5AA92D71267}"/>
              </a:ext>
            </a:extLst>
          </p:cNvPr>
          <p:cNvSpPr/>
          <p:nvPr/>
        </p:nvSpPr>
        <p:spPr>
          <a:xfrm>
            <a:off x="617539" y="1457561"/>
            <a:ext cx="4898357" cy="4716996"/>
          </a:xfrm>
          <a:prstGeom prst="rect">
            <a:avLst/>
          </a:prstGeom>
          <a:solidFill>
            <a:schemeClr val="bg1"/>
          </a:solidFill>
          <a:ln w="9525">
            <a:solidFill>
              <a:srgbClr val="C00000"/>
            </a:solidFill>
            <a:prstDash val="solid"/>
          </a:ln>
        </p:spPr>
      </p:sp>
      <p:sp>
        <p:nvSpPr>
          <p:cNvPr id="22" name="Text 5">
            <a:extLst>
              <a:ext uri="{FF2B5EF4-FFF2-40B4-BE49-F238E27FC236}">
                <a16:creationId xmlns:a16="http://schemas.microsoft.com/office/drawing/2014/main" id="{F97358DA-534A-5544-ED8D-65752C2BB69B}"/>
              </a:ext>
            </a:extLst>
          </p:cNvPr>
          <p:cNvSpPr/>
          <p:nvPr/>
        </p:nvSpPr>
        <p:spPr>
          <a:xfrm>
            <a:off x="617539" y="1457561"/>
            <a:ext cx="4898356" cy="402336"/>
          </a:xfrm>
          <a:prstGeom prst="rect">
            <a:avLst/>
          </a:prstGeom>
          <a:solidFill>
            <a:srgbClr val="C00000"/>
          </a:solidFill>
          <a:ln/>
        </p:spPr>
        <p:txBody>
          <a:bodyPr wrap="square" rtlCol="0" anchor="ctr"/>
          <a:lstStyle/>
          <a:p>
            <a:pPr marL="0" indent="0">
              <a:buNone/>
            </a:pPr>
            <a:r>
              <a:rPr lang="en-US" sz="1400" b="1" dirty="0">
                <a:solidFill>
                  <a:schemeClr val="bg1"/>
                </a:solidFill>
                <a:ea typeface="Trebuchet MS" pitchFamily="34" charset="-122"/>
                <a:cs typeface="Trebuchet MS" pitchFamily="34" charset="-120"/>
              </a:rPr>
              <a:t>Bộ </a:t>
            </a:r>
            <a:r>
              <a:rPr lang="en-US" sz="1400" b="1">
                <a:solidFill>
                  <a:schemeClr val="bg1"/>
                </a:solidFill>
                <a:ea typeface="Trebuchet MS" pitchFamily="34" charset="-122"/>
                <a:cs typeface="Trebuchet MS" pitchFamily="34" charset="-120"/>
              </a:rPr>
              <a:t>Metrics tiêu chuẩn</a:t>
            </a:r>
            <a:endParaRPr lang="en-US" sz="1400" dirty="0">
              <a:solidFill>
                <a:schemeClr val="bg1"/>
              </a:solidFill>
            </a:endParaRPr>
          </a:p>
        </p:txBody>
      </p:sp>
      <p:sp>
        <p:nvSpPr>
          <p:cNvPr id="23" name="Text 7">
            <a:extLst>
              <a:ext uri="{FF2B5EF4-FFF2-40B4-BE49-F238E27FC236}">
                <a16:creationId xmlns:a16="http://schemas.microsoft.com/office/drawing/2014/main" id="{D37E6723-E2F7-83B0-26AF-97D99F5AFE1E}"/>
              </a:ext>
            </a:extLst>
          </p:cNvPr>
          <p:cNvSpPr/>
          <p:nvPr/>
        </p:nvSpPr>
        <p:spPr>
          <a:xfrm>
            <a:off x="809519" y="1955909"/>
            <a:ext cx="1210257" cy="320040"/>
          </a:xfrm>
          <a:prstGeom prst="rect">
            <a:avLst/>
          </a:prstGeom>
          <a:solidFill>
            <a:srgbClr val="C00000"/>
          </a:solidFill>
          <a:ln>
            <a:noFill/>
          </a:ln>
        </p:spPr>
        <p:txBody>
          <a:bodyPr wrap="square" lIns="0" tIns="0" rIns="0" bIns="0" rtlCol="0" anchor="ctr"/>
          <a:lstStyle/>
          <a:p>
            <a:pPr marL="0" indent="0" algn="ctr">
              <a:buNone/>
            </a:pPr>
            <a:r>
              <a:rPr lang="en-US" sz="1400" b="1">
                <a:solidFill>
                  <a:schemeClr val="bg1"/>
                </a:solidFill>
                <a:latin typeface="Calibri" pitchFamily="34" charset="0"/>
                <a:ea typeface="Calibri" pitchFamily="34" charset="-122"/>
                <a:cs typeface="Calibri" pitchFamily="34" charset="-120"/>
              </a:rPr>
              <a:t>Precision</a:t>
            </a:r>
            <a:endParaRPr lang="en-US" sz="1400" dirty="0">
              <a:solidFill>
                <a:schemeClr val="bg1"/>
              </a:solidFill>
            </a:endParaRPr>
          </a:p>
        </p:txBody>
      </p:sp>
      <p:sp>
        <p:nvSpPr>
          <p:cNvPr id="24" name="Text 8">
            <a:extLst>
              <a:ext uri="{FF2B5EF4-FFF2-40B4-BE49-F238E27FC236}">
                <a16:creationId xmlns:a16="http://schemas.microsoft.com/office/drawing/2014/main" id="{88DE39C5-B192-6158-F176-0CBB425CD8C0}"/>
              </a:ext>
            </a:extLst>
          </p:cNvPr>
          <p:cNvSpPr/>
          <p:nvPr/>
        </p:nvSpPr>
        <p:spPr>
          <a:xfrm>
            <a:off x="2019778" y="2015345"/>
            <a:ext cx="2960015" cy="219456"/>
          </a:xfrm>
          <a:prstGeom prst="rect">
            <a:avLst/>
          </a:prstGeom>
          <a:noFill/>
          <a:ln/>
        </p:spPr>
        <p:txBody>
          <a:bodyPr wrap="square" rtlCol="0" anchor="ctr"/>
          <a:lstStyle/>
          <a:p>
            <a:pPr marL="0" indent="0">
              <a:buNone/>
            </a:pPr>
            <a:endParaRPr lang="en-US" sz="1400" dirty="0">
              <a:solidFill>
                <a:srgbClr val="C00000"/>
              </a:solidFill>
            </a:endParaRPr>
          </a:p>
        </p:txBody>
      </p:sp>
      <p:sp>
        <p:nvSpPr>
          <p:cNvPr id="26" name="Text 10">
            <a:extLst>
              <a:ext uri="{FF2B5EF4-FFF2-40B4-BE49-F238E27FC236}">
                <a16:creationId xmlns:a16="http://schemas.microsoft.com/office/drawing/2014/main" id="{09491D0C-7BA3-A79F-FEA3-1540BA4763E0}"/>
              </a:ext>
            </a:extLst>
          </p:cNvPr>
          <p:cNvSpPr/>
          <p:nvPr/>
        </p:nvSpPr>
        <p:spPr>
          <a:xfrm>
            <a:off x="736411" y="2271147"/>
            <a:ext cx="4321744" cy="475488"/>
          </a:xfrm>
          <a:prstGeom prst="rect">
            <a:avLst/>
          </a:prstGeom>
          <a:noFill/>
          <a:ln/>
        </p:spPr>
        <p:txBody>
          <a:bodyPr wrap="square" rtlCol="0" anchor="ctr"/>
          <a:lstStyle/>
          <a:p>
            <a:r>
              <a:rPr lang="en-US" sz="1200">
                <a:latin typeface="Calibri" panose="020F0502020204030204" pitchFamily="34" charset="0"/>
                <a:ea typeface="Calibri" panose="020F0502020204030204" pitchFamily="34" charset="0"/>
                <a:cs typeface="Calibri" panose="020F0502020204030204" pitchFamily="34" charset="0"/>
              </a:rPr>
              <a:t>T</a:t>
            </a:r>
            <a:r>
              <a:rPr lang="vi-VN" sz="1200">
                <a:latin typeface="Calibri" panose="020F0502020204030204" pitchFamily="34" charset="0"/>
                <a:ea typeface="Calibri" panose="020F0502020204030204" pitchFamily="34" charset="0"/>
                <a:cs typeface="Calibri" panose="020F0502020204030204" pitchFamily="34" charset="0"/>
              </a:rPr>
              <a:t>ỷ lệ số điểm cháy dự báo đúng trên tổng số điểm được mô hình cảnh báo cháy</a:t>
            </a:r>
          </a:p>
        </p:txBody>
      </p:sp>
      <p:sp>
        <p:nvSpPr>
          <p:cNvPr id="59" name="Text 7">
            <a:extLst>
              <a:ext uri="{FF2B5EF4-FFF2-40B4-BE49-F238E27FC236}">
                <a16:creationId xmlns:a16="http://schemas.microsoft.com/office/drawing/2014/main" id="{2FB7362F-D60A-2ABA-1D93-CCDA92D44750}"/>
              </a:ext>
            </a:extLst>
          </p:cNvPr>
          <p:cNvSpPr/>
          <p:nvPr/>
        </p:nvSpPr>
        <p:spPr>
          <a:xfrm>
            <a:off x="809519" y="2803821"/>
            <a:ext cx="1210257" cy="320040"/>
          </a:xfrm>
          <a:prstGeom prst="rect">
            <a:avLst/>
          </a:prstGeom>
          <a:solidFill>
            <a:srgbClr val="C00000"/>
          </a:solidFill>
          <a:ln>
            <a:noFill/>
          </a:ln>
        </p:spPr>
        <p:txBody>
          <a:bodyPr wrap="square" lIns="0" tIns="0" rIns="0" bIns="0" rtlCol="0" anchor="ctr"/>
          <a:lstStyle/>
          <a:p>
            <a:pPr marL="0" indent="0" algn="ctr">
              <a:buNone/>
            </a:pPr>
            <a:r>
              <a:rPr lang="en-US" sz="1400" b="1">
                <a:solidFill>
                  <a:schemeClr val="bg1"/>
                </a:solidFill>
                <a:latin typeface="Calibri" pitchFamily="34" charset="0"/>
                <a:ea typeface="Calibri" pitchFamily="34" charset="-122"/>
                <a:cs typeface="Calibri" pitchFamily="34" charset="-120"/>
              </a:rPr>
              <a:t>Recall</a:t>
            </a:r>
            <a:endParaRPr lang="en-US" sz="1400" dirty="0">
              <a:solidFill>
                <a:schemeClr val="bg1"/>
              </a:solidFill>
            </a:endParaRPr>
          </a:p>
        </p:txBody>
      </p:sp>
      <p:sp>
        <p:nvSpPr>
          <p:cNvPr id="60" name="Text 8">
            <a:extLst>
              <a:ext uri="{FF2B5EF4-FFF2-40B4-BE49-F238E27FC236}">
                <a16:creationId xmlns:a16="http://schemas.microsoft.com/office/drawing/2014/main" id="{A531D417-5955-8D69-DD6B-05EBC5AB3165}"/>
              </a:ext>
            </a:extLst>
          </p:cNvPr>
          <p:cNvSpPr/>
          <p:nvPr/>
        </p:nvSpPr>
        <p:spPr>
          <a:xfrm>
            <a:off x="2019778" y="2863257"/>
            <a:ext cx="2960015" cy="219456"/>
          </a:xfrm>
          <a:prstGeom prst="rect">
            <a:avLst/>
          </a:prstGeom>
          <a:noFill/>
          <a:ln/>
        </p:spPr>
        <p:txBody>
          <a:bodyPr wrap="square" rtlCol="0" anchor="ctr"/>
          <a:lstStyle/>
          <a:p>
            <a:pPr marL="0" indent="0">
              <a:buNone/>
            </a:pPr>
            <a:endParaRPr lang="en-US" sz="1400" dirty="0">
              <a:solidFill>
                <a:srgbClr val="C00000"/>
              </a:solidFill>
            </a:endParaRPr>
          </a:p>
        </p:txBody>
      </p:sp>
      <p:sp>
        <p:nvSpPr>
          <p:cNvPr id="61" name="Text 10">
            <a:extLst>
              <a:ext uri="{FF2B5EF4-FFF2-40B4-BE49-F238E27FC236}">
                <a16:creationId xmlns:a16="http://schemas.microsoft.com/office/drawing/2014/main" id="{977F80DB-2C2A-39DF-0151-5C98385082FB}"/>
              </a:ext>
            </a:extLst>
          </p:cNvPr>
          <p:cNvSpPr/>
          <p:nvPr/>
        </p:nvSpPr>
        <p:spPr>
          <a:xfrm>
            <a:off x="736411" y="3119059"/>
            <a:ext cx="4321744" cy="475488"/>
          </a:xfrm>
          <a:prstGeom prst="rect">
            <a:avLst/>
          </a:prstGeom>
          <a:noFill/>
          <a:ln/>
        </p:spPr>
        <p:txBody>
          <a:bodyPr wrap="square" rtlCol="0" anchor="ctr"/>
          <a:lstStyle/>
          <a:p>
            <a:r>
              <a:rPr lang="en-US" sz="1200">
                <a:latin typeface="Calibri" panose="020F0502020204030204" pitchFamily="34" charset="0"/>
                <a:ea typeface="Calibri" panose="020F0502020204030204" pitchFamily="34" charset="0"/>
                <a:cs typeface="Calibri" panose="020F0502020204030204" pitchFamily="34" charset="0"/>
              </a:rPr>
              <a:t>T</a:t>
            </a:r>
            <a:r>
              <a:rPr lang="vi-VN" sz="1200">
                <a:latin typeface="Calibri" panose="020F0502020204030204" pitchFamily="34" charset="0"/>
                <a:ea typeface="Calibri" panose="020F0502020204030204" pitchFamily="34" charset="0"/>
                <a:cs typeface="Calibri" panose="020F0502020204030204" pitchFamily="34" charset="0"/>
              </a:rPr>
              <a:t>ỷ lệ số điểm cháy dự báo đúng trên tổng số điểm được mô hình cảnh báo cháy</a:t>
            </a:r>
          </a:p>
        </p:txBody>
      </p:sp>
      <p:sp>
        <p:nvSpPr>
          <p:cNvPr id="62" name="Text 7">
            <a:extLst>
              <a:ext uri="{FF2B5EF4-FFF2-40B4-BE49-F238E27FC236}">
                <a16:creationId xmlns:a16="http://schemas.microsoft.com/office/drawing/2014/main" id="{2D21387F-66A8-4939-6662-0E150318B940}"/>
              </a:ext>
            </a:extLst>
          </p:cNvPr>
          <p:cNvSpPr/>
          <p:nvPr/>
        </p:nvSpPr>
        <p:spPr>
          <a:xfrm>
            <a:off x="809519" y="3630893"/>
            <a:ext cx="1210257" cy="320040"/>
          </a:xfrm>
          <a:prstGeom prst="rect">
            <a:avLst/>
          </a:prstGeom>
          <a:solidFill>
            <a:srgbClr val="C00000"/>
          </a:solidFill>
          <a:ln>
            <a:noFill/>
          </a:ln>
        </p:spPr>
        <p:txBody>
          <a:bodyPr wrap="square" lIns="0" tIns="0" rIns="0" bIns="0" rtlCol="0" anchor="ctr"/>
          <a:lstStyle/>
          <a:p>
            <a:pPr marL="0" indent="0" algn="ctr">
              <a:buNone/>
            </a:pPr>
            <a:r>
              <a:rPr lang="en-US" sz="1400" b="1">
                <a:solidFill>
                  <a:schemeClr val="bg1"/>
                </a:solidFill>
                <a:latin typeface="Calibri" pitchFamily="34" charset="0"/>
                <a:ea typeface="Calibri" pitchFamily="34" charset="-122"/>
                <a:cs typeface="Calibri" pitchFamily="34" charset="-120"/>
              </a:rPr>
              <a:t>AUC-PR</a:t>
            </a:r>
            <a:endParaRPr lang="en-US" sz="1400" dirty="0">
              <a:solidFill>
                <a:schemeClr val="bg1"/>
              </a:solidFill>
            </a:endParaRPr>
          </a:p>
        </p:txBody>
      </p:sp>
      <p:sp>
        <p:nvSpPr>
          <p:cNvPr id="63" name="Text 8">
            <a:extLst>
              <a:ext uri="{FF2B5EF4-FFF2-40B4-BE49-F238E27FC236}">
                <a16:creationId xmlns:a16="http://schemas.microsoft.com/office/drawing/2014/main" id="{AF59E939-D7A4-8093-6874-91A174490C91}"/>
              </a:ext>
            </a:extLst>
          </p:cNvPr>
          <p:cNvSpPr/>
          <p:nvPr/>
        </p:nvSpPr>
        <p:spPr>
          <a:xfrm>
            <a:off x="2019778" y="3690329"/>
            <a:ext cx="3253482" cy="219456"/>
          </a:xfrm>
          <a:prstGeom prst="rect">
            <a:avLst/>
          </a:prstGeom>
          <a:noFill/>
          <a:ln/>
        </p:spPr>
        <p:txBody>
          <a:bodyPr wrap="square" rtlCol="0" anchor="ctr"/>
          <a:lstStyle/>
          <a:p>
            <a:r>
              <a:rPr lang="en-GB" sz="1400" b="1">
                <a:solidFill>
                  <a:srgbClr val="C00000"/>
                </a:solidFill>
              </a:rPr>
              <a:t>Area Under Precision–Recall Curve</a:t>
            </a:r>
          </a:p>
        </p:txBody>
      </p:sp>
      <p:sp>
        <p:nvSpPr>
          <p:cNvPr id="64" name="Text 10">
            <a:extLst>
              <a:ext uri="{FF2B5EF4-FFF2-40B4-BE49-F238E27FC236}">
                <a16:creationId xmlns:a16="http://schemas.microsoft.com/office/drawing/2014/main" id="{77C5B584-064D-9692-0664-52112AA33F6D}"/>
              </a:ext>
            </a:extLst>
          </p:cNvPr>
          <p:cNvSpPr/>
          <p:nvPr/>
        </p:nvSpPr>
        <p:spPr>
          <a:xfrm>
            <a:off x="736411" y="3946131"/>
            <a:ext cx="4321744" cy="475488"/>
          </a:xfrm>
          <a:prstGeom prst="rect">
            <a:avLst/>
          </a:prstGeom>
          <a:noFill/>
          <a:ln/>
        </p:spPr>
        <p:txBody>
          <a:bodyPr wrap="square" rtlCol="0" anchor="ctr"/>
          <a:lstStyle/>
          <a:p>
            <a:r>
              <a:rPr lang="en-US" sz="1200"/>
              <a:t>Đánh giá sự cân bằng giữa </a:t>
            </a:r>
            <a:r>
              <a:rPr lang="en-US" sz="1200" b="1"/>
              <a:t>precision</a:t>
            </a:r>
            <a:r>
              <a:rPr lang="en-US" sz="1200"/>
              <a:t> và </a:t>
            </a:r>
            <a:r>
              <a:rPr lang="en-US" sz="1200" b="1"/>
              <a:t>recall</a:t>
            </a:r>
            <a:endParaRPr lang="vi-VN" sz="1200">
              <a:latin typeface="Calibri" panose="020F0502020204030204" pitchFamily="34" charset="0"/>
              <a:ea typeface="Calibri" panose="020F0502020204030204" pitchFamily="34" charset="0"/>
              <a:cs typeface="Calibri" panose="020F0502020204030204" pitchFamily="34" charset="0"/>
            </a:endParaRPr>
          </a:p>
        </p:txBody>
      </p:sp>
      <p:sp>
        <p:nvSpPr>
          <p:cNvPr id="65" name="Text 7">
            <a:extLst>
              <a:ext uri="{FF2B5EF4-FFF2-40B4-BE49-F238E27FC236}">
                <a16:creationId xmlns:a16="http://schemas.microsoft.com/office/drawing/2014/main" id="{A20B5043-05B9-D1D4-D8F9-D607A72C0ECD}"/>
              </a:ext>
            </a:extLst>
          </p:cNvPr>
          <p:cNvSpPr/>
          <p:nvPr/>
        </p:nvSpPr>
        <p:spPr>
          <a:xfrm>
            <a:off x="809519" y="4481848"/>
            <a:ext cx="1210257" cy="320040"/>
          </a:xfrm>
          <a:prstGeom prst="rect">
            <a:avLst/>
          </a:prstGeom>
          <a:solidFill>
            <a:srgbClr val="C00000"/>
          </a:solidFill>
          <a:ln>
            <a:noFill/>
          </a:ln>
        </p:spPr>
        <p:txBody>
          <a:bodyPr wrap="square" lIns="0" tIns="0" rIns="0" bIns="0" rtlCol="0" anchor="ctr"/>
          <a:lstStyle/>
          <a:p>
            <a:pPr marL="0" indent="0" algn="ctr">
              <a:buNone/>
            </a:pPr>
            <a:r>
              <a:rPr lang="en-US" sz="1400" b="1">
                <a:solidFill>
                  <a:schemeClr val="bg1"/>
                </a:solidFill>
                <a:latin typeface="Calibri" pitchFamily="34" charset="0"/>
                <a:ea typeface="Calibri" pitchFamily="34" charset="-122"/>
                <a:cs typeface="Calibri" pitchFamily="34" charset="-120"/>
              </a:rPr>
              <a:t>AUC-ROC</a:t>
            </a:r>
            <a:endParaRPr lang="en-US" sz="1400" dirty="0">
              <a:solidFill>
                <a:schemeClr val="bg1"/>
              </a:solidFill>
            </a:endParaRPr>
          </a:p>
        </p:txBody>
      </p:sp>
      <p:sp>
        <p:nvSpPr>
          <p:cNvPr id="66" name="Text 8">
            <a:extLst>
              <a:ext uri="{FF2B5EF4-FFF2-40B4-BE49-F238E27FC236}">
                <a16:creationId xmlns:a16="http://schemas.microsoft.com/office/drawing/2014/main" id="{517CAADA-32D4-DE44-7587-DA2D186055A0}"/>
              </a:ext>
            </a:extLst>
          </p:cNvPr>
          <p:cNvSpPr/>
          <p:nvPr/>
        </p:nvSpPr>
        <p:spPr>
          <a:xfrm>
            <a:off x="2019778" y="4541284"/>
            <a:ext cx="3253482" cy="219456"/>
          </a:xfrm>
          <a:prstGeom prst="rect">
            <a:avLst/>
          </a:prstGeom>
          <a:noFill/>
          <a:ln/>
        </p:spPr>
        <p:txBody>
          <a:bodyPr wrap="square" rtlCol="0" anchor="ctr"/>
          <a:lstStyle/>
          <a:p>
            <a:r>
              <a:rPr lang="en-US" sz="1400" b="1">
                <a:solidFill>
                  <a:srgbClr val="C00000"/>
                </a:solidFill>
              </a:rPr>
              <a:t>Area Under Receiver Operating Characteristic Curve</a:t>
            </a:r>
            <a:endParaRPr lang="en-US" sz="1400" b="1" dirty="0">
              <a:solidFill>
                <a:srgbClr val="C00000"/>
              </a:solidFill>
            </a:endParaRPr>
          </a:p>
        </p:txBody>
      </p:sp>
      <p:sp>
        <p:nvSpPr>
          <p:cNvPr id="67" name="Text 10">
            <a:extLst>
              <a:ext uri="{FF2B5EF4-FFF2-40B4-BE49-F238E27FC236}">
                <a16:creationId xmlns:a16="http://schemas.microsoft.com/office/drawing/2014/main" id="{DF28355C-5F98-71A7-0068-7F013CE240A2}"/>
              </a:ext>
            </a:extLst>
          </p:cNvPr>
          <p:cNvSpPr/>
          <p:nvPr/>
        </p:nvSpPr>
        <p:spPr>
          <a:xfrm>
            <a:off x="736411" y="4834794"/>
            <a:ext cx="4321744" cy="475488"/>
          </a:xfrm>
          <a:prstGeom prst="rect">
            <a:avLst/>
          </a:prstGeom>
          <a:noFill/>
          <a:ln/>
        </p:spPr>
        <p:txBody>
          <a:bodyPr wrap="square" rtlCol="0" anchor="ctr"/>
          <a:lstStyle/>
          <a:p>
            <a:r>
              <a:rPr lang="en-US" sz="1200"/>
              <a:t>Đo khả năng mô hình phân biệt giữa hai lớp cháy và không cháy một cách tổng quát, độc lập với ngưỡng dự báo cụ thể</a:t>
            </a:r>
            <a:endParaRPr lang="vi-VN" sz="1200">
              <a:latin typeface="Calibri" panose="020F0502020204030204" pitchFamily="34" charset="0"/>
              <a:ea typeface="Calibri" panose="020F0502020204030204" pitchFamily="34" charset="0"/>
              <a:cs typeface="Calibri" panose="020F0502020204030204" pitchFamily="34" charset="0"/>
            </a:endParaRPr>
          </a:p>
        </p:txBody>
      </p:sp>
      <p:sp>
        <p:nvSpPr>
          <p:cNvPr id="68" name="Text 7">
            <a:extLst>
              <a:ext uri="{FF2B5EF4-FFF2-40B4-BE49-F238E27FC236}">
                <a16:creationId xmlns:a16="http://schemas.microsoft.com/office/drawing/2014/main" id="{BA6165B2-4160-E916-33D4-765F2AD44410}"/>
              </a:ext>
            </a:extLst>
          </p:cNvPr>
          <p:cNvSpPr/>
          <p:nvPr/>
        </p:nvSpPr>
        <p:spPr>
          <a:xfrm>
            <a:off x="809519" y="5368263"/>
            <a:ext cx="1210257" cy="320040"/>
          </a:xfrm>
          <a:prstGeom prst="rect">
            <a:avLst/>
          </a:prstGeom>
          <a:solidFill>
            <a:srgbClr val="C00000"/>
          </a:solidFill>
          <a:ln>
            <a:noFill/>
          </a:ln>
        </p:spPr>
        <p:txBody>
          <a:bodyPr wrap="square" lIns="0" tIns="0" rIns="0" bIns="0" rtlCol="0" anchor="ctr"/>
          <a:lstStyle/>
          <a:p>
            <a:pPr marL="0" indent="0" algn="ctr">
              <a:buNone/>
            </a:pPr>
            <a:r>
              <a:rPr lang="en-US" sz="1400" b="1">
                <a:solidFill>
                  <a:schemeClr val="bg1"/>
                </a:solidFill>
                <a:latin typeface="Calibri" pitchFamily="34" charset="0"/>
                <a:ea typeface="Calibri" pitchFamily="34" charset="-122"/>
                <a:cs typeface="Calibri" pitchFamily="34" charset="-120"/>
              </a:rPr>
              <a:t>F2-Score</a:t>
            </a:r>
            <a:endParaRPr lang="en-US" sz="1400" dirty="0">
              <a:solidFill>
                <a:schemeClr val="bg1"/>
              </a:solidFill>
            </a:endParaRPr>
          </a:p>
        </p:txBody>
      </p:sp>
      <p:sp>
        <p:nvSpPr>
          <p:cNvPr id="69" name="Text 8">
            <a:extLst>
              <a:ext uri="{FF2B5EF4-FFF2-40B4-BE49-F238E27FC236}">
                <a16:creationId xmlns:a16="http://schemas.microsoft.com/office/drawing/2014/main" id="{4AC581E9-2375-3CD8-5DB8-6EA4F6E85103}"/>
              </a:ext>
            </a:extLst>
          </p:cNvPr>
          <p:cNvSpPr/>
          <p:nvPr/>
        </p:nvSpPr>
        <p:spPr>
          <a:xfrm>
            <a:off x="2019778" y="5427699"/>
            <a:ext cx="2960015" cy="219456"/>
          </a:xfrm>
          <a:prstGeom prst="rect">
            <a:avLst/>
          </a:prstGeom>
          <a:noFill/>
          <a:ln/>
        </p:spPr>
        <p:txBody>
          <a:bodyPr wrap="square" rtlCol="0" anchor="ctr"/>
          <a:lstStyle/>
          <a:p>
            <a:pPr marL="0" indent="0">
              <a:buNone/>
            </a:pPr>
            <a:endParaRPr lang="en-US" sz="1400" dirty="0">
              <a:solidFill>
                <a:srgbClr val="C00000"/>
              </a:solidFill>
            </a:endParaRPr>
          </a:p>
        </p:txBody>
      </p:sp>
      <p:sp>
        <p:nvSpPr>
          <p:cNvPr id="70" name="Text 10">
            <a:extLst>
              <a:ext uri="{FF2B5EF4-FFF2-40B4-BE49-F238E27FC236}">
                <a16:creationId xmlns:a16="http://schemas.microsoft.com/office/drawing/2014/main" id="{E309BC71-4E01-D304-A511-13F64F2DBD5A}"/>
              </a:ext>
            </a:extLst>
          </p:cNvPr>
          <p:cNvSpPr/>
          <p:nvPr/>
        </p:nvSpPr>
        <p:spPr>
          <a:xfrm>
            <a:off x="736411" y="5683501"/>
            <a:ext cx="4321744" cy="475488"/>
          </a:xfrm>
          <a:prstGeom prst="rect">
            <a:avLst/>
          </a:prstGeom>
          <a:noFill/>
          <a:ln/>
        </p:spPr>
        <p:txBody>
          <a:bodyPr wrap="square" rtlCol="0" anchor="ctr"/>
          <a:lstStyle/>
          <a:p>
            <a:r>
              <a:rPr lang="en-US" sz="1200"/>
              <a:t>F2-score là biến thể của F-beta score với β = 2, cho trọng số recall gấp bốn lần precision</a:t>
            </a:r>
            <a:endParaRPr lang="vi-VN" sz="1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88865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DF735-AC8F-1124-9392-0CE594379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BE54F-C2F7-A54F-92AE-1899BFD194AA}"/>
              </a:ext>
            </a:extLst>
          </p:cNvPr>
          <p:cNvSpPr>
            <a:spLocks noGrp="1"/>
          </p:cNvSpPr>
          <p:nvPr>
            <p:ph type="title"/>
          </p:nvPr>
        </p:nvSpPr>
        <p:spPr>
          <a:xfrm>
            <a:off x="383175" y="835118"/>
            <a:ext cx="11123024" cy="554902"/>
          </a:xfrm>
        </p:spPr>
        <p:txBody>
          <a:bodyPr>
            <a:normAutofit/>
          </a:bodyPr>
          <a:lstStyle/>
          <a:p>
            <a:r>
              <a:rPr lang="en-US">
                <a:latin typeface="+mn-lt"/>
              </a:rPr>
              <a:t>KẾT QUẢ SO SÁNH CÁC MÔ HÌNH</a:t>
            </a:r>
            <a:endParaRPr lang="en-US" sz="2800" dirty="0">
              <a:latin typeface="+mn-lt"/>
            </a:endParaRPr>
          </a:p>
        </p:txBody>
      </p:sp>
      <p:pic>
        <p:nvPicPr>
          <p:cNvPr id="90" name="Picture 89">
            <a:extLst>
              <a:ext uri="{FF2B5EF4-FFF2-40B4-BE49-F238E27FC236}">
                <a16:creationId xmlns:a16="http://schemas.microsoft.com/office/drawing/2014/main" id="{561C4622-CFD5-0096-D3A6-20F6AFD10B5A}"/>
              </a:ext>
            </a:extLst>
          </p:cNvPr>
          <p:cNvPicPr>
            <a:picLocks noChangeAspect="1"/>
          </p:cNvPicPr>
          <p:nvPr/>
        </p:nvPicPr>
        <p:blipFill>
          <a:blip r:embed="rId3"/>
          <a:stretch>
            <a:fillRect/>
          </a:stretch>
        </p:blipFill>
        <p:spPr>
          <a:xfrm>
            <a:off x="2761952" y="1369324"/>
            <a:ext cx="6668095" cy="2598796"/>
          </a:xfrm>
          <a:prstGeom prst="rect">
            <a:avLst/>
          </a:prstGeom>
        </p:spPr>
      </p:pic>
      <p:pic>
        <p:nvPicPr>
          <p:cNvPr id="92" name="Picture 91">
            <a:extLst>
              <a:ext uri="{FF2B5EF4-FFF2-40B4-BE49-F238E27FC236}">
                <a16:creationId xmlns:a16="http://schemas.microsoft.com/office/drawing/2014/main" id="{F951B1AF-54C1-DA05-310D-9AD016CD4718}"/>
              </a:ext>
            </a:extLst>
          </p:cNvPr>
          <p:cNvPicPr>
            <a:picLocks noChangeAspect="1"/>
          </p:cNvPicPr>
          <p:nvPr/>
        </p:nvPicPr>
        <p:blipFill>
          <a:blip r:embed="rId4"/>
          <a:stretch>
            <a:fillRect/>
          </a:stretch>
        </p:blipFill>
        <p:spPr>
          <a:xfrm>
            <a:off x="3988341" y="4071816"/>
            <a:ext cx="3912692" cy="2220510"/>
          </a:xfrm>
          <a:prstGeom prst="rect">
            <a:avLst/>
          </a:prstGeom>
        </p:spPr>
      </p:pic>
    </p:spTree>
    <p:extLst>
      <p:ext uri="{BB962C8B-B14F-4D97-AF65-F5344CB8AC3E}">
        <p14:creationId xmlns:p14="http://schemas.microsoft.com/office/powerpoint/2010/main" val="2060941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32F59-6A7F-50A4-FC13-B6CFF05A4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4F445-1717-3B38-54B3-E04A0FDF30D5}"/>
              </a:ext>
            </a:extLst>
          </p:cNvPr>
          <p:cNvSpPr>
            <a:spLocks noGrp="1"/>
          </p:cNvSpPr>
          <p:nvPr>
            <p:ph type="title"/>
          </p:nvPr>
        </p:nvSpPr>
        <p:spPr>
          <a:xfrm>
            <a:off x="383175" y="835118"/>
            <a:ext cx="11123024" cy="554902"/>
          </a:xfrm>
        </p:spPr>
        <p:txBody>
          <a:bodyPr>
            <a:normAutofit/>
          </a:bodyPr>
          <a:lstStyle/>
          <a:p>
            <a:r>
              <a:rPr lang="en-US">
                <a:latin typeface="+mn-lt"/>
              </a:rPr>
              <a:t>KẾT QUẢ SO SÁNH CÁC MÔ HÌNH</a:t>
            </a:r>
            <a:endParaRPr lang="en-US" sz="2800" dirty="0">
              <a:latin typeface="+mn-lt"/>
            </a:endParaRPr>
          </a:p>
        </p:txBody>
      </p:sp>
      <p:pic>
        <p:nvPicPr>
          <p:cNvPr id="3" name="Picture 2">
            <a:extLst>
              <a:ext uri="{FF2B5EF4-FFF2-40B4-BE49-F238E27FC236}">
                <a16:creationId xmlns:a16="http://schemas.microsoft.com/office/drawing/2014/main" id="{F027C5F9-2D1B-29DC-AC7D-B525DADCEC3F}"/>
              </a:ext>
            </a:extLst>
          </p:cNvPr>
          <p:cNvPicPr>
            <a:picLocks noChangeAspect="1"/>
          </p:cNvPicPr>
          <p:nvPr/>
        </p:nvPicPr>
        <p:blipFill>
          <a:blip r:embed="rId3"/>
          <a:stretch>
            <a:fillRect/>
          </a:stretch>
        </p:blipFill>
        <p:spPr>
          <a:xfrm>
            <a:off x="999993" y="1987252"/>
            <a:ext cx="9479327" cy="3649131"/>
          </a:xfrm>
          <a:prstGeom prst="rect">
            <a:avLst/>
          </a:prstGeom>
        </p:spPr>
      </p:pic>
    </p:spTree>
    <p:extLst>
      <p:ext uri="{BB962C8B-B14F-4D97-AF65-F5344CB8AC3E}">
        <p14:creationId xmlns:p14="http://schemas.microsoft.com/office/powerpoint/2010/main" val="3812243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FE611-0E21-D9B8-8900-8F6827815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A462A-E6B4-F979-8905-2682772551A1}"/>
              </a:ext>
            </a:extLst>
          </p:cNvPr>
          <p:cNvSpPr>
            <a:spLocks noGrp="1"/>
          </p:cNvSpPr>
          <p:nvPr>
            <p:ph type="title"/>
          </p:nvPr>
        </p:nvSpPr>
        <p:spPr>
          <a:xfrm>
            <a:off x="383175" y="835118"/>
            <a:ext cx="11123024" cy="554902"/>
          </a:xfrm>
        </p:spPr>
        <p:txBody>
          <a:bodyPr>
            <a:normAutofit/>
          </a:bodyPr>
          <a:lstStyle/>
          <a:p>
            <a:r>
              <a:rPr lang="en-US">
                <a:latin typeface="+mn-lt"/>
              </a:rPr>
              <a:t>SO SÁNH VỚI PHƯƠNG PHÁP WEIGHTED OVERLAY</a:t>
            </a:r>
            <a:endParaRPr lang="en-US" sz="2800" dirty="0">
              <a:latin typeface="+mn-lt"/>
            </a:endParaRPr>
          </a:p>
        </p:txBody>
      </p:sp>
      <p:sp>
        <p:nvSpPr>
          <p:cNvPr id="4" name="Text 4">
            <a:extLst>
              <a:ext uri="{FF2B5EF4-FFF2-40B4-BE49-F238E27FC236}">
                <a16:creationId xmlns:a16="http://schemas.microsoft.com/office/drawing/2014/main" id="{87ADE0D6-74D3-1B3C-814B-20AAB28ADC5E}"/>
              </a:ext>
            </a:extLst>
          </p:cNvPr>
          <p:cNvSpPr/>
          <p:nvPr/>
        </p:nvSpPr>
        <p:spPr>
          <a:xfrm>
            <a:off x="462856" y="1513907"/>
            <a:ext cx="5029200" cy="320040"/>
          </a:xfrm>
          <a:prstGeom prst="rect">
            <a:avLst/>
          </a:prstGeom>
          <a:noFill/>
          <a:ln/>
        </p:spPr>
        <p:txBody>
          <a:bodyPr wrap="square" rtlCol="0" anchor="ctr"/>
          <a:lstStyle/>
          <a:p>
            <a:pPr marL="0" indent="0">
              <a:buNone/>
            </a:pPr>
            <a:r>
              <a:rPr lang="en-US" sz="1200" b="1" dirty="0">
                <a:solidFill>
                  <a:srgbClr val="C00000"/>
                </a:solidFill>
                <a:latin typeface="Trebuchet MS" pitchFamily="34" charset="0"/>
                <a:ea typeface="Trebuchet MS" pitchFamily="34" charset="-122"/>
                <a:cs typeface="Trebuchet MS" pitchFamily="34" charset="-120"/>
              </a:rPr>
              <a:t>QUÁ </a:t>
            </a:r>
            <a:r>
              <a:rPr lang="en-US" sz="1200" b="1">
                <a:solidFill>
                  <a:srgbClr val="C00000"/>
                </a:solidFill>
                <a:latin typeface="Trebuchet MS" pitchFamily="34" charset="0"/>
                <a:ea typeface="Trebuchet MS" pitchFamily="34" charset="-122"/>
                <a:cs typeface="Trebuchet MS" pitchFamily="34" charset="-120"/>
              </a:rPr>
              <a:t>TRÌNH TÁI HIỆN KẾT QUẢ BÀI BÁO</a:t>
            </a:r>
            <a:endParaRPr lang="en-US" sz="1200" dirty="0">
              <a:solidFill>
                <a:srgbClr val="C00000"/>
              </a:solidFill>
            </a:endParaRPr>
          </a:p>
        </p:txBody>
      </p:sp>
      <p:sp>
        <p:nvSpPr>
          <p:cNvPr id="5" name="Shape 5">
            <a:extLst>
              <a:ext uri="{FF2B5EF4-FFF2-40B4-BE49-F238E27FC236}">
                <a16:creationId xmlns:a16="http://schemas.microsoft.com/office/drawing/2014/main" id="{C8410CD9-3B10-CC25-9F19-65942F4578DE}"/>
              </a:ext>
            </a:extLst>
          </p:cNvPr>
          <p:cNvSpPr/>
          <p:nvPr/>
        </p:nvSpPr>
        <p:spPr>
          <a:xfrm>
            <a:off x="462856" y="1885281"/>
            <a:ext cx="1110306" cy="516536"/>
          </a:xfrm>
          <a:prstGeom prst="rect">
            <a:avLst/>
          </a:prstGeom>
          <a:solidFill>
            <a:srgbClr val="C00000"/>
          </a:solidFill>
          <a:ln w="12700">
            <a:solidFill>
              <a:srgbClr val="C00000"/>
            </a:solidFill>
            <a:prstDash val="solid"/>
          </a:ln>
        </p:spPr>
      </p:sp>
      <p:sp>
        <p:nvSpPr>
          <p:cNvPr id="9" name="Text 9">
            <a:extLst>
              <a:ext uri="{FF2B5EF4-FFF2-40B4-BE49-F238E27FC236}">
                <a16:creationId xmlns:a16="http://schemas.microsoft.com/office/drawing/2014/main" id="{E59B5642-0287-BE44-FB1D-C5BDC660DDED}"/>
              </a:ext>
            </a:extLst>
          </p:cNvPr>
          <p:cNvSpPr/>
          <p:nvPr/>
        </p:nvSpPr>
        <p:spPr>
          <a:xfrm>
            <a:off x="462856" y="1880609"/>
            <a:ext cx="1110306" cy="516536"/>
          </a:xfrm>
          <a:prstGeom prst="rect">
            <a:avLst/>
          </a:prstGeom>
          <a:solidFill>
            <a:srgbClr val="C00000"/>
          </a:solidFill>
          <a:ln>
            <a:solidFill>
              <a:srgbClr val="C00000"/>
            </a:solidFill>
          </a:ln>
        </p:spPr>
        <p:txBody>
          <a:bodyPr wrap="square" rtlCol="0" anchor="ctr"/>
          <a:lstStyle/>
          <a:p>
            <a:pPr marL="0" indent="0" algn="ctr">
              <a:buNone/>
            </a:pPr>
            <a:r>
              <a:rPr lang="en-US" sz="1050">
                <a:solidFill>
                  <a:schemeClr val="bg1"/>
                </a:solidFill>
                <a:latin typeface="Calibri" pitchFamily="34" charset="0"/>
                <a:ea typeface="Calibri" pitchFamily="34" charset="-122"/>
                <a:cs typeface="Calibri" pitchFamily="34" charset="-120"/>
              </a:rPr>
              <a:t>Tổng hợp dữ liệu</a:t>
            </a:r>
            <a:endParaRPr lang="en-US" sz="1050" dirty="0">
              <a:solidFill>
                <a:schemeClr val="bg1"/>
              </a:solidFill>
            </a:endParaRPr>
          </a:p>
        </p:txBody>
      </p:sp>
      <p:sp>
        <p:nvSpPr>
          <p:cNvPr id="3" name="Shape 5">
            <a:extLst>
              <a:ext uri="{FF2B5EF4-FFF2-40B4-BE49-F238E27FC236}">
                <a16:creationId xmlns:a16="http://schemas.microsoft.com/office/drawing/2014/main" id="{96705ED8-0842-D9F0-CF44-43E7F28E6D8A}"/>
              </a:ext>
            </a:extLst>
          </p:cNvPr>
          <p:cNvSpPr/>
          <p:nvPr/>
        </p:nvSpPr>
        <p:spPr>
          <a:xfrm>
            <a:off x="1774329" y="1879667"/>
            <a:ext cx="1110306" cy="516536"/>
          </a:xfrm>
          <a:prstGeom prst="rect">
            <a:avLst/>
          </a:prstGeom>
          <a:solidFill>
            <a:srgbClr val="C00000"/>
          </a:solidFill>
          <a:ln w="12700">
            <a:solidFill>
              <a:srgbClr val="C00000"/>
            </a:solidFill>
            <a:prstDash val="solid"/>
          </a:ln>
        </p:spPr>
      </p:sp>
      <p:sp>
        <p:nvSpPr>
          <p:cNvPr id="10" name="Text 9">
            <a:extLst>
              <a:ext uri="{FF2B5EF4-FFF2-40B4-BE49-F238E27FC236}">
                <a16:creationId xmlns:a16="http://schemas.microsoft.com/office/drawing/2014/main" id="{4053FF07-0729-C1DA-0C0E-430D1FFF1E8B}"/>
              </a:ext>
            </a:extLst>
          </p:cNvPr>
          <p:cNvSpPr/>
          <p:nvPr/>
        </p:nvSpPr>
        <p:spPr>
          <a:xfrm>
            <a:off x="1774329" y="1893283"/>
            <a:ext cx="1110306" cy="502920"/>
          </a:xfrm>
          <a:prstGeom prst="rect">
            <a:avLst/>
          </a:prstGeom>
          <a:noFill/>
          <a:ln>
            <a:solidFill>
              <a:srgbClr val="C00000"/>
            </a:solidFill>
          </a:ln>
        </p:spPr>
        <p:txBody>
          <a:bodyPr wrap="square" rtlCol="0" anchor="ctr"/>
          <a:lstStyle/>
          <a:p>
            <a:pPr marL="0" indent="0" algn="ctr">
              <a:buNone/>
            </a:pPr>
            <a:r>
              <a:rPr lang="en-US" sz="1050">
                <a:solidFill>
                  <a:schemeClr val="bg1"/>
                </a:solidFill>
                <a:latin typeface="Calibri" pitchFamily="34" charset="0"/>
                <a:ea typeface="Calibri" pitchFamily="34" charset="-122"/>
                <a:cs typeface="Calibri" pitchFamily="34" charset="-120"/>
              </a:rPr>
              <a:t>NDVI phenology</a:t>
            </a:r>
            <a:endParaRPr lang="en-US" sz="1050" dirty="0">
              <a:solidFill>
                <a:schemeClr val="bg1"/>
              </a:solidFill>
            </a:endParaRPr>
          </a:p>
        </p:txBody>
      </p:sp>
      <p:sp>
        <p:nvSpPr>
          <p:cNvPr id="16" name="Shape 5">
            <a:extLst>
              <a:ext uri="{FF2B5EF4-FFF2-40B4-BE49-F238E27FC236}">
                <a16:creationId xmlns:a16="http://schemas.microsoft.com/office/drawing/2014/main" id="{9DE7B21D-BABB-1661-1B75-D92CD26D3C3E}"/>
              </a:ext>
            </a:extLst>
          </p:cNvPr>
          <p:cNvSpPr/>
          <p:nvPr/>
        </p:nvSpPr>
        <p:spPr>
          <a:xfrm>
            <a:off x="3088266" y="1879667"/>
            <a:ext cx="1110306" cy="516536"/>
          </a:xfrm>
          <a:prstGeom prst="rect">
            <a:avLst/>
          </a:prstGeom>
          <a:solidFill>
            <a:srgbClr val="C00000"/>
          </a:solidFill>
          <a:ln w="12700">
            <a:solidFill>
              <a:srgbClr val="C00000"/>
            </a:solidFill>
            <a:prstDash val="solid"/>
          </a:ln>
        </p:spPr>
      </p:sp>
      <p:sp>
        <p:nvSpPr>
          <p:cNvPr id="22" name="Text 9">
            <a:extLst>
              <a:ext uri="{FF2B5EF4-FFF2-40B4-BE49-F238E27FC236}">
                <a16:creationId xmlns:a16="http://schemas.microsoft.com/office/drawing/2014/main" id="{495759B1-53E9-F173-FABA-B47479B621E6}"/>
              </a:ext>
            </a:extLst>
          </p:cNvPr>
          <p:cNvSpPr/>
          <p:nvPr/>
        </p:nvSpPr>
        <p:spPr>
          <a:xfrm>
            <a:off x="3088266" y="1893283"/>
            <a:ext cx="1110306" cy="502920"/>
          </a:xfrm>
          <a:prstGeom prst="rect">
            <a:avLst/>
          </a:prstGeom>
          <a:noFill/>
          <a:ln>
            <a:solidFill>
              <a:srgbClr val="C00000"/>
            </a:solidFill>
          </a:ln>
        </p:spPr>
        <p:txBody>
          <a:bodyPr wrap="square" rtlCol="0" anchor="ctr"/>
          <a:lstStyle/>
          <a:p>
            <a:pPr marL="0" indent="0" algn="ctr">
              <a:buNone/>
            </a:pPr>
            <a:r>
              <a:rPr lang="en-US" sz="1050">
                <a:solidFill>
                  <a:schemeClr val="bg1"/>
                </a:solidFill>
                <a:latin typeface="Calibri" pitchFamily="34" charset="0"/>
                <a:ea typeface="Calibri" pitchFamily="34" charset="-122"/>
                <a:cs typeface="Calibri" pitchFamily="34" charset="-120"/>
              </a:rPr>
              <a:t>Tính trọng số</a:t>
            </a:r>
            <a:endParaRPr lang="en-US" sz="1050" dirty="0">
              <a:solidFill>
                <a:schemeClr val="bg1"/>
              </a:solidFill>
            </a:endParaRPr>
          </a:p>
        </p:txBody>
      </p:sp>
      <p:sp>
        <p:nvSpPr>
          <p:cNvPr id="28" name="Shape 5">
            <a:extLst>
              <a:ext uri="{FF2B5EF4-FFF2-40B4-BE49-F238E27FC236}">
                <a16:creationId xmlns:a16="http://schemas.microsoft.com/office/drawing/2014/main" id="{09201341-308F-5503-0307-93692827FC22}"/>
              </a:ext>
            </a:extLst>
          </p:cNvPr>
          <p:cNvSpPr/>
          <p:nvPr/>
        </p:nvSpPr>
        <p:spPr>
          <a:xfrm>
            <a:off x="4402202" y="1879667"/>
            <a:ext cx="1200663" cy="516536"/>
          </a:xfrm>
          <a:prstGeom prst="rect">
            <a:avLst/>
          </a:prstGeom>
          <a:solidFill>
            <a:srgbClr val="C00000"/>
          </a:solidFill>
          <a:ln w="12700">
            <a:solidFill>
              <a:srgbClr val="C00000"/>
            </a:solidFill>
            <a:prstDash val="solid"/>
          </a:ln>
        </p:spPr>
      </p:sp>
      <p:sp>
        <p:nvSpPr>
          <p:cNvPr id="62" name="Text 9">
            <a:extLst>
              <a:ext uri="{FF2B5EF4-FFF2-40B4-BE49-F238E27FC236}">
                <a16:creationId xmlns:a16="http://schemas.microsoft.com/office/drawing/2014/main" id="{819CDF71-7E00-B753-D82C-264B12F88FB2}"/>
              </a:ext>
            </a:extLst>
          </p:cNvPr>
          <p:cNvSpPr/>
          <p:nvPr/>
        </p:nvSpPr>
        <p:spPr>
          <a:xfrm>
            <a:off x="4402202" y="1893283"/>
            <a:ext cx="1200663" cy="502920"/>
          </a:xfrm>
          <a:prstGeom prst="rect">
            <a:avLst/>
          </a:prstGeom>
          <a:noFill/>
          <a:ln>
            <a:solidFill>
              <a:srgbClr val="C00000"/>
            </a:solidFill>
          </a:ln>
        </p:spPr>
        <p:txBody>
          <a:bodyPr wrap="square" rtlCol="0" anchor="ctr"/>
          <a:lstStyle/>
          <a:p>
            <a:pPr marL="0" indent="0" algn="ctr">
              <a:buNone/>
            </a:pPr>
            <a:r>
              <a:rPr lang="en-US" sz="1050">
                <a:solidFill>
                  <a:schemeClr val="bg1"/>
                </a:solidFill>
                <a:latin typeface="Calibri" pitchFamily="34" charset="0"/>
                <a:ea typeface="Calibri" pitchFamily="34" charset="-122"/>
                <a:cs typeface="Calibri" pitchFamily="34" charset="-120"/>
              </a:rPr>
              <a:t>Phân cấp nguy cơ</a:t>
            </a:r>
            <a:endParaRPr lang="en-US" sz="1050" dirty="0">
              <a:solidFill>
                <a:schemeClr val="bg1"/>
              </a:solidFill>
            </a:endParaRPr>
          </a:p>
        </p:txBody>
      </p:sp>
      <p:cxnSp>
        <p:nvCxnSpPr>
          <p:cNvPr id="65" name="Straight Connector 64">
            <a:extLst>
              <a:ext uri="{FF2B5EF4-FFF2-40B4-BE49-F238E27FC236}">
                <a16:creationId xmlns:a16="http://schemas.microsoft.com/office/drawing/2014/main" id="{2E7332F0-CF28-1D80-E327-46434923A388}"/>
              </a:ext>
            </a:extLst>
          </p:cNvPr>
          <p:cNvCxnSpPr>
            <a:cxnSpLocks/>
            <a:stCxn id="9" idx="3"/>
            <a:endCxn id="3" idx="1"/>
          </p:cNvCxnSpPr>
          <p:nvPr/>
        </p:nvCxnSpPr>
        <p:spPr>
          <a:xfrm flipV="1">
            <a:off x="1573162" y="2137935"/>
            <a:ext cx="201167" cy="942"/>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B471C8A-003D-2E2C-3CE1-8FA7EF9529CF}"/>
              </a:ext>
            </a:extLst>
          </p:cNvPr>
          <p:cNvCxnSpPr>
            <a:stCxn id="10" idx="3"/>
            <a:endCxn id="22" idx="1"/>
          </p:cNvCxnSpPr>
          <p:nvPr/>
        </p:nvCxnSpPr>
        <p:spPr>
          <a:xfrm>
            <a:off x="2884635" y="2144743"/>
            <a:ext cx="203631"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56AF1E4-1782-18BE-ED3F-6FA440A4DDE1}"/>
              </a:ext>
            </a:extLst>
          </p:cNvPr>
          <p:cNvCxnSpPr>
            <a:cxnSpLocks/>
            <a:stCxn id="22" idx="3"/>
            <a:endCxn id="62" idx="1"/>
          </p:cNvCxnSpPr>
          <p:nvPr/>
        </p:nvCxnSpPr>
        <p:spPr>
          <a:xfrm>
            <a:off x="4198572" y="2144743"/>
            <a:ext cx="203630" cy="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74" name="Text 4">
            <a:extLst>
              <a:ext uri="{FF2B5EF4-FFF2-40B4-BE49-F238E27FC236}">
                <a16:creationId xmlns:a16="http://schemas.microsoft.com/office/drawing/2014/main" id="{3ADC3ED7-F54A-9084-2022-72F393B39E6A}"/>
              </a:ext>
            </a:extLst>
          </p:cNvPr>
          <p:cNvSpPr/>
          <p:nvPr/>
        </p:nvSpPr>
        <p:spPr>
          <a:xfrm>
            <a:off x="462856" y="2570612"/>
            <a:ext cx="5029200" cy="320040"/>
          </a:xfrm>
          <a:prstGeom prst="rect">
            <a:avLst/>
          </a:prstGeom>
          <a:noFill/>
          <a:ln/>
        </p:spPr>
        <p:txBody>
          <a:bodyPr wrap="square" rtlCol="0" anchor="ctr"/>
          <a:lstStyle/>
          <a:p>
            <a:pPr marL="0" indent="0">
              <a:buNone/>
            </a:pPr>
            <a:r>
              <a:rPr lang="en-US" sz="1200" b="1">
                <a:solidFill>
                  <a:srgbClr val="C00000"/>
                </a:solidFill>
                <a:latin typeface="Trebuchet MS" pitchFamily="34" charset="0"/>
                <a:ea typeface="Trebuchet MS" pitchFamily="34" charset="-122"/>
                <a:cs typeface="Trebuchet MS" pitchFamily="34" charset="-120"/>
              </a:rPr>
              <a:t>KẾT QUẢ PHÂN BỔ NGUY CƠ</a:t>
            </a:r>
            <a:endParaRPr lang="en-US" sz="1200" dirty="0">
              <a:solidFill>
                <a:srgbClr val="C00000"/>
              </a:solidFill>
            </a:endParaRPr>
          </a:p>
        </p:txBody>
      </p:sp>
      <p:graphicFrame>
        <p:nvGraphicFramePr>
          <p:cNvPr id="76" name="Table 75">
            <a:extLst>
              <a:ext uri="{FF2B5EF4-FFF2-40B4-BE49-F238E27FC236}">
                <a16:creationId xmlns:a16="http://schemas.microsoft.com/office/drawing/2014/main" id="{5579A0DE-6902-53DA-ABFB-F1DF808A1745}"/>
              </a:ext>
            </a:extLst>
          </p:cNvPr>
          <p:cNvGraphicFramePr>
            <a:graphicFrameLocks noGrp="1"/>
          </p:cNvGraphicFramePr>
          <p:nvPr>
            <p:extLst>
              <p:ext uri="{D42A27DB-BD31-4B8C-83A1-F6EECF244321}">
                <p14:modId xmlns:p14="http://schemas.microsoft.com/office/powerpoint/2010/main" val="1615253705"/>
              </p:ext>
            </p:extLst>
          </p:nvPr>
        </p:nvGraphicFramePr>
        <p:xfrm>
          <a:off x="549641" y="3009524"/>
          <a:ext cx="5579745" cy="1487046"/>
        </p:xfrm>
        <a:graphic>
          <a:graphicData uri="http://schemas.openxmlformats.org/drawingml/2006/table">
            <a:tbl>
              <a:tblPr firstRow="1" firstCol="1" bandRow="1">
                <a:tableStyleId>{5C22544A-7EE6-4342-B048-85BDC9FD1C3A}</a:tableStyleId>
              </a:tblPr>
              <a:tblGrid>
                <a:gridCol w="1673860">
                  <a:extLst>
                    <a:ext uri="{9D8B030D-6E8A-4147-A177-3AD203B41FA5}">
                      <a16:colId xmlns:a16="http://schemas.microsoft.com/office/drawing/2014/main" val="1793369720"/>
                    </a:ext>
                  </a:extLst>
                </a:gridCol>
                <a:gridCol w="1395095">
                  <a:extLst>
                    <a:ext uri="{9D8B030D-6E8A-4147-A177-3AD203B41FA5}">
                      <a16:colId xmlns:a16="http://schemas.microsoft.com/office/drawing/2014/main" val="4025464817"/>
                    </a:ext>
                  </a:extLst>
                </a:gridCol>
                <a:gridCol w="1673860">
                  <a:extLst>
                    <a:ext uri="{9D8B030D-6E8A-4147-A177-3AD203B41FA5}">
                      <a16:colId xmlns:a16="http://schemas.microsoft.com/office/drawing/2014/main" val="2046300046"/>
                    </a:ext>
                  </a:extLst>
                </a:gridCol>
                <a:gridCol w="836930">
                  <a:extLst>
                    <a:ext uri="{9D8B030D-6E8A-4147-A177-3AD203B41FA5}">
                      <a16:colId xmlns:a16="http://schemas.microsoft.com/office/drawing/2014/main" val="1766482860"/>
                    </a:ext>
                  </a:extLst>
                </a:gridCol>
              </a:tblGrid>
              <a:tr h="0">
                <a:tc>
                  <a:txBody>
                    <a:bodyPr/>
                    <a:lstStyle/>
                    <a:p>
                      <a:pPr algn="ctr">
                        <a:lnSpc>
                          <a:spcPct val="115000"/>
                        </a:lnSpc>
                        <a:buNone/>
                      </a:pPr>
                      <a:r>
                        <a:rPr lang="en-US" sz="1200">
                          <a:effectLst/>
                        </a:rPr>
                        <a:t>Cấp nguy cơ</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gn="ctr">
                        <a:lnSpc>
                          <a:spcPct val="115000"/>
                        </a:lnSpc>
                        <a:buNone/>
                      </a:pPr>
                      <a:r>
                        <a:rPr lang="en-US" sz="1200">
                          <a:effectLst/>
                        </a:rPr>
                        <a:t>Bài báo (2014)</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gn="ctr">
                        <a:lnSpc>
                          <a:spcPct val="115000"/>
                        </a:lnSpc>
                        <a:buNone/>
                      </a:pPr>
                      <a:r>
                        <a:rPr lang="en-US" sz="1200">
                          <a:effectLst/>
                        </a:rPr>
                        <a:t>Tái hiện (2023–2024)</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gn="ctr">
                        <a:lnSpc>
                          <a:spcPct val="115000"/>
                        </a:lnSpc>
                        <a:buNone/>
                      </a:pPr>
                      <a:r>
                        <a:rPr lang="en-US" sz="1200">
                          <a:effectLst/>
                        </a:rPr>
                        <a:t>Tăng/giảm</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extLst>
                  <a:ext uri="{0D108BD9-81ED-4DB2-BD59-A6C34878D82A}">
                    <a16:rowId xmlns:a16="http://schemas.microsoft.com/office/drawing/2014/main" val="3900472522"/>
                  </a:ext>
                </a:extLst>
              </a:tr>
              <a:tr h="0">
                <a:tc>
                  <a:txBody>
                    <a:bodyPr/>
                    <a:lstStyle/>
                    <a:p>
                      <a:pPr>
                        <a:lnSpc>
                          <a:spcPct val="115000"/>
                        </a:lnSpc>
                        <a:buNone/>
                      </a:pPr>
                      <a:r>
                        <a:rPr lang="en-US" sz="1200">
                          <a:effectLst/>
                        </a:rPr>
                        <a:t>Cấp I (Thấp)</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nSpc>
                          <a:spcPct val="115000"/>
                        </a:lnSpc>
                        <a:buNone/>
                      </a:pPr>
                      <a:r>
                        <a:rPr lang="en-US" sz="1200">
                          <a:effectLst/>
                        </a:rPr>
                        <a:t>0%</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21,7%</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+21,7</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extLst>
                  <a:ext uri="{0D108BD9-81ED-4DB2-BD59-A6C34878D82A}">
                    <a16:rowId xmlns:a16="http://schemas.microsoft.com/office/drawing/2014/main" val="2903450287"/>
                  </a:ext>
                </a:extLst>
              </a:tr>
              <a:tr h="0">
                <a:tc>
                  <a:txBody>
                    <a:bodyPr/>
                    <a:lstStyle/>
                    <a:p>
                      <a:pPr>
                        <a:lnSpc>
                          <a:spcPct val="115000"/>
                        </a:lnSpc>
                        <a:buNone/>
                      </a:pPr>
                      <a:r>
                        <a:rPr lang="en-US" sz="1200">
                          <a:effectLst/>
                        </a:rPr>
                        <a:t>Cấp II (Trung bình)</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nSpc>
                          <a:spcPct val="115000"/>
                        </a:lnSpc>
                        <a:buNone/>
                      </a:pPr>
                      <a:r>
                        <a:rPr lang="en-US" sz="1200">
                          <a:effectLst/>
                        </a:rPr>
                        <a:t>24%</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13,0%</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-11,0</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extLst>
                  <a:ext uri="{0D108BD9-81ED-4DB2-BD59-A6C34878D82A}">
                    <a16:rowId xmlns:a16="http://schemas.microsoft.com/office/drawing/2014/main" val="3096906"/>
                  </a:ext>
                </a:extLst>
              </a:tr>
              <a:tr h="0">
                <a:tc>
                  <a:txBody>
                    <a:bodyPr/>
                    <a:lstStyle/>
                    <a:p>
                      <a:pPr>
                        <a:lnSpc>
                          <a:spcPct val="115000"/>
                        </a:lnSpc>
                        <a:buNone/>
                      </a:pPr>
                      <a:r>
                        <a:rPr lang="en-US" sz="1200">
                          <a:effectLst/>
                        </a:rPr>
                        <a:t>Cấp III (Cao)</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nSpc>
                          <a:spcPct val="115000"/>
                        </a:lnSpc>
                        <a:buNone/>
                      </a:pPr>
                      <a:r>
                        <a:rPr lang="en-US" sz="1200">
                          <a:effectLst/>
                        </a:rPr>
                        <a:t>30%</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45,3%</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+15,3</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extLst>
                  <a:ext uri="{0D108BD9-81ED-4DB2-BD59-A6C34878D82A}">
                    <a16:rowId xmlns:a16="http://schemas.microsoft.com/office/drawing/2014/main" val="2495980405"/>
                  </a:ext>
                </a:extLst>
              </a:tr>
              <a:tr h="0">
                <a:tc>
                  <a:txBody>
                    <a:bodyPr/>
                    <a:lstStyle/>
                    <a:p>
                      <a:pPr>
                        <a:lnSpc>
                          <a:spcPct val="115000"/>
                        </a:lnSpc>
                        <a:buNone/>
                      </a:pPr>
                      <a:r>
                        <a:rPr lang="en-US" sz="1200">
                          <a:effectLst/>
                        </a:rPr>
                        <a:t>Cấp IV (Rất cao)</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nSpc>
                          <a:spcPct val="115000"/>
                        </a:lnSpc>
                        <a:buNone/>
                      </a:pPr>
                      <a:r>
                        <a:rPr lang="en-US" sz="1200">
                          <a:effectLst/>
                        </a:rPr>
                        <a:t>46%</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19,9%</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-26,1</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extLst>
                  <a:ext uri="{0D108BD9-81ED-4DB2-BD59-A6C34878D82A}">
                    <a16:rowId xmlns:a16="http://schemas.microsoft.com/office/drawing/2014/main" val="4249287589"/>
                  </a:ext>
                </a:extLst>
              </a:tr>
              <a:tr h="0">
                <a:tc>
                  <a:txBody>
                    <a:bodyPr/>
                    <a:lstStyle/>
                    <a:p>
                      <a:pPr>
                        <a:lnSpc>
                          <a:spcPct val="115000"/>
                        </a:lnSpc>
                        <a:buNone/>
                      </a:pPr>
                      <a:r>
                        <a:rPr lang="en-US" sz="1200">
                          <a:effectLst/>
                        </a:rPr>
                        <a:t>Recall cấp III–IV</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solidFill>
                  </a:tcPr>
                </a:tc>
                <a:tc>
                  <a:txBody>
                    <a:bodyPr/>
                    <a:lstStyle/>
                    <a:p>
                      <a:pPr>
                        <a:lnSpc>
                          <a:spcPct val="115000"/>
                        </a:lnSpc>
                        <a:buNone/>
                      </a:pPr>
                      <a:r>
                        <a:rPr lang="en-US" sz="1200">
                          <a:effectLst/>
                        </a:rPr>
                        <a:t>76,0%</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65,3%</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tc>
                  <a:txBody>
                    <a:bodyPr/>
                    <a:lstStyle/>
                    <a:p>
                      <a:pPr>
                        <a:lnSpc>
                          <a:spcPct val="115000"/>
                        </a:lnSpc>
                        <a:buNone/>
                      </a:pPr>
                      <a:r>
                        <a:rPr lang="en-US" sz="1200">
                          <a:effectLst/>
                        </a:rPr>
                        <a:t>-10,7</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C00000">
                        <a:alpha val="62000"/>
                      </a:srgbClr>
                    </a:solidFill>
                  </a:tcPr>
                </a:tc>
                <a:extLst>
                  <a:ext uri="{0D108BD9-81ED-4DB2-BD59-A6C34878D82A}">
                    <a16:rowId xmlns:a16="http://schemas.microsoft.com/office/drawing/2014/main" val="995717043"/>
                  </a:ext>
                </a:extLst>
              </a:tr>
            </a:tbl>
          </a:graphicData>
        </a:graphic>
      </p:graphicFrame>
      <p:graphicFrame>
        <p:nvGraphicFramePr>
          <p:cNvPr id="77" name="Table 76">
            <a:extLst>
              <a:ext uri="{FF2B5EF4-FFF2-40B4-BE49-F238E27FC236}">
                <a16:creationId xmlns:a16="http://schemas.microsoft.com/office/drawing/2014/main" id="{3CB601B1-DC3A-95E3-DDA3-F0ABE6E61ABC}"/>
              </a:ext>
            </a:extLst>
          </p:cNvPr>
          <p:cNvGraphicFramePr>
            <a:graphicFrameLocks noGrp="1"/>
          </p:cNvGraphicFramePr>
          <p:nvPr>
            <p:extLst>
              <p:ext uri="{D42A27DB-BD31-4B8C-83A1-F6EECF244321}">
                <p14:modId xmlns:p14="http://schemas.microsoft.com/office/powerpoint/2010/main" val="2240833289"/>
              </p:ext>
            </p:extLst>
          </p:nvPr>
        </p:nvGraphicFramePr>
        <p:xfrm>
          <a:off x="573666" y="5252491"/>
          <a:ext cx="5581015" cy="759842"/>
        </p:xfrm>
        <a:graphic>
          <a:graphicData uri="http://schemas.openxmlformats.org/drawingml/2006/table">
            <a:tbl>
              <a:tblPr firstRow="1" firstCol="1" bandRow="1">
                <a:tableStyleId>{5C22544A-7EE6-4342-B048-85BDC9FD1C3A}</a:tableStyleId>
              </a:tblPr>
              <a:tblGrid>
                <a:gridCol w="1953260">
                  <a:extLst>
                    <a:ext uri="{9D8B030D-6E8A-4147-A177-3AD203B41FA5}">
                      <a16:colId xmlns:a16="http://schemas.microsoft.com/office/drawing/2014/main" val="1816433493"/>
                    </a:ext>
                  </a:extLst>
                </a:gridCol>
                <a:gridCol w="1116330">
                  <a:extLst>
                    <a:ext uri="{9D8B030D-6E8A-4147-A177-3AD203B41FA5}">
                      <a16:colId xmlns:a16="http://schemas.microsoft.com/office/drawing/2014/main" val="3812533231"/>
                    </a:ext>
                  </a:extLst>
                </a:gridCol>
                <a:gridCol w="1116330">
                  <a:extLst>
                    <a:ext uri="{9D8B030D-6E8A-4147-A177-3AD203B41FA5}">
                      <a16:colId xmlns:a16="http://schemas.microsoft.com/office/drawing/2014/main" val="2099608584"/>
                    </a:ext>
                  </a:extLst>
                </a:gridCol>
                <a:gridCol w="1395095">
                  <a:extLst>
                    <a:ext uri="{9D8B030D-6E8A-4147-A177-3AD203B41FA5}">
                      <a16:colId xmlns:a16="http://schemas.microsoft.com/office/drawing/2014/main" val="3434135392"/>
                    </a:ext>
                  </a:extLst>
                </a:gridCol>
              </a:tblGrid>
              <a:tr h="0">
                <a:tc>
                  <a:txBody>
                    <a:bodyPr/>
                    <a:lstStyle/>
                    <a:p>
                      <a:pPr algn="ctr">
                        <a:lnSpc>
                          <a:spcPct val="115000"/>
                        </a:lnSpc>
                        <a:buNone/>
                      </a:pPr>
                      <a:r>
                        <a:rPr lang="en-US" sz="1200">
                          <a:effectLst/>
                        </a:rPr>
                        <a:t>Phương pháp</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solidFill>
                  </a:tcPr>
                </a:tc>
                <a:tc>
                  <a:txBody>
                    <a:bodyPr/>
                    <a:lstStyle/>
                    <a:p>
                      <a:pPr algn="ctr">
                        <a:lnSpc>
                          <a:spcPct val="115000"/>
                        </a:lnSpc>
                        <a:buNone/>
                      </a:pPr>
                      <a:r>
                        <a:rPr lang="en-US" sz="1200">
                          <a:effectLst/>
                        </a:rPr>
                        <a:t>AUC-PR</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solidFill>
                  </a:tcPr>
                </a:tc>
                <a:tc>
                  <a:txBody>
                    <a:bodyPr/>
                    <a:lstStyle/>
                    <a:p>
                      <a:pPr algn="ctr">
                        <a:lnSpc>
                          <a:spcPct val="115000"/>
                        </a:lnSpc>
                        <a:buNone/>
                      </a:pPr>
                      <a:r>
                        <a:rPr lang="en-US" sz="1200">
                          <a:effectLst/>
                        </a:rPr>
                        <a:t>ROC-AUC</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solidFill>
                  </a:tcPr>
                </a:tc>
                <a:tc>
                  <a:txBody>
                    <a:bodyPr/>
                    <a:lstStyle/>
                    <a:p>
                      <a:pPr algn="ctr">
                        <a:lnSpc>
                          <a:spcPct val="115000"/>
                        </a:lnSpc>
                        <a:buNone/>
                      </a:pPr>
                      <a:r>
                        <a:rPr lang="en-US" sz="1200">
                          <a:effectLst/>
                        </a:rPr>
                        <a:t>Cải thiện AUC-PR</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solidFill>
                  </a:tcPr>
                </a:tc>
                <a:extLst>
                  <a:ext uri="{0D108BD9-81ED-4DB2-BD59-A6C34878D82A}">
                    <a16:rowId xmlns:a16="http://schemas.microsoft.com/office/drawing/2014/main" val="2427244154"/>
                  </a:ext>
                </a:extLst>
              </a:tr>
              <a:tr h="0">
                <a:tc>
                  <a:txBody>
                    <a:bodyPr/>
                    <a:lstStyle/>
                    <a:p>
                      <a:pPr>
                        <a:lnSpc>
                          <a:spcPct val="115000"/>
                        </a:lnSpc>
                        <a:buNone/>
                      </a:pPr>
                      <a:r>
                        <a:rPr lang="en-US" sz="1200">
                          <a:effectLst/>
                        </a:rPr>
                        <a:t>Weighted Overlay (tái hiện)</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solidFill>
                  </a:tcPr>
                </a:tc>
                <a:tc>
                  <a:txBody>
                    <a:bodyPr/>
                    <a:lstStyle/>
                    <a:p>
                      <a:pPr>
                        <a:lnSpc>
                          <a:spcPct val="115000"/>
                        </a:lnSpc>
                        <a:buNone/>
                      </a:pPr>
                      <a:r>
                        <a:rPr lang="en-US" sz="1200">
                          <a:effectLst/>
                        </a:rPr>
                        <a:t>0,484</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alpha val="50000"/>
                      </a:srgbClr>
                    </a:solidFill>
                  </a:tcPr>
                </a:tc>
                <a:tc>
                  <a:txBody>
                    <a:bodyPr/>
                    <a:lstStyle/>
                    <a:p>
                      <a:pPr>
                        <a:lnSpc>
                          <a:spcPct val="115000"/>
                        </a:lnSpc>
                        <a:buNone/>
                      </a:pPr>
                      <a:r>
                        <a:rPr lang="en-US" sz="1200">
                          <a:effectLst/>
                        </a:rPr>
                        <a:t>0,721</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alpha val="50000"/>
                      </a:srgbClr>
                    </a:solidFill>
                  </a:tcPr>
                </a:tc>
                <a:tc>
                  <a:txBody>
                    <a:bodyPr/>
                    <a:lstStyle/>
                    <a:p>
                      <a:pPr>
                        <a:lnSpc>
                          <a:spcPct val="115000"/>
                        </a:lnSpc>
                        <a:buNone/>
                      </a:pPr>
                      <a:r>
                        <a:rPr lang="en-US" sz="1300">
                          <a:effectLst/>
                        </a:rPr>
                        <a:t> </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alpha val="50000"/>
                      </a:srgbClr>
                    </a:solidFill>
                  </a:tcPr>
                </a:tc>
                <a:extLst>
                  <a:ext uri="{0D108BD9-81ED-4DB2-BD59-A6C34878D82A}">
                    <a16:rowId xmlns:a16="http://schemas.microsoft.com/office/drawing/2014/main" val="3105747799"/>
                  </a:ext>
                </a:extLst>
              </a:tr>
              <a:tr h="0">
                <a:tc>
                  <a:txBody>
                    <a:bodyPr/>
                    <a:lstStyle/>
                    <a:p>
                      <a:pPr>
                        <a:lnSpc>
                          <a:spcPct val="115000"/>
                        </a:lnSpc>
                        <a:buNone/>
                      </a:pPr>
                      <a:r>
                        <a:rPr lang="en-US" sz="1200">
                          <a:effectLst/>
                        </a:rPr>
                        <a:t>XGBoost V5 (đề án)</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solidFill>
                  </a:tcPr>
                </a:tc>
                <a:tc>
                  <a:txBody>
                    <a:bodyPr/>
                    <a:lstStyle/>
                    <a:p>
                      <a:pPr>
                        <a:lnSpc>
                          <a:spcPct val="115000"/>
                        </a:lnSpc>
                        <a:buNone/>
                      </a:pPr>
                      <a:r>
                        <a:rPr lang="en-US" sz="1200">
                          <a:effectLst/>
                        </a:rPr>
                        <a:t>0,659</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alpha val="50000"/>
                      </a:srgbClr>
                    </a:solidFill>
                  </a:tcPr>
                </a:tc>
                <a:tc>
                  <a:txBody>
                    <a:bodyPr/>
                    <a:lstStyle/>
                    <a:p>
                      <a:pPr>
                        <a:lnSpc>
                          <a:spcPct val="115000"/>
                        </a:lnSpc>
                        <a:buNone/>
                      </a:pPr>
                      <a:r>
                        <a:rPr lang="en-US" sz="1200">
                          <a:effectLst/>
                        </a:rPr>
                        <a:t>0,887</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alpha val="50000"/>
                      </a:srgbClr>
                    </a:solidFill>
                  </a:tcPr>
                </a:tc>
                <a:tc>
                  <a:txBody>
                    <a:bodyPr/>
                    <a:lstStyle/>
                    <a:p>
                      <a:pPr>
                        <a:lnSpc>
                          <a:spcPct val="115000"/>
                        </a:lnSpc>
                        <a:buNone/>
                      </a:pPr>
                      <a:r>
                        <a:rPr lang="en-US" sz="1200">
                          <a:effectLst/>
                        </a:rPr>
                        <a:t>+36,2%</a:t>
                      </a:r>
                      <a:endParaRPr lang="en-US" sz="1300">
                        <a:effectLst/>
                        <a:latin typeface="Times New Roman" panose="02020603050405020304" pitchFamily="18" charset="0"/>
                        <a:ea typeface="Yu Mincho" panose="02020400000000000000" pitchFamily="18" charset="-128"/>
                      </a:endParaRPr>
                    </a:p>
                  </a:txBody>
                  <a:tcPr marL="50800" marR="50800" marT="25400" marB="25400">
                    <a:solidFill>
                      <a:srgbClr val="009900">
                        <a:alpha val="50000"/>
                      </a:srgbClr>
                    </a:solidFill>
                  </a:tcPr>
                </a:tc>
                <a:extLst>
                  <a:ext uri="{0D108BD9-81ED-4DB2-BD59-A6C34878D82A}">
                    <a16:rowId xmlns:a16="http://schemas.microsoft.com/office/drawing/2014/main" val="562189304"/>
                  </a:ext>
                </a:extLst>
              </a:tr>
            </a:tbl>
          </a:graphicData>
        </a:graphic>
      </p:graphicFrame>
      <p:sp>
        <p:nvSpPr>
          <p:cNvPr id="78" name="Text 4">
            <a:extLst>
              <a:ext uri="{FF2B5EF4-FFF2-40B4-BE49-F238E27FC236}">
                <a16:creationId xmlns:a16="http://schemas.microsoft.com/office/drawing/2014/main" id="{9F559741-B72E-C546-D7D5-4D56722DAAD6}"/>
              </a:ext>
            </a:extLst>
          </p:cNvPr>
          <p:cNvSpPr/>
          <p:nvPr/>
        </p:nvSpPr>
        <p:spPr>
          <a:xfrm>
            <a:off x="573666" y="4789851"/>
            <a:ext cx="5029200" cy="320040"/>
          </a:xfrm>
          <a:prstGeom prst="rect">
            <a:avLst/>
          </a:prstGeom>
          <a:noFill/>
          <a:ln/>
        </p:spPr>
        <p:txBody>
          <a:bodyPr wrap="square" rtlCol="0" anchor="ctr"/>
          <a:lstStyle/>
          <a:p>
            <a:pPr marL="0" indent="0">
              <a:buNone/>
            </a:pPr>
            <a:r>
              <a:rPr lang="en-US" sz="1200" b="1">
                <a:solidFill>
                  <a:srgbClr val="C00000"/>
                </a:solidFill>
                <a:latin typeface="Trebuchet MS" pitchFamily="34" charset="0"/>
                <a:ea typeface="Trebuchet MS" pitchFamily="34" charset="-122"/>
                <a:cs typeface="Trebuchet MS" pitchFamily="34" charset="-120"/>
              </a:rPr>
              <a:t>KẾT QUẢ SO SÁNH VỚI XGBOOST</a:t>
            </a:r>
            <a:endParaRPr lang="en-US" sz="1200" dirty="0">
              <a:solidFill>
                <a:srgbClr val="C00000"/>
              </a:solidFill>
            </a:endParaRPr>
          </a:p>
        </p:txBody>
      </p:sp>
      <p:pic>
        <p:nvPicPr>
          <p:cNvPr id="82" name="Picture 81">
            <a:extLst>
              <a:ext uri="{FF2B5EF4-FFF2-40B4-BE49-F238E27FC236}">
                <a16:creationId xmlns:a16="http://schemas.microsoft.com/office/drawing/2014/main" id="{FAFBCBCB-6413-466F-549A-B19B6E2A7C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89136" y="1966394"/>
            <a:ext cx="4681936" cy="3738584"/>
          </a:xfrm>
          <a:prstGeom prst="rect">
            <a:avLst/>
          </a:prstGeom>
        </p:spPr>
      </p:pic>
    </p:spTree>
    <p:extLst>
      <p:ext uri="{BB962C8B-B14F-4D97-AF65-F5344CB8AC3E}">
        <p14:creationId xmlns:p14="http://schemas.microsoft.com/office/powerpoint/2010/main" val="3352988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B269F-5872-48D2-C633-F1EAB39F1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26595-5903-241C-66C7-329AB23E2403}"/>
              </a:ext>
            </a:extLst>
          </p:cNvPr>
          <p:cNvSpPr>
            <a:spLocks noGrp="1"/>
          </p:cNvSpPr>
          <p:nvPr>
            <p:ph type="title"/>
          </p:nvPr>
        </p:nvSpPr>
        <p:spPr>
          <a:xfrm>
            <a:off x="383175" y="835118"/>
            <a:ext cx="11123024" cy="554902"/>
          </a:xfrm>
        </p:spPr>
        <p:txBody>
          <a:bodyPr>
            <a:normAutofit/>
          </a:bodyPr>
          <a:lstStyle/>
          <a:p>
            <a:r>
              <a:rPr lang="en-US">
                <a:latin typeface="+mn-lt"/>
              </a:rPr>
              <a:t>HỆ THỐNG DASHBOARD</a:t>
            </a:r>
            <a:endParaRPr lang="en-US" sz="2800" dirty="0">
              <a:latin typeface="+mn-lt"/>
            </a:endParaRPr>
          </a:p>
        </p:txBody>
      </p:sp>
      <p:sp>
        <p:nvSpPr>
          <p:cNvPr id="3" name="Title 1">
            <a:extLst>
              <a:ext uri="{FF2B5EF4-FFF2-40B4-BE49-F238E27FC236}">
                <a16:creationId xmlns:a16="http://schemas.microsoft.com/office/drawing/2014/main" id="{092DC935-45A6-A407-6442-77F6B260EA80}"/>
              </a:ext>
            </a:extLst>
          </p:cNvPr>
          <p:cNvSpPr txBox="1">
            <a:spLocks/>
          </p:cNvSpPr>
          <p:nvPr/>
        </p:nvSpPr>
        <p:spPr>
          <a:xfrm>
            <a:off x="383175" y="1513907"/>
            <a:ext cx="10857480" cy="36697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kern="1200">
                <a:solidFill>
                  <a:srgbClr val="C00000"/>
                </a:solidFill>
                <a:latin typeface="Montserrat Black" panose="00000A00000000000000" pitchFamily="50" charset="0"/>
                <a:ea typeface="+mj-ea"/>
                <a:cs typeface="+mj-cs"/>
              </a:defRPr>
            </a:lvl1pPr>
          </a:lstStyle>
          <a:p>
            <a:endParaRPr lang="en-US" sz="1800" dirty="0">
              <a:solidFill>
                <a:schemeClr val="tx1"/>
              </a:solidFill>
              <a:latin typeface="Arial" panose="020B0604020202020204" pitchFamily="34" charset="0"/>
              <a:cs typeface="Arial" panose="020B0604020202020204" pitchFamily="34" charset="0"/>
            </a:endParaRPr>
          </a:p>
          <a:p>
            <a:endParaRPr lang="en-US" sz="1800" b="0" dirty="0">
              <a:solidFill>
                <a:schemeClr val="tx1"/>
              </a:solidFill>
              <a:latin typeface="Arial" panose="020B0604020202020204" pitchFamily="34" charset="0"/>
              <a:cs typeface="Arial" panose="020B0604020202020204" pitchFamily="34" charset="0"/>
            </a:endParaRPr>
          </a:p>
          <a:p>
            <a:endParaRPr lang="vi-VN" sz="1800" b="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a:p>
            <a:endParaRPr lang="en-US" sz="1800" dirty="0">
              <a:solidFill>
                <a:schemeClr val="tx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9ED0723-A17D-5790-C7B6-CE2CEF5B25C8}"/>
              </a:ext>
            </a:extLst>
          </p:cNvPr>
          <p:cNvPicPr>
            <a:picLocks noChangeAspect="1"/>
          </p:cNvPicPr>
          <p:nvPr/>
        </p:nvPicPr>
        <p:blipFill>
          <a:blip r:embed="rId3"/>
          <a:stretch>
            <a:fillRect/>
          </a:stretch>
        </p:blipFill>
        <p:spPr>
          <a:xfrm>
            <a:off x="562752" y="1393864"/>
            <a:ext cx="4980207" cy="2358061"/>
          </a:xfrm>
          <a:prstGeom prst="rect">
            <a:avLst/>
          </a:prstGeom>
        </p:spPr>
      </p:pic>
      <p:pic>
        <p:nvPicPr>
          <p:cNvPr id="5" name="Picture 4">
            <a:extLst>
              <a:ext uri="{FF2B5EF4-FFF2-40B4-BE49-F238E27FC236}">
                <a16:creationId xmlns:a16="http://schemas.microsoft.com/office/drawing/2014/main" id="{6C889985-CB09-B596-42BF-743CC6CD8DED}"/>
              </a:ext>
            </a:extLst>
          </p:cNvPr>
          <p:cNvPicPr>
            <a:picLocks noChangeAspect="1"/>
          </p:cNvPicPr>
          <p:nvPr/>
        </p:nvPicPr>
        <p:blipFill>
          <a:blip r:embed="rId4"/>
          <a:stretch>
            <a:fillRect/>
          </a:stretch>
        </p:blipFill>
        <p:spPr>
          <a:xfrm>
            <a:off x="5722536" y="1390020"/>
            <a:ext cx="4980207" cy="2375062"/>
          </a:xfrm>
          <a:prstGeom prst="rect">
            <a:avLst/>
          </a:prstGeom>
        </p:spPr>
      </p:pic>
      <p:pic>
        <p:nvPicPr>
          <p:cNvPr id="6" name="Picture 5">
            <a:extLst>
              <a:ext uri="{FF2B5EF4-FFF2-40B4-BE49-F238E27FC236}">
                <a16:creationId xmlns:a16="http://schemas.microsoft.com/office/drawing/2014/main" id="{A1263302-3064-A07A-2407-7099A95A87A0}"/>
              </a:ext>
            </a:extLst>
          </p:cNvPr>
          <p:cNvPicPr>
            <a:picLocks noChangeAspect="1"/>
          </p:cNvPicPr>
          <p:nvPr/>
        </p:nvPicPr>
        <p:blipFill>
          <a:blip r:embed="rId5"/>
          <a:stretch>
            <a:fillRect/>
          </a:stretch>
        </p:blipFill>
        <p:spPr>
          <a:xfrm>
            <a:off x="562752" y="3875812"/>
            <a:ext cx="4980207" cy="2381296"/>
          </a:xfrm>
          <a:prstGeom prst="rect">
            <a:avLst/>
          </a:prstGeom>
        </p:spPr>
      </p:pic>
      <p:pic>
        <p:nvPicPr>
          <p:cNvPr id="7" name="Picture 6">
            <a:extLst>
              <a:ext uri="{FF2B5EF4-FFF2-40B4-BE49-F238E27FC236}">
                <a16:creationId xmlns:a16="http://schemas.microsoft.com/office/drawing/2014/main" id="{C3518820-8DB7-A37B-A317-FB5B13EC5BC2}"/>
              </a:ext>
            </a:extLst>
          </p:cNvPr>
          <p:cNvPicPr>
            <a:picLocks noChangeAspect="1"/>
          </p:cNvPicPr>
          <p:nvPr/>
        </p:nvPicPr>
        <p:blipFill>
          <a:blip r:embed="rId6"/>
          <a:stretch>
            <a:fillRect/>
          </a:stretch>
        </p:blipFill>
        <p:spPr>
          <a:xfrm>
            <a:off x="5718933" y="3864089"/>
            <a:ext cx="4980207" cy="2355228"/>
          </a:xfrm>
          <a:prstGeom prst="rect">
            <a:avLst/>
          </a:prstGeom>
        </p:spPr>
      </p:pic>
    </p:spTree>
    <p:extLst>
      <p:ext uri="{BB962C8B-B14F-4D97-AF65-F5344CB8AC3E}">
        <p14:creationId xmlns:p14="http://schemas.microsoft.com/office/powerpoint/2010/main" val="3769858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E43C8-0A96-A93E-D408-8A4EB4E51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B54E1-85B9-3559-461E-5F066E4A9DDE}"/>
              </a:ext>
            </a:extLst>
          </p:cNvPr>
          <p:cNvSpPr>
            <a:spLocks noGrp="1"/>
          </p:cNvSpPr>
          <p:nvPr>
            <p:ph type="title"/>
          </p:nvPr>
        </p:nvSpPr>
        <p:spPr>
          <a:xfrm>
            <a:off x="383175" y="835118"/>
            <a:ext cx="11123024" cy="554902"/>
          </a:xfrm>
        </p:spPr>
        <p:txBody>
          <a:bodyPr>
            <a:normAutofit/>
          </a:bodyPr>
          <a:lstStyle/>
          <a:p>
            <a:r>
              <a:rPr lang="en-US">
                <a:latin typeface="Calibri" panose="020F0502020204030204" pitchFamily="34" charset="0"/>
                <a:ea typeface="Calibri" panose="020F0502020204030204" pitchFamily="34" charset="0"/>
                <a:cs typeface="Calibri" panose="020F0502020204030204" pitchFamily="34" charset="0"/>
              </a:rPr>
              <a:t>KẾT LUẬN VÀ HƯỚNG PHÁT TRIỂN</a:t>
            </a:r>
            <a:endParaRPr lang="vi-VN">
              <a:latin typeface="Calibri" panose="020F0502020204030204" pitchFamily="34" charset="0"/>
              <a:ea typeface="Calibri" panose="020F0502020204030204" pitchFamily="34" charset="0"/>
              <a:cs typeface="Calibri" panose="020F0502020204030204" pitchFamily="34" charset="0"/>
            </a:endParaRPr>
          </a:p>
        </p:txBody>
      </p:sp>
      <p:sp>
        <p:nvSpPr>
          <p:cNvPr id="31" name="Shape 20">
            <a:extLst>
              <a:ext uri="{FF2B5EF4-FFF2-40B4-BE49-F238E27FC236}">
                <a16:creationId xmlns:a16="http://schemas.microsoft.com/office/drawing/2014/main" id="{8415AABC-35FA-783B-2317-DAF7BB9AF223}"/>
              </a:ext>
            </a:extLst>
          </p:cNvPr>
          <p:cNvSpPr/>
          <p:nvPr/>
        </p:nvSpPr>
        <p:spPr>
          <a:xfrm>
            <a:off x="760260" y="1868699"/>
            <a:ext cx="3098261" cy="1119329"/>
          </a:xfrm>
          <a:prstGeom prst="rect">
            <a:avLst/>
          </a:prstGeom>
          <a:solidFill>
            <a:srgbClr val="C00000"/>
          </a:solidFill>
          <a:ln w="15240">
            <a:solidFill>
              <a:srgbClr val="C00000"/>
            </a:solidFill>
            <a:prstDash val="solid"/>
          </a:ln>
          <a:effectLst>
            <a:outerShdw blurRad="50800" dist="38100" dir="2700000" algn="tl" rotWithShape="0">
              <a:prstClr val="black">
                <a:alpha val="40000"/>
              </a:prstClr>
            </a:outerShdw>
          </a:effectLst>
        </p:spPr>
        <p:txBody>
          <a:bodyPr anchor="ctr"/>
          <a:lstStyle/>
          <a:p>
            <a:endParaRPr lang="en-US" sz="1400">
              <a:solidFill>
                <a:schemeClr val="bg1"/>
              </a:solidFill>
            </a:endParaRPr>
          </a:p>
        </p:txBody>
      </p:sp>
      <p:pic>
        <p:nvPicPr>
          <p:cNvPr id="15" name="Picture 2" descr="Star - Free signs icons">
            <a:extLst>
              <a:ext uri="{FF2B5EF4-FFF2-40B4-BE49-F238E27FC236}">
                <a16:creationId xmlns:a16="http://schemas.microsoft.com/office/drawing/2014/main" id="{8F8B617C-18EE-A75A-0240-805BA89C22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3175" y="1502428"/>
            <a:ext cx="873760" cy="873760"/>
          </a:xfrm>
          <a:prstGeom prst="rect">
            <a:avLst/>
          </a:prstGeom>
          <a:noFill/>
          <a:extLst>
            <a:ext uri="{909E8E84-426E-40DD-AFC4-6F175D3DCCD1}">
              <a14:hiddenFill xmlns:a14="http://schemas.microsoft.com/office/drawing/2010/main">
                <a:solidFill>
                  <a:srgbClr val="FFFFFF"/>
                </a:solidFill>
              </a14:hiddenFill>
            </a:ext>
          </a:extLst>
        </p:spPr>
      </p:pic>
      <p:sp>
        <p:nvSpPr>
          <p:cNvPr id="43" name="Shape 20">
            <a:extLst>
              <a:ext uri="{FF2B5EF4-FFF2-40B4-BE49-F238E27FC236}">
                <a16:creationId xmlns:a16="http://schemas.microsoft.com/office/drawing/2014/main" id="{2C51EC9E-E1B3-AB23-ACF2-36BEED9D49E5}"/>
              </a:ext>
            </a:extLst>
          </p:cNvPr>
          <p:cNvSpPr/>
          <p:nvPr/>
        </p:nvSpPr>
        <p:spPr>
          <a:xfrm>
            <a:off x="4448711" y="1870130"/>
            <a:ext cx="3098261" cy="1119600"/>
          </a:xfrm>
          <a:prstGeom prst="rect">
            <a:avLst/>
          </a:prstGeom>
          <a:solidFill>
            <a:srgbClr val="C00000"/>
          </a:solidFill>
          <a:ln w="15240">
            <a:solidFill>
              <a:srgbClr val="C00000"/>
            </a:solidFill>
            <a:prstDash val="solid"/>
          </a:ln>
          <a:effectLst>
            <a:outerShdw blurRad="50800" dist="38100" dir="2700000" algn="tl" rotWithShape="0">
              <a:prstClr val="black">
                <a:alpha val="40000"/>
              </a:prstClr>
            </a:outerShdw>
          </a:effectLst>
        </p:spPr>
        <p:txBody>
          <a:bodyPr anchor="ctr"/>
          <a:lstStyle/>
          <a:p>
            <a:endParaRPr lang="en-US" sz="1400">
              <a:solidFill>
                <a:schemeClr val="bg1"/>
              </a:solidFill>
            </a:endParaRPr>
          </a:p>
        </p:txBody>
      </p:sp>
      <p:pic>
        <p:nvPicPr>
          <p:cNvPr id="51" name="Picture 2" descr="Star - Free signs icons">
            <a:extLst>
              <a:ext uri="{FF2B5EF4-FFF2-40B4-BE49-F238E27FC236}">
                <a16:creationId xmlns:a16="http://schemas.microsoft.com/office/drawing/2014/main" id="{1B970C18-310B-FEDE-BCC3-416CF66B028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1626" y="1503859"/>
            <a:ext cx="873760" cy="873760"/>
          </a:xfrm>
          <a:prstGeom prst="rect">
            <a:avLst/>
          </a:prstGeom>
          <a:noFill/>
          <a:extLst>
            <a:ext uri="{909E8E84-426E-40DD-AFC4-6F175D3DCCD1}">
              <a14:hiddenFill xmlns:a14="http://schemas.microsoft.com/office/drawing/2010/main">
                <a:solidFill>
                  <a:srgbClr val="FFFFFF"/>
                </a:solidFill>
              </a14:hiddenFill>
            </a:ext>
          </a:extLst>
        </p:spPr>
      </p:pic>
      <p:sp>
        <p:nvSpPr>
          <p:cNvPr id="52" name="Shape 20">
            <a:extLst>
              <a:ext uri="{FF2B5EF4-FFF2-40B4-BE49-F238E27FC236}">
                <a16:creationId xmlns:a16="http://schemas.microsoft.com/office/drawing/2014/main" id="{223AA3EB-ACCB-66DE-08A4-75FAB8F78264}"/>
              </a:ext>
            </a:extLst>
          </p:cNvPr>
          <p:cNvSpPr/>
          <p:nvPr/>
        </p:nvSpPr>
        <p:spPr>
          <a:xfrm>
            <a:off x="8137162" y="1868428"/>
            <a:ext cx="3098261" cy="1119600"/>
          </a:xfrm>
          <a:prstGeom prst="rect">
            <a:avLst/>
          </a:prstGeom>
          <a:solidFill>
            <a:srgbClr val="C00000"/>
          </a:solidFill>
          <a:ln w="15240">
            <a:solidFill>
              <a:srgbClr val="C00000"/>
            </a:solidFill>
            <a:prstDash val="solid"/>
          </a:ln>
          <a:effectLst>
            <a:outerShdw blurRad="50800" dist="38100" dir="2700000" algn="tl" rotWithShape="0">
              <a:prstClr val="black">
                <a:alpha val="40000"/>
              </a:prstClr>
            </a:outerShdw>
          </a:effectLst>
        </p:spPr>
        <p:txBody>
          <a:bodyPr anchor="ctr"/>
          <a:lstStyle/>
          <a:p>
            <a:endParaRPr lang="en-US" sz="1400">
              <a:solidFill>
                <a:schemeClr val="bg1"/>
              </a:solidFill>
            </a:endParaRPr>
          </a:p>
        </p:txBody>
      </p:sp>
      <p:pic>
        <p:nvPicPr>
          <p:cNvPr id="53" name="Picture 2" descr="Star - Free signs icons">
            <a:extLst>
              <a:ext uri="{FF2B5EF4-FFF2-40B4-BE49-F238E27FC236}">
                <a16:creationId xmlns:a16="http://schemas.microsoft.com/office/drawing/2014/main" id="{CE9F550B-0BEE-DB76-8EFC-CE776880DB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60077" y="1502156"/>
            <a:ext cx="873760" cy="873760"/>
          </a:xfrm>
          <a:prstGeom prst="rect">
            <a:avLst/>
          </a:prstGeom>
          <a:noFill/>
          <a:extLst>
            <a:ext uri="{909E8E84-426E-40DD-AFC4-6F175D3DCCD1}">
              <a14:hiddenFill xmlns:a14="http://schemas.microsoft.com/office/drawing/2010/main">
                <a:solidFill>
                  <a:srgbClr val="FFFFFF"/>
                </a:solidFill>
              </a14:hiddenFill>
            </a:ext>
          </a:extLst>
        </p:spPr>
      </p:pic>
      <p:sp>
        <p:nvSpPr>
          <p:cNvPr id="54" name="Shape 20">
            <a:extLst>
              <a:ext uri="{FF2B5EF4-FFF2-40B4-BE49-F238E27FC236}">
                <a16:creationId xmlns:a16="http://schemas.microsoft.com/office/drawing/2014/main" id="{6CCDBEDA-2D2F-237E-EB02-3965D4DBF52B}"/>
              </a:ext>
            </a:extLst>
          </p:cNvPr>
          <p:cNvSpPr/>
          <p:nvPr/>
        </p:nvSpPr>
        <p:spPr>
          <a:xfrm>
            <a:off x="760260" y="3927545"/>
            <a:ext cx="4680000" cy="720000"/>
          </a:xfrm>
          <a:prstGeom prst="rect">
            <a:avLst/>
          </a:prstGeom>
          <a:solidFill>
            <a:srgbClr val="009900"/>
          </a:solidFill>
          <a:ln w="15240">
            <a:solidFill>
              <a:srgbClr val="009900"/>
            </a:solidFill>
            <a:prstDash val="solid"/>
          </a:ln>
          <a:effectLst>
            <a:outerShdw blurRad="50800" dist="38100" dir="2700000" algn="tl" rotWithShape="0">
              <a:prstClr val="black">
                <a:alpha val="40000"/>
              </a:prstClr>
            </a:outerShdw>
          </a:effectLst>
        </p:spPr>
        <p:txBody>
          <a:bodyPr anchor="ctr"/>
          <a:lstStyle/>
          <a:p>
            <a:r>
              <a:rPr lang="en-US" sz="1400">
                <a:solidFill>
                  <a:schemeClr val="bg1"/>
                </a:solidFill>
              </a:rPr>
              <a:t>           Cải thiện, mở rộng bộ dữ liệu với dữ liệu kiểm kê cháy                           </a:t>
            </a:r>
          </a:p>
          <a:p>
            <a:r>
              <a:rPr lang="en-US" sz="1400">
                <a:solidFill>
                  <a:schemeClr val="bg1"/>
                </a:solidFill>
              </a:rPr>
              <a:t>           từ lực lượng kiểm lâm.</a:t>
            </a:r>
            <a:endParaRPr lang="en-US" sz="1400"/>
          </a:p>
        </p:txBody>
      </p:sp>
      <p:pic>
        <p:nvPicPr>
          <p:cNvPr id="3076" name="Picture 4" descr="Download Free Rocket Icons in PNG &amp; SVG | Magnific (formerly Freepik)">
            <a:extLst>
              <a:ext uri="{FF2B5EF4-FFF2-40B4-BE49-F238E27FC236}">
                <a16:creationId xmlns:a16="http://schemas.microsoft.com/office/drawing/2014/main" id="{CC27EC91-C4B2-7AC1-8762-B4693CD4D01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3178" y="3636897"/>
            <a:ext cx="798136" cy="798136"/>
          </a:xfrm>
          <a:prstGeom prst="rect">
            <a:avLst/>
          </a:prstGeom>
          <a:noFill/>
          <a:extLst>
            <a:ext uri="{909E8E84-426E-40DD-AFC4-6F175D3DCCD1}">
              <a14:hiddenFill xmlns:a14="http://schemas.microsoft.com/office/drawing/2010/main">
                <a:solidFill>
                  <a:srgbClr val="FFFFFF"/>
                </a:solidFill>
              </a14:hiddenFill>
            </a:ext>
          </a:extLst>
        </p:spPr>
      </p:pic>
      <p:sp>
        <p:nvSpPr>
          <p:cNvPr id="55" name="Shape 20">
            <a:extLst>
              <a:ext uri="{FF2B5EF4-FFF2-40B4-BE49-F238E27FC236}">
                <a16:creationId xmlns:a16="http://schemas.microsoft.com/office/drawing/2014/main" id="{0EB7A8BE-2063-15CA-4558-89A2947EA96F}"/>
              </a:ext>
            </a:extLst>
          </p:cNvPr>
          <p:cNvSpPr/>
          <p:nvPr/>
        </p:nvSpPr>
        <p:spPr>
          <a:xfrm>
            <a:off x="760262" y="5275346"/>
            <a:ext cx="4680000" cy="720000"/>
          </a:xfrm>
          <a:prstGeom prst="rect">
            <a:avLst/>
          </a:prstGeom>
          <a:solidFill>
            <a:srgbClr val="009900"/>
          </a:solidFill>
          <a:ln w="15240">
            <a:solidFill>
              <a:srgbClr val="009900"/>
            </a:solidFill>
            <a:prstDash val="solid"/>
          </a:ln>
          <a:effectLst>
            <a:outerShdw blurRad="50800" dist="38100" dir="2700000" algn="tl" rotWithShape="0">
              <a:prstClr val="black">
                <a:alpha val="40000"/>
              </a:prstClr>
            </a:outerShdw>
          </a:effectLst>
        </p:spPr>
        <p:txBody>
          <a:bodyPr anchor="ctr"/>
          <a:lstStyle/>
          <a:p>
            <a:r>
              <a:rPr lang="en-US" sz="1400">
                <a:solidFill>
                  <a:schemeClr val="bg1"/>
                </a:solidFill>
              </a:rPr>
              <a:t>           Tích hợp thiết bị ngoại vi, cảnh báo realtime.</a:t>
            </a:r>
          </a:p>
        </p:txBody>
      </p:sp>
      <p:pic>
        <p:nvPicPr>
          <p:cNvPr id="56" name="Picture 4" descr="Download Free Rocket Icons in PNG &amp; SVG | Magnific (formerly Freepik)">
            <a:extLst>
              <a:ext uri="{FF2B5EF4-FFF2-40B4-BE49-F238E27FC236}">
                <a16:creationId xmlns:a16="http://schemas.microsoft.com/office/drawing/2014/main" id="{F079EBCF-FEFE-39E0-2738-F4E2932BD67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3178" y="4984698"/>
            <a:ext cx="798136" cy="798136"/>
          </a:xfrm>
          <a:prstGeom prst="rect">
            <a:avLst/>
          </a:prstGeom>
          <a:noFill/>
          <a:extLst>
            <a:ext uri="{909E8E84-426E-40DD-AFC4-6F175D3DCCD1}">
              <a14:hiddenFill xmlns:a14="http://schemas.microsoft.com/office/drawing/2010/main">
                <a:solidFill>
                  <a:srgbClr val="FFFFFF"/>
                </a:solidFill>
              </a14:hiddenFill>
            </a:ext>
          </a:extLst>
        </p:spPr>
      </p:pic>
      <p:sp>
        <p:nvSpPr>
          <p:cNvPr id="57" name="Shape 20">
            <a:extLst>
              <a:ext uri="{FF2B5EF4-FFF2-40B4-BE49-F238E27FC236}">
                <a16:creationId xmlns:a16="http://schemas.microsoft.com/office/drawing/2014/main" id="{A068B8CF-535B-F87B-1F43-F81D70C0E07E}"/>
              </a:ext>
            </a:extLst>
          </p:cNvPr>
          <p:cNvSpPr/>
          <p:nvPr/>
        </p:nvSpPr>
        <p:spPr>
          <a:xfrm>
            <a:off x="6555422" y="3927545"/>
            <a:ext cx="4680000" cy="720000"/>
          </a:xfrm>
          <a:prstGeom prst="rect">
            <a:avLst/>
          </a:prstGeom>
          <a:solidFill>
            <a:srgbClr val="009900"/>
          </a:solidFill>
          <a:ln w="15240">
            <a:solidFill>
              <a:srgbClr val="009900"/>
            </a:solidFill>
            <a:prstDash val="solid"/>
          </a:ln>
          <a:effectLst>
            <a:outerShdw blurRad="50800" dist="38100" dir="2700000" algn="tl" rotWithShape="0">
              <a:prstClr val="black">
                <a:alpha val="40000"/>
              </a:prstClr>
            </a:outerShdw>
          </a:effectLst>
        </p:spPr>
        <p:txBody>
          <a:bodyPr anchor="ctr"/>
          <a:lstStyle/>
          <a:p>
            <a:r>
              <a:rPr lang="en-US" sz="1400">
                <a:solidFill>
                  <a:schemeClr val="bg1"/>
                </a:solidFill>
              </a:rPr>
              <a:t>           Triển khai trên hạ tầng mạnh, thử nghiệm mô hình mới.</a:t>
            </a:r>
          </a:p>
        </p:txBody>
      </p:sp>
      <p:pic>
        <p:nvPicPr>
          <p:cNvPr id="58" name="Picture 4" descr="Download Free Rocket Icons in PNG &amp; SVG | Magnific (formerly Freepik)">
            <a:extLst>
              <a:ext uri="{FF2B5EF4-FFF2-40B4-BE49-F238E27FC236}">
                <a16:creationId xmlns:a16="http://schemas.microsoft.com/office/drawing/2014/main" id="{FDC5E01B-5477-3BB9-1676-CD9FF5A8CCE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78340" y="3636897"/>
            <a:ext cx="798136" cy="798136"/>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08FA9656-2B52-300C-96BB-718EEBECF4CB}"/>
              </a:ext>
            </a:extLst>
          </p:cNvPr>
          <p:cNvSpPr txBox="1"/>
          <p:nvPr/>
        </p:nvSpPr>
        <p:spPr>
          <a:xfrm>
            <a:off x="1092822" y="2053586"/>
            <a:ext cx="2765699" cy="738664"/>
          </a:xfrm>
          <a:prstGeom prst="rect">
            <a:avLst/>
          </a:prstGeom>
          <a:noFill/>
        </p:spPr>
        <p:txBody>
          <a:bodyPr wrap="square" rtlCol="0">
            <a:spAutoFit/>
          </a:bodyPr>
          <a:lstStyle/>
          <a:p>
            <a:r>
              <a:rPr lang="en-US" sz="1400">
                <a:solidFill>
                  <a:schemeClr val="bg1"/>
                </a:solidFill>
              </a:rPr>
              <a:t>Chứng minh XGBoost phù hợp nhất cho bài toán cảnh báo cháy rừng với dữ liệu cực mất cân bằng.</a:t>
            </a:r>
          </a:p>
        </p:txBody>
      </p:sp>
      <p:sp>
        <p:nvSpPr>
          <p:cNvPr id="61" name="TextBox 60">
            <a:extLst>
              <a:ext uri="{FF2B5EF4-FFF2-40B4-BE49-F238E27FC236}">
                <a16:creationId xmlns:a16="http://schemas.microsoft.com/office/drawing/2014/main" id="{86F0AF8A-4232-B71C-153C-EC50FBFC5E57}"/>
              </a:ext>
            </a:extLst>
          </p:cNvPr>
          <p:cNvSpPr txBox="1"/>
          <p:nvPr/>
        </p:nvSpPr>
        <p:spPr>
          <a:xfrm>
            <a:off x="4781275" y="2045400"/>
            <a:ext cx="2765697" cy="738664"/>
          </a:xfrm>
          <a:prstGeom prst="rect">
            <a:avLst/>
          </a:prstGeom>
          <a:noFill/>
        </p:spPr>
        <p:txBody>
          <a:bodyPr wrap="square" rtlCol="0">
            <a:spAutoFit/>
          </a:bodyPr>
          <a:lstStyle/>
          <a:p>
            <a:r>
              <a:rPr lang="en-US" sz="1400">
                <a:solidFill>
                  <a:schemeClr val="bg1"/>
                </a:solidFill>
              </a:rPr>
              <a:t>Thiết kế bộ dữ liệu 52 features có thể tái sử dụng trong huấn luyện các mô hình khác</a:t>
            </a:r>
            <a:endParaRPr lang="en-US" sz="1100">
              <a:solidFill>
                <a:schemeClr val="bg1"/>
              </a:solidFill>
            </a:endParaRPr>
          </a:p>
        </p:txBody>
      </p:sp>
      <p:sp>
        <p:nvSpPr>
          <p:cNvPr id="62" name="TextBox 61">
            <a:extLst>
              <a:ext uri="{FF2B5EF4-FFF2-40B4-BE49-F238E27FC236}">
                <a16:creationId xmlns:a16="http://schemas.microsoft.com/office/drawing/2014/main" id="{DCA334C4-2175-4475-83DE-6F92C3789656}"/>
              </a:ext>
            </a:extLst>
          </p:cNvPr>
          <p:cNvSpPr txBox="1"/>
          <p:nvPr/>
        </p:nvSpPr>
        <p:spPr>
          <a:xfrm>
            <a:off x="8469725" y="2043697"/>
            <a:ext cx="2765697" cy="738664"/>
          </a:xfrm>
          <a:prstGeom prst="rect">
            <a:avLst/>
          </a:prstGeom>
          <a:noFill/>
        </p:spPr>
        <p:txBody>
          <a:bodyPr wrap="square" rtlCol="0">
            <a:spAutoFit/>
          </a:bodyPr>
          <a:lstStyle/>
          <a:p>
            <a:r>
              <a:rPr lang="en-US" sz="1400">
                <a:solidFill>
                  <a:schemeClr val="bg1"/>
                </a:solidFill>
              </a:rPr>
              <a:t>Thiết kế hệ thống web Heatmap cảnh báo, nhận diện nguy cơ cháy rừng</a:t>
            </a:r>
            <a:endParaRPr lang="en-US" sz="1000">
              <a:solidFill>
                <a:schemeClr val="bg1"/>
              </a:solidFill>
            </a:endParaRPr>
          </a:p>
        </p:txBody>
      </p:sp>
      <p:sp>
        <p:nvSpPr>
          <p:cNvPr id="63" name="Shape 20">
            <a:extLst>
              <a:ext uri="{FF2B5EF4-FFF2-40B4-BE49-F238E27FC236}">
                <a16:creationId xmlns:a16="http://schemas.microsoft.com/office/drawing/2014/main" id="{F7ED4F6C-5AE6-B6FD-4FA7-FA82AE6C3096}"/>
              </a:ext>
            </a:extLst>
          </p:cNvPr>
          <p:cNvSpPr/>
          <p:nvPr/>
        </p:nvSpPr>
        <p:spPr>
          <a:xfrm>
            <a:off x="6555422" y="5282745"/>
            <a:ext cx="4680000" cy="720000"/>
          </a:xfrm>
          <a:prstGeom prst="rect">
            <a:avLst/>
          </a:prstGeom>
          <a:solidFill>
            <a:srgbClr val="009900"/>
          </a:solidFill>
          <a:ln w="15240">
            <a:solidFill>
              <a:srgbClr val="009900"/>
            </a:solidFill>
            <a:prstDash val="solid"/>
          </a:ln>
          <a:effectLst>
            <a:outerShdw blurRad="50800" dist="38100" dir="2700000" algn="tl" rotWithShape="0">
              <a:prstClr val="black">
                <a:alpha val="40000"/>
              </a:prstClr>
            </a:outerShdw>
          </a:effectLst>
        </p:spPr>
        <p:txBody>
          <a:bodyPr anchor="ctr"/>
          <a:lstStyle/>
          <a:p>
            <a:r>
              <a:rPr lang="en-US" sz="1400">
                <a:solidFill>
                  <a:schemeClr val="bg1"/>
                </a:solidFill>
              </a:rPr>
              <a:t>           Xây dựng nền tảng cập nhật dữ liệu, xu hướng thời tiết, </a:t>
            </a:r>
          </a:p>
          <a:p>
            <a:r>
              <a:rPr lang="en-US" sz="1400">
                <a:solidFill>
                  <a:schemeClr val="bg1"/>
                </a:solidFill>
              </a:rPr>
              <a:t>           tự động huấn luyện mô hình định kỳ.</a:t>
            </a:r>
          </a:p>
        </p:txBody>
      </p:sp>
      <p:pic>
        <p:nvPicPr>
          <p:cNvPr id="3072" name="Picture 4" descr="Download Free Rocket Icons in PNG &amp; SVG | Magnific (formerly Freepik)">
            <a:extLst>
              <a:ext uri="{FF2B5EF4-FFF2-40B4-BE49-F238E27FC236}">
                <a16:creationId xmlns:a16="http://schemas.microsoft.com/office/drawing/2014/main" id="{E8AB307C-7AD8-8E11-9D20-6A4865CDC22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78340" y="4992097"/>
            <a:ext cx="798136" cy="798136"/>
          </a:xfrm>
          <a:prstGeom prst="rect">
            <a:avLst/>
          </a:prstGeom>
          <a:noFill/>
          <a:extLst>
            <a:ext uri="{909E8E84-426E-40DD-AFC4-6F175D3DCCD1}">
              <a14:hiddenFill xmlns:a14="http://schemas.microsoft.com/office/drawing/2010/main">
                <a:solidFill>
                  <a:srgbClr val="FFFFFF"/>
                </a:solidFill>
              </a14:hiddenFill>
            </a:ext>
          </a:extLst>
        </p:spPr>
      </p:pic>
      <p:cxnSp>
        <p:nvCxnSpPr>
          <p:cNvPr id="3078" name="Straight Connector 3077">
            <a:extLst>
              <a:ext uri="{FF2B5EF4-FFF2-40B4-BE49-F238E27FC236}">
                <a16:creationId xmlns:a16="http://schemas.microsoft.com/office/drawing/2014/main" id="{60C9C919-F609-1CBA-A972-37852E0F68FB}"/>
              </a:ext>
            </a:extLst>
          </p:cNvPr>
          <p:cNvCxnSpPr>
            <a:cxnSpLocks/>
          </p:cNvCxnSpPr>
          <p:nvPr/>
        </p:nvCxnSpPr>
        <p:spPr>
          <a:xfrm>
            <a:off x="760260" y="3429000"/>
            <a:ext cx="10475162"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269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Trân trọng cảm ơn!</a:t>
            </a:r>
          </a:p>
        </p:txBody>
      </p:sp>
      <p:pic>
        <p:nvPicPr>
          <p:cNvPr id="3" name="Picture 2">
            <a:extLst>
              <a:ext uri="{FF2B5EF4-FFF2-40B4-BE49-F238E27FC236}">
                <a16:creationId xmlns:a16="http://schemas.microsoft.com/office/drawing/2014/main" id="{B12E27E2-F665-40D1-8A15-722CD75E9792}"/>
              </a:ext>
            </a:extLst>
          </p:cNvPr>
          <p:cNvPicPr>
            <a:picLocks noChangeAspect="1"/>
          </p:cNvPicPr>
          <p:nvPr/>
        </p:nvPicPr>
        <p:blipFill>
          <a:blip r:embed="rId2"/>
          <a:stretch>
            <a:fillRect/>
          </a:stretch>
        </p:blipFill>
        <p:spPr>
          <a:xfrm>
            <a:off x="83256" y="0"/>
            <a:ext cx="748594" cy="869244"/>
          </a:xfrm>
          <a:prstGeom prst="rect">
            <a:avLst/>
          </a:prstGeom>
        </p:spPr>
      </p:pic>
    </p:spTree>
    <p:extLst>
      <p:ext uri="{BB962C8B-B14F-4D97-AF65-F5344CB8AC3E}">
        <p14:creationId xmlns:p14="http://schemas.microsoft.com/office/powerpoint/2010/main" val="16977178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UID" val="{11D965E7-D29C-4338-BF51-882690D79B0F}"/>
  <p:tag name="ISPRING_RESOURCE_FOLDER" val="C:\Users\Phanh\Desktop\Slide HV\"/>
  <p:tag name="ISPRING_PRESENTATION_PATH" val="C:\Users\Phanh\Desktop\Slide HV.pptx"/>
  <p:tag name="ISPRING_PROJECT_VERSION" val="9.3"/>
  <p:tag name="ISPRING_PROJECT_FOLDER_UPDATED" val="1"/>
  <p:tag name="ISPRING_SCREEN_RECS_UPDATED" val="C:\Users\Phanh\Desktop\Slide HV\"/>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11637</TotalTime>
  <Words>1948</Words>
  <Application>Microsoft Office PowerPoint</Application>
  <PresentationFormat>Widescreen</PresentationFormat>
  <Paragraphs>317</Paragraphs>
  <Slides>16</Slides>
  <Notes>14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16</vt:i4>
      </vt:variant>
    </vt:vector>
  </HeadingPairs>
  <TitlesOfParts>
    <vt:vector size="27" baseType="lpstr">
      <vt:lpstr>Times New Roman</vt:lpstr>
      <vt:lpstr>Calibri Light</vt:lpstr>
      <vt:lpstr>Trebuchet MS</vt:lpstr>
      <vt:lpstr>Roboto</vt:lpstr>
      <vt:lpstr>Wingdings</vt:lpstr>
      <vt:lpstr>Calibri</vt:lpstr>
      <vt:lpstr>Montserrat</vt:lpstr>
      <vt:lpstr>Montserrat Black</vt:lpstr>
      <vt:lpstr>Arial</vt:lpstr>
      <vt:lpstr>Office Theme</vt:lpstr>
      <vt:lpstr>Custom Design</vt:lpstr>
      <vt:lpstr>PowerPoint Presentation</vt:lpstr>
      <vt:lpstr>NỘI DUNG TRÌNH BÀY</vt:lpstr>
      <vt:lpstr>ĐẶT VẤN ĐỀ &amp; LÝ DO NGHIÊN CỨU</vt:lpstr>
      <vt:lpstr>THỰC TRẠNG CHÁY RỪNG TẠI VIỆT NAM</vt:lpstr>
      <vt:lpstr>DỮ LIỆU &amp; FEATURE ENGINEERING – 52 FEATURES</vt:lpstr>
      <vt:lpstr>CÁC MÔ HÌNH AI ĐƯỢC XÂY DỰNG</vt:lpstr>
      <vt:lpstr>XGBOOST – QUÁ TRÌNH XÂY DỰNG MÔ HÌNH</vt:lpstr>
      <vt:lpstr>CONVLSTM – KIẾN TRÚC HỌC SÂU KHÔNG GIAN – THỜI GIAN</vt:lpstr>
      <vt:lpstr>ENSEMBLE ĐA MÔ HÌNH – XGBoost + ConvLSTM</vt:lpstr>
      <vt:lpstr>METRICS ĐÁNH GIÁ</vt:lpstr>
      <vt:lpstr>KẾT QUẢ SO SÁNH CÁC MÔ HÌNH</vt:lpstr>
      <vt:lpstr>KẾT QUẢ SO SÁNH CÁC MÔ HÌNH</vt:lpstr>
      <vt:lpstr>SO SÁNH VỚI PHƯƠNG PHÁP WEIGHTED OVERLAY</vt:lpstr>
      <vt:lpstr>HỆ THỐNG DASHBOARD</vt:lpstr>
      <vt:lpstr>KẾT LUẬN VÀ HƯỚNG PHÁT TRIỂN</vt:lpstr>
      <vt:lpstr>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Phanh</dc:creator>
  <cp:lastModifiedBy>Đông Nguyễn</cp:lastModifiedBy>
  <cp:revision>374</cp:revision>
  <dcterms:created xsi:type="dcterms:W3CDTF">2024-10-10T09:46:29Z</dcterms:created>
  <dcterms:modified xsi:type="dcterms:W3CDTF">2026-06-09T16:23:34Z</dcterms:modified>
</cp:coreProperties>
</file>